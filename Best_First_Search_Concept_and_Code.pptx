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id="{b0467ab4-4d5c-db6e-2916-6c853f63092d}">
          <p14:sldIdLst>
            <p14:sldId id="256"/>
            <p14:sldId id="257"/>
            <p14:sldId id="258"/>
            <p14:sldId id="259"/>
            <p14:sldId id="260"/>
            <p14:sldId id="261"/>
            <p14:sldId id="262"/>
          </p14:sldIdLst>
        </p14:section>
        <p14:section name="Code Setup" id="{b13ee9d5-205f-b010-3cdf-7b6eeec9ce8a}">
          <p14:sldIdLst>
            <p14:sldId id="263"/>
            <p14:sldId id="264"/>
            <p14:sldId id="265"/>
            <p14:sldId id="266"/>
          </p14:sldIdLst>
        </p14:section>
        <p14:section name="Search Loop" id="{90ae82c7-e5fe-56b5-9d7b-7461bc214aaa}">
          <p14:sldIdLst>
            <p14:sldId id="267"/>
            <p14:sldId id="268"/>
            <p14:sldId id="269"/>
            <p14:sldId id="270"/>
          </p14:sldIdLst>
        </p14:section>
        <p14:section name="Result" id="{9913d979-0373-50db-13cc-c46360f2a575}">
          <p14:sldIdLst>
            <p14:sldId id="271"/>
            <p14:sldId id="272"/>
            <p14:sldId id="273"/>
          </p14:sldIdLst>
        </p14:section>
        <p14:section name="Recap" id="{82f6be7d-9d68-dbc3-dd4e-a53794b5a27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Best-First Search is an informed search that always expands the most promising node, judged by the heuristic h(n). We first cover the concept, then explain the Python code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Best-First Search is an informed search algorithm. It expands the most promising node first, using f(n) = 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heuristic estimates the distance from each location to CDGI.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each step the algorithm compares every node waiting in the frontier and picks the lowest h. MR-10 stays in the frontier as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generate neighbours, calculate h(n), select the lowest, expand it, repeat until the goal is reached.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result depends heavily on the 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finding, robot path planning, game AI, puzzle solving, network routing and problem-solving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holds the possible connections. h estimates how close each location is to CDGI. Smaller h means more promising.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the search loop: select the best node from the frontier, test for the goal, then explore its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rebuilds the route from the parent dictionary and then runs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function and create the frontier, visited set and parent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frontier keeps searching while nodes remain. min() with key=h[x] selects the frontier node with the smallest heuristic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node leaves the frontier and is printed together with its heuristic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current equals the goal, print Goal reached! and break out of the loop; otherwise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the node visited, then add each new neighbour to the frontier and record its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CDGI, follow the parent links back to Vijaynagar, then reverse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returns the path list, and join() turns it into a readable arrow-separated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of the frontier. MR-10 waits in the frontier as a backup but is never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Best-First Search looks at all currently available nodes and selects the one with the smallest heuristic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Hill climbing looks at the current state's neighbours; best-first keeps a frontier of promising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Hill climbing asks which neighbour is best. Best-first search asks which available node is currently the most promising.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1097280"/>
            <a:ext cx="804672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548640" y="2377440"/>
            <a:ext cx="804672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Best-First Search  |  Vijaynagar → CDGI</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097280"/>
            <a:ext cx="8046720" cy="1188720"/>
          </a:xfrm>
          <a:prstGeom prst="rect">
            <a:avLst/>
          </a:prstGeom>
          <a:noFill/>
          <a:ln/>
        </p:spPr>
        <p:txBody>
          <a:bodyPr wrap="square" lIns="0" tIns="0" rIns="0" bIns="0" rtlCol="0" anchor="ctr"/>
          <a:lstStyle/>
          <a:p>
            <a:pPr algn="l" indent="0" marL="0">
              <a:buNone/>
            </a:pPr>
            <a:r>
              <a:rPr lang="en-US" sz="4800" b="1" dirty="0">
                <a:solidFill>
                  <a:schemeClr val="bg1"/>
                </a:solidFill>
              </a:rPr>
              <a:t>Best-First Search</a:t>
            </a:r>
            <a:endParaRPr lang="en-US" sz="4800" dirty="0"/>
          </a:p>
        </p:txBody>
      </p:sp>
      <p:sp>
        <p:nvSpPr>
          <p:cNvPr id="3" name="Text 1"/>
          <p:cNvSpPr/>
          <p:nvPr>
            <p:ph idx="102" type="body" hasCustomPrompt="1"/>
          </p:nvPr>
        </p:nvSpPr>
        <p:spPr>
          <a:xfrm>
            <a:off x="548640" y="2377440"/>
            <a:ext cx="8046720" cy="822960"/>
          </a:xfrm>
          <a:prstGeom prst="rect">
            <a:avLst/>
          </a:prstGeom>
          <a:noFill/>
          <a:ln/>
        </p:spPr>
        <p:txBody>
          <a:bodyPr wrap="square" lIns="0" tIns="0" rIns="0" bIns="0" rtlCol="0" anchor="t"/>
          <a:lstStyle/>
          <a:p>
            <a:pPr algn="l" indent="0" marL="0">
              <a:buNone/>
            </a:pPr>
            <a:r>
              <a:rPr lang="en-US" sz="2000" dirty="0">
                <a:solidFill>
                  <a:schemeClr val="bg2"/>
                </a:solidFill>
              </a:rPr>
              <a:t>Concept and code explanation: Vijaynagar → CDGI</a:t>
            </a:r>
            <a:endParaRPr lang="en-US" sz="2000" dirty="0"/>
          </a:p>
        </p:txBody>
      </p:sp>
      <p:sp>
        <p:nvSpPr>
          <p:cNvPr id="4" name="Shape 2"/>
          <p:cNvSpPr/>
          <p:nvPr/>
        </p:nvSpPr>
        <p:spPr>
          <a:xfrm>
            <a:off x="1417320" y="4069080"/>
            <a:ext cx="1554480" cy="0"/>
          </a:xfrm>
          <a:prstGeom prst="line">
            <a:avLst/>
          </a:prstGeom>
          <a:noFill/>
          <a:ln w="25400">
            <a:solidFill>
              <a:schemeClr val="bg2"/>
            </a:solidFill>
            <a:prstDash val="solid"/>
          </a:ln>
        </p:spPr>
      </p:sp>
      <p:sp>
        <p:nvSpPr>
          <p:cNvPr id="5" name="Shape 3"/>
          <p:cNvSpPr/>
          <p:nvPr/>
        </p:nvSpPr>
        <p:spPr>
          <a:xfrm>
            <a:off x="3611880" y="4069080"/>
            <a:ext cx="1554480" cy="0"/>
          </a:xfrm>
          <a:prstGeom prst="line">
            <a:avLst/>
          </a:prstGeom>
          <a:noFill/>
          <a:ln w="25400">
            <a:solidFill>
              <a:schemeClr val="bg2"/>
            </a:solidFill>
            <a:prstDash val="solid"/>
          </a:ln>
        </p:spPr>
      </p:sp>
      <p:sp>
        <p:nvSpPr>
          <p:cNvPr id="6" name="Shape 4"/>
          <p:cNvSpPr/>
          <p:nvPr/>
        </p:nvSpPr>
        <p:spPr>
          <a:xfrm>
            <a:off x="5806440" y="4069080"/>
            <a:ext cx="1554480" cy="0"/>
          </a:xfrm>
          <a:prstGeom prst="line">
            <a:avLst/>
          </a:prstGeom>
          <a:noFill/>
          <a:ln w="25400">
            <a:solidFill>
              <a:schemeClr val="bg2"/>
            </a:solidFill>
            <a:prstDash val="solid"/>
          </a:ln>
        </p:spPr>
      </p:sp>
      <p:sp>
        <p:nvSpPr>
          <p:cNvPr id="7" name="Text 5"/>
          <p:cNvSpPr txBox="1"/>
          <p:nvPr/>
        </p:nvSpPr>
        <p:spPr>
          <a:xfrm>
            <a:off x="777240" y="374904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12</a:t>
            </a:r>
            <a:endParaRPr lang="en-US" sz="1800" dirty="0"/>
          </a:p>
        </p:txBody>
      </p:sp>
      <p:sp>
        <p:nvSpPr>
          <p:cNvPr id="8" name="Text 6"/>
          <p:cNvSpPr txBox="1"/>
          <p:nvPr/>
        </p:nvSpPr>
        <p:spPr>
          <a:xfrm>
            <a:off x="2971800" y="374904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9" name="Text 7"/>
          <p:cNvSpPr txBox="1"/>
          <p:nvPr/>
        </p:nvSpPr>
        <p:spPr>
          <a:xfrm>
            <a:off x="5166360" y="374904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0" name="Text 8"/>
          <p:cNvSpPr txBox="1"/>
          <p:nvPr/>
        </p:nvSpPr>
        <p:spPr>
          <a:xfrm>
            <a:off x="7360920" y="37490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tx1"/>
                </a:solidFill>
              </a:rPr>
              <a:t>0</a:t>
            </a:r>
            <a:endParaRPr lang="en-US" sz="1800" dirty="0"/>
          </a:p>
        </p:txBody>
      </p:sp>
      <p:sp>
        <p:nvSpPr>
          <p:cNvPr id="11" name="Text 9"/>
          <p:cNvSpPr txBox="1"/>
          <p:nvPr/>
        </p:nvSpPr>
        <p:spPr>
          <a:xfrm>
            <a:off x="548640" y="3246120"/>
            <a:ext cx="5486400" cy="320040"/>
          </a:xfrm>
          <a:prstGeom prst="rect">
            <a:avLst/>
          </a:prstGeom>
          <a:noFill/>
          <a:ln/>
        </p:spPr>
        <p:txBody>
          <a:bodyPr wrap="square" lIns="0" tIns="0" rIns="0" bIns="0" rtlCol="0" anchor="ctr"/>
          <a:lstStyle/>
          <a:p>
            <a:pPr indent="0" marL="0">
              <a:buNone/>
            </a:pPr>
            <a:r>
              <a:rPr lang="en-US" sz="1400" dirty="0">
                <a:solidFill>
                  <a:schemeClr val="bg2"/>
                </a:solidFill>
              </a:rPr>
              <a:t>Always expand the most promising node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Is Best-First Search?</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Shape 2"/>
          <p:cNvSpPr/>
          <p:nvPr/>
        </p:nvSpPr>
        <p:spPr>
          <a:xfrm>
            <a:off x="457200" y="1280160"/>
            <a:ext cx="8229600" cy="1188720"/>
          </a:xfrm>
          <a:prstGeom prst="roundRect">
            <a:avLst>
              <a:gd name="adj" fmla="val 7692"/>
            </a:avLst>
          </a:prstGeom>
          <a:solidFill>
            <a:schemeClr val="bg2"/>
          </a:solidFill>
          <a:ln w="12700">
            <a:solidFill>
              <a:schemeClr val="bg2"/>
            </a:solidFill>
            <a:prstDash val="solid"/>
          </a:ln>
        </p:spPr>
      </p:sp>
      <p:sp>
        <p:nvSpPr>
          <p:cNvPr id="6" name="Text 3"/>
          <p:cNvSpPr txBox="1"/>
          <p:nvPr/>
        </p:nvSpPr>
        <p:spPr>
          <a:xfrm>
            <a:off x="731520" y="1280160"/>
            <a:ext cx="7680960" cy="1188720"/>
          </a:xfrm>
          <a:prstGeom prst="rect">
            <a:avLst/>
          </a:prstGeom>
          <a:noFill/>
          <a:ln/>
        </p:spPr>
        <p:txBody>
          <a:bodyPr wrap="square" lIns="0" tIns="0" rIns="0" bIns="0" rtlCol="0" anchor="ctr"/>
          <a:lstStyle/>
          <a:p>
            <a:pPr indent="0" marL="0">
              <a:buNone/>
            </a:pPr>
            <a:r>
              <a:rPr lang="en-US" sz="1800" b="1" dirty="0">
                <a:solidFill>
                  <a:schemeClr val="tx2"/>
                </a:solidFill>
              </a:rPr>
              <a:t>An informed search algorithm that selects and expands the most promising node first, based on a heuristic function.</a:t>
            </a:r>
            <a:endParaRPr lang="en-US" sz="1800" dirty="0"/>
          </a:p>
        </p:txBody>
      </p:sp>
      <p:sp>
        <p:nvSpPr>
          <p:cNvPr id="7" name="Text 4"/>
          <p:cNvSpPr txBox="1"/>
          <p:nvPr/>
        </p:nvSpPr>
        <p:spPr>
          <a:xfrm>
            <a:off x="457200" y="2697480"/>
            <a:ext cx="4023360" cy="1737360"/>
          </a:xfrm>
          <a:prstGeom prst="roundRect">
            <a:avLst>
              <a:gd name="adj" fmla="val 5263"/>
            </a:avLst>
          </a:prstGeom>
          <a:solidFill>
            <a:schemeClr val="tx2"/>
          </a:solidFill>
          <a:ln/>
        </p:spPr>
        <p:txBody>
          <a:bodyPr wrap="square" lIns="0" tIns="0" rIns="0" bIns="0" rtlCol="0" anchor="ctr"/>
          <a:lstStyle/>
          <a:p>
            <a:pPr algn="ctr" indent="0" marL="0">
              <a:buNone/>
            </a:pPr>
            <a:r>
              <a:rPr lang="en-US" sz="3200" b="1" dirty="0">
                <a:solidFill>
                  <a:schemeClr val="bg1"/>
                </a:solidFill>
                <a:latin typeface="Courier New" pitchFamily="34" charset="0"/>
                <a:ea typeface="Courier New" pitchFamily="34" charset="-122"/>
                <a:cs typeface="Courier New" pitchFamily="34" charset="-120"/>
              </a:rPr>
              <a:t>f(n) = h(n)</a:t>
            </a:r>
            <a:endParaRPr lang="en-US" sz="3200" dirty="0"/>
          </a:p>
        </p:txBody>
      </p:sp>
      <p:sp>
        <p:nvSpPr>
          <p:cNvPr id="8" name="Shape 5"/>
          <p:cNvSpPr/>
          <p:nvPr/>
        </p:nvSpPr>
        <p:spPr>
          <a:xfrm>
            <a:off x="4663440" y="2697480"/>
            <a:ext cx="4023360" cy="1737360"/>
          </a:xfrm>
          <a:prstGeom prst="roundRect">
            <a:avLst>
              <a:gd name="adj" fmla="val 5263"/>
            </a:avLst>
          </a:prstGeom>
          <a:solidFill>
            <a:schemeClr val="bg2"/>
          </a:solidFill>
          <a:ln w="12700">
            <a:solidFill>
              <a:schemeClr val="bg2"/>
            </a:solidFill>
            <a:prstDash val="solid"/>
          </a:ln>
        </p:spPr>
      </p:sp>
      <p:sp>
        <p:nvSpPr>
          <p:cNvPr id="9" name="Text 6"/>
          <p:cNvSpPr txBox="1"/>
          <p:nvPr/>
        </p:nvSpPr>
        <p:spPr>
          <a:xfrm>
            <a:off x="4846320" y="2697480"/>
            <a:ext cx="3657600" cy="1737360"/>
          </a:xfrm>
          <a:prstGeom prst="rect">
            <a:avLst/>
          </a:prstGeom>
          <a:noFill/>
          <a:ln/>
        </p:spPr>
        <p:txBody>
          <a:bodyPr wrap="square" lIns="0" tIns="0" rIns="0" bIns="0" rtlCol="0" anchor="ctr"/>
          <a:lstStyle/>
          <a:p>
            <a:pPr indent="0" marL="0">
              <a:buNone/>
            </a:pPr>
            <a:r>
              <a:rPr lang="en-US" sz="2000" b="1" dirty="0">
                <a:solidFill>
                  <a:schemeClr val="accent1"/>
                </a:solidFill>
              </a:rPr>
              <a:t>h(n)</a:t>
            </a:r>
            <a:endParaRPr lang="en-US" sz="1400" dirty="0"/>
          </a:p>
          <a:p>
            <a:pPr indent="0" marL="0">
              <a:buNone/>
            </a:pPr>
            <a:r>
              <a:rPr lang="en-US" sz="1400" dirty="0">
                <a:solidFill>
                  <a:schemeClr val="tx1"/>
                </a:solidFill>
              </a:rPr>
              <a:t>The estimated cost or distance from the current node to the goal. Lower is better.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Example: Heuristic Values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Shape 2"/>
          <p:cNvSpPr/>
          <p:nvPr/>
        </p:nvSpPr>
        <p:spPr>
          <a:xfrm flipH="1">
            <a:off x="1737360" y="1801368"/>
            <a:ext cx="1371600" cy="301752"/>
          </a:xfrm>
          <a:prstGeom prst="line">
            <a:avLst/>
          </a:prstGeom>
          <a:noFill/>
          <a:ln w="25400">
            <a:solidFill>
              <a:schemeClr val="accent5"/>
            </a:solidFill>
            <a:prstDash val="solid"/>
          </a:ln>
        </p:spPr>
      </p:sp>
      <p:sp>
        <p:nvSpPr>
          <p:cNvPr id="6" name="Shape 3"/>
          <p:cNvSpPr/>
          <p:nvPr/>
        </p:nvSpPr>
        <p:spPr>
          <a:xfrm>
            <a:off x="3108960" y="1801368"/>
            <a:ext cx="1371600" cy="301752"/>
          </a:xfrm>
          <a:prstGeom prst="line">
            <a:avLst/>
          </a:prstGeom>
          <a:noFill/>
          <a:ln w="25400">
            <a:solidFill>
              <a:schemeClr val="accent5"/>
            </a:solidFill>
            <a:prstDash val="solid"/>
          </a:ln>
        </p:spPr>
      </p:sp>
      <p:sp>
        <p:nvSpPr>
          <p:cNvPr id="7" name="Shape 4"/>
          <p:cNvSpPr/>
          <p:nvPr/>
        </p:nvSpPr>
        <p:spPr>
          <a:xfrm>
            <a:off x="1737360" y="2670048"/>
            <a:ext cx="0" cy="301752"/>
          </a:xfrm>
          <a:prstGeom prst="line">
            <a:avLst/>
          </a:prstGeom>
          <a:noFill/>
          <a:ln w="25400">
            <a:solidFill>
              <a:schemeClr val="accent5"/>
            </a:solidFill>
            <a:prstDash val="solid"/>
          </a:ln>
        </p:spPr>
      </p:sp>
      <p:sp>
        <p:nvSpPr>
          <p:cNvPr id="8" name="Shape 5"/>
          <p:cNvSpPr/>
          <p:nvPr/>
        </p:nvSpPr>
        <p:spPr>
          <a:xfrm>
            <a:off x="4480560" y="2670048"/>
            <a:ext cx="0" cy="301752"/>
          </a:xfrm>
          <a:prstGeom prst="line">
            <a:avLst/>
          </a:prstGeom>
          <a:noFill/>
          <a:ln w="25400">
            <a:solidFill>
              <a:schemeClr val="accent5"/>
            </a:solidFill>
            <a:prstDash val="solid"/>
          </a:ln>
        </p:spPr>
      </p:sp>
      <p:sp>
        <p:nvSpPr>
          <p:cNvPr id="9" name="Shape 6"/>
          <p:cNvSpPr/>
          <p:nvPr/>
        </p:nvSpPr>
        <p:spPr>
          <a:xfrm>
            <a:off x="1737360" y="3538728"/>
            <a:ext cx="1371600" cy="301752"/>
          </a:xfrm>
          <a:prstGeom prst="line">
            <a:avLst/>
          </a:prstGeom>
          <a:noFill/>
          <a:ln w="25400">
            <a:solidFill>
              <a:schemeClr val="accent5"/>
            </a:solidFill>
            <a:prstDash val="solid"/>
          </a:ln>
        </p:spPr>
      </p:sp>
      <p:sp>
        <p:nvSpPr>
          <p:cNvPr id="10" name="Shape 7"/>
          <p:cNvSpPr/>
          <p:nvPr/>
        </p:nvSpPr>
        <p:spPr>
          <a:xfrm flipH="1">
            <a:off x="3108960" y="3538728"/>
            <a:ext cx="1371600" cy="301752"/>
          </a:xfrm>
          <a:prstGeom prst="line">
            <a:avLst/>
          </a:prstGeom>
          <a:noFill/>
          <a:ln w="25400">
            <a:solidFill>
              <a:schemeClr val="accent5"/>
            </a:solidFill>
            <a:prstDash val="solid"/>
          </a:ln>
        </p:spPr>
      </p:sp>
      <p:sp>
        <p:nvSpPr>
          <p:cNvPr id="11" name="Text 8"/>
          <p:cNvSpPr txBox="1"/>
          <p:nvPr/>
        </p:nvSpPr>
        <p:spPr>
          <a:xfrm>
            <a:off x="2286000" y="1234440"/>
            <a:ext cx="1645920" cy="566928"/>
          </a:xfrm>
          <a:prstGeom prst="roundRect">
            <a:avLst>
              <a:gd name="adj" fmla="val 12903"/>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Vijaynagar</a:t>
            </a:r>
            <a:endParaRPr lang="en-US" sz="1400" dirty="0"/>
          </a:p>
          <a:p>
            <a:pPr algn="ctr" indent="0" marL="0">
              <a:buNone/>
            </a:pPr>
            <a:r>
              <a:rPr lang="en-US" sz="1200" dirty="0">
                <a:solidFill>
                  <a:schemeClr val="bg1"/>
                </a:solidFill>
              </a:rPr>
              <a:t>h = 12</a:t>
            </a:r>
            <a:endParaRPr lang="en-US" sz="1400" dirty="0"/>
          </a:p>
        </p:txBody>
      </p:sp>
      <p:sp>
        <p:nvSpPr>
          <p:cNvPr id="12" name="Text 9"/>
          <p:cNvSpPr txBox="1"/>
          <p:nvPr/>
        </p:nvSpPr>
        <p:spPr>
          <a:xfrm>
            <a:off x="914400" y="2103120"/>
            <a:ext cx="1645920" cy="566928"/>
          </a:xfrm>
          <a:prstGeom prst="roundRect">
            <a:avLst>
              <a:gd name="adj" fmla="val 12903"/>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Bengali Square</a:t>
            </a:r>
            <a:endParaRPr lang="en-US" sz="1400" dirty="0"/>
          </a:p>
          <a:p>
            <a:pPr algn="ctr" indent="0" marL="0">
              <a:buNone/>
            </a:pPr>
            <a:r>
              <a:rPr lang="en-US" sz="1200" dirty="0">
                <a:solidFill>
                  <a:schemeClr val="bg1"/>
                </a:solidFill>
              </a:rPr>
              <a:t>h = 8</a:t>
            </a:r>
            <a:endParaRPr lang="en-US" sz="1400" dirty="0"/>
          </a:p>
        </p:txBody>
      </p:sp>
      <p:sp>
        <p:nvSpPr>
          <p:cNvPr id="13" name="Text 10"/>
          <p:cNvSpPr txBox="1"/>
          <p:nvPr/>
        </p:nvSpPr>
        <p:spPr>
          <a:xfrm>
            <a:off x="3657600" y="2103120"/>
            <a:ext cx="1645920" cy="566928"/>
          </a:xfrm>
          <a:prstGeom prst="roundRect">
            <a:avLst>
              <a:gd name="adj" fmla="val 12903"/>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MR-10</a:t>
            </a:r>
            <a:endParaRPr lang="en-US" sz="1400" dirty="0"/>
          </a:p>
          <a:p>
            <a:pPr algn="ctr" indent="0" marL="0">
              <a:buNone/>
            </a:pPr>
            <a:r>
              <a:rPr lang="en-US" sz="1200" dirty="0">
                <a:solidFill>
                  <a:schemeClr val="bg1"/>
                </a:solidFill>
              </a:rPr>
              <a:t>h = 10</a:t>
            </a:r>
            <a:endParaRPr lang="en-US" sz="1400" dirty="0"/>
          </a:p>
        </p:txBody>
      </p:sp>
      <p:sp>
        <p:nvSpPr>
          <p:cNvPr id="14" name="Text 11"/>
          <p:cNvSpPr txBox="1"/>
          <p:nvPr/>
        </p:nvSpPr>
        <p:spPr>
          <a:xfrm>
            <a:off x="914400" y="2971800"/>
            <a:ext cx="1645920" cy="566928"/>
          </a:xfrm>
          <a:prstGeom prst="roundRect">
            <a:avLst>
              <a:gd name="adj" fmla="val 12903"/>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Rau</a:t>
            </a:r>
            <a:endParaRPr lang="en-US" sz="1400" dirty="0"/>
          </a:p>
          <a:p>
            <a:pPr algn="ctr" indent="0" marL="0">
              <a:buNone/>
            </a:pPr>
            <a:r>
              <a:rPr lang="en-US" sz="1200" dirty="0">
                <a:solidFill>
                  <a:schemeClr val="bg1"/>
                </a:solidFill>
              </a:rPr>
              <a:t>h = 4</a:t>
            </a:r>
            <a:endParaRPr lang="en-US" sz="1400" dirty="0"/>
          </a:p>
        </p:txBody>
      </p:sp>
      <p:sp>
        <p:nvSpPr>
          <p:cNvPr id="15" name="Text 12"/>
          <p:cNvSpPr txBox="1"/>
          <p:nvPr/>
        </p:nvSpPr>
        <p:spPr>
          <a:xfrm>
            <a:off x="3657600" y="2971800"/>
            <a:ext cx="1645920" cy="566928"/>
          </a:xfrm>
          <a:prstGeom prst="roundRect">
            <a:avLst>
              <a:gd name="adj" fmla="val 12903"/>
            </a:avLst>
          </a:prstGeom>
          <a:solidFill>
            <a:schemeClr val="accent1"/>
          </a:solidFill>
          <a:ln/>
        </p:spPr>
        <p:txBody>
          <a:bodyPr wrap="square" lIns="25400" tIns="25400" rIns="25400" bIns="25400" rtlCol="0" anchor="ctr"/>
          <a:lstStyle/>
          <a:p>
            <a:pPr algn="ctr" indent="0" marL="0">
              <a:buNone/>
            </a:pPr>
            <a:r>
              <a:rPr lang="en-US" sz="1400" b="1" dirty="0">
                <a:solidFill>
                  <a:schemeClr val="bg1"/>
                </a:solidFill>
              </a:rPr>
              <a:t>Bypass</a:t>
            </a:r>
            <a:endParaRPr lang="en-US" sz="1400" dirty="0"/>
          </a:p>
          <a:p>
            <a:pPr algn="ctr" indent="0" marL="0">
              <a:buNone/>
            </a:pPr>
            <a:r>
              <a:rPr lang="en-US" sz="1200" dirty="0">
                <a:solidFill>
                  <a:schemeClr val="bg1"/>
                </a:solidFill>
              </a:rPr>
              <a:t>h = 6</a:t>
            </a:r>
            <a:endParaRPr lang="en-US" sz="1400" dirty="0"/>
          </a:p>
        </p:txBody>
      </p:sp>
      <p:sp>
        <p:nvSpPr>
          <p:cNvPr id="16" name="Text 13"/>
          <p:cNvSpPr txBox="1"/>
          <p:nvPr/>
        </p:nvSpPr>
        <p:spPr>
          <a:xfrm>
            <a:off x="2286000" y="3840480"/>
            <a:ext cx="1645920" cy="566928"/>
          </a:xfrm>
          <a:prstGeom prst="roundRect">
            <a:avLst>
              <a:gd name="adj" fmla="val 12903"/>
            </a:avLst>
          </a:prstGeom>
          <a:solidFill>
            <a:schemeClr val="accent2"/>
          </a:solidFill>
          <a:ln/>
        </p:spPr>
        <p:txBody>
          <a:bodyPr wrap="square" lIns="25400" tIns="25400" rIns="25400" bIns="25400" rtlCol="0" anchor="ctr"/>
          <a:lstStyle/>
          <a:p>
            <a:pPr algn="ctr" indent="0" marL="0">
              <a:buNone/>
            </a:pPr>
            <a:r>
              <a:rPr lang="en-US" sz="1400" b="1" dirty="0">
                <a:solidFill>
                  <a:schemeClr val="tx1"/>
                </a:solidFill>
              </a:rPr>
              <a:t>CDGI</a:t>
            </a:r>
            <a:endParaRPr lang="en-US" sz="1400" dirty="0"/>
          </a:p>
          <a:p>
            <a:pPr algn="ctr" indent="0" marL="0">
              <a:buNone/>
            </a:pPr>
            <a:r>
              <a:rPr lang="en-US" sz="1200" dirty="0">
                <a:solidFill>
                  <a:schemeClr val="tx1"/>
                </a:solidFill>
              </a:rPr>
              <a:t>h = 0</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0" y="1280160"/>
          <a:ext cx="2743200" cy="914400"/>
        </p:xfrm>
        <a:graphic>
          <a:graphicData uri="http://schemas.openxmlformats.org/drawingml/2006/table">
            <a:tbl>
              <a:tblPr/>
              <a:tblGrid>
                <a:gridCol w="1828800"/>
                <a:gridCol w="914400"/>
              </a:tblGrid>
              <a:tr h="365760">
                <a:tc>
                  <a:txBody>
                    <a:bodyPr/>
                    <a:lstStyle/>
                    <a:p>
                      <a:pPr algn="ctr" indent="0" marL="0">
                        <a:buNone/>
                      </a:pPr>
                      <a:r>
                        <a:rPr lang="en-US" sz="1400" b="1" dirty="0">
                          <a:solidFill>
                            <a:schemeClr val="bg1"/>
                          </a:solidFill>
                        </a:rPr>
                        <a:t>Location</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h(n)</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algn="l" indent="0" marL="0">
                        <a:buNone/>
                      </a:pPr>
                      <a:r>
                        <a:rPr lang="en-US" sz="1400" dirty="0">
                          <a:solidFill>
                            <a:schemeClr val="tx1"/>
                          </a:solidFill>
                        </a:rPr>
                        <a:t>Vijaynagar</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12</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algn="l" indent="0" marL="0">
                        <a:buNone/>
                      </a:pPr>
                      <a:r>
                        <a:rPr lang="en-US" sz="1400" dirty="0">
                          <a:solidFill>
                            <a:schemeClr val="tx1"/>
                          </a:solidFill>
                        </a:rPr>
                        <a:t>Bengali Square</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8</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algn="l" indent="0" marL="0">
                        <a:buNone/>
                      </a:pPr>
                      <a:r>
                        <a:rPr lang="en-US" sz="1400" dirty="0">
                          <a:solidFill>
                            <a:schemeClr val="tx1"/>
                          </a:solidFill>
                        </a:rPr>
                        <a:t>MR-10</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10</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algn="l" indent="0" marL="0">
                        <a:buNone/>
                      </a:pPr>
                      <a:r>
                        <a:rPr lang="en-US" sz="1400" dirty="0">
                          <a:solidFill>
                            <a:schemeClr val="tx1"/>
                          </a:solidFill>
                        </a:rPr>
                        <a:t>Rau</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4</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algn="l" indent="0" marL="0">
                        <a:buNone/>
                      </a:pPr>
                      <a:r>
                        <a:rPr lang="en-US" sz="1400" dirty="0">
                          <a:solidFill>
                            <a:schemeClr val="tx1"/>
                          </a:solidFill>
                        </a:rPr>
                        <a:t>Bypass</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6</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algn="l" indent="0" marL="0">
                        <a:buNone/>
                      </a:pPr>
                      <a:r>
                        <a:rPr lang="en-US" sz="1400" b="1" dirty="0">
                          <a:solidFill>
                            <a:schemeClr val="tx1"/>
                          </a:solidFill>
                        </a:rPr>
                        <a:t>CDGI</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c>
                  <a:txBody>
                    <a:bodyPr/>
                    <a:lstStyle/>
                    <a:p>
                      <a:pPr algn="ctr" indent="0" marL="0">
                        <a:buNone/>
                      </a:pPr>
                      <a:r>
                        <a:rPr lang="en-US" sz="1400" b="1" dirty="0">
                          <a:solidFill>
                            <a:schemeClr val="tx1"/>
                          </a:solidFill>
                        </a:rPr>
                        <a:t>0</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Choosing the Next Node</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Shape 2"/>
          <p:cNvSpPr/>
          <p:nvPr/>
        </p:nvSpPr>
        <p:spPr>
          <a:xfrm>
            <a:off x="457200" y="1280160"/>
            <a:ext cx="2651760" cy="2697480"/>
          </a:xfrm>
          <a:prstGeom prst="roundRect">
            <a:avLst>
              <a:gd name="adj" fmla="val 3448"/>
            </a:avLst>
          </a:prstGeom>
          <a:solidFill>
            <a:schemeClr val="bg2"/>
          </a:solidFill>
          <a:ln w="12700">
            <a:solidFill>
              <a:schemeClr val="bg2"/>
            </a:solidFill>
            <a:prstDash val="solid"/>
          </a:ln>
        </p:spPr>
      </p:sp>
      <p:sp>
        <p:nvSpPr>
          <p:cNvPr id="6" name="Text 3"/>
          <p:cNvSpPr txBox="1"/>
          <p:nvPr/>
        </p:nvSpPr>
        <p:spPr>
          <a:xfrm>
            <a:off x="640080" y="1371600"/>
            <a:ext cx="2286000" cy="365760"/>
          </a:xfrm>
          <a:prstGeom prst="rect">
            <a:avLst/>
          </a:prstGeom>
          <a:noFill/>
          <a:ln/>
        </p:spPr>
        <p:txBody>
          <a:bodyPr wrap="square" lIns="0" tIns="0" rIns="0" bIns="0" rtlCol="0" anchor="ctr"/>
          <a:lstStyle/>
          <a:p>
            <a:pPr indent="0" marL="0">
              <a:buNone/>
            </a:pPr>
            <a:r>
              <a:rPr lang="en-US" sz="1600" b="1" dirty="0">
                <a:solidFill>
                  <a:schemeClr val="tx2"/>
                </a:solidFill>
              </a:rPr>
              <a:t>Step 1</a:t>
            </a:r>
            <a:endParaRPr lang="en-US" sz="1600" dirty="0"/>
          </a:p>
        </p:txBody>
      </p:sp>
      <p:sp>
        <p:nvSpPr>
          <p:cNvPr id="7" name="Text 4"/>
          <p:cNvSpPr txBox="1"/>
          <p:nvPr/>
        </p:nvSpPr>
        <p:spPr>
          <a:xfrm>
            <a:off x="640080" y="1783080"/>
            <a:ext cx="2286000" cy="256032"/>
          </a:xfrm>
          <a:prstGeom prst="rect">
            <a:avLst/>
          </a:prstGeom>
          <a:noFill/>
          <a:ln/>
        </p:spPr>
        <p:txBody>
          <a:bodyPr wrap="square" lIns="0" tIns="0" rIns="0" bIns="0" rtlCol="0" anchor="ctr"/>
          <a:lstStyle/>
          <a:p>
            <a:pPr indent="0" marL="0">
              <a:buNone/>
            </a:pPr>
            <a:r>
              <a:rPr lang="en-US" sz="1200" b="1" dirty="0">
                <a:solidFill>
                  <a:schemeClr val="accent5"/>
                </a:solidFill>
              </a:rPr>
              <a:t>FRONTIER</a:t>
            </a:r>
            <a:endParaRPr lang="en-US" sz="1200" dirty="0"/>
          </a:p>
        </p:txBody>
      </p:sp>
      <p:sp>
        <p:nvSpPr>
          <p:cNvPr id="8" name="Text 5"/>
          <p:cNvSpPr txBox="1"/>
          <p:nvPr/>
        </p:nvSpPr>
        <p:spPr>
          <a:xfrm>
            <a:off x="640080" y="2057400"/>
            <a:ext cx="228600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Bengali Square (h = 8)</a:t>
            </a:r>
            <a:endParaRPr lang="en-US" sz="1300" dirty="0"/>
          </a:p>
        </p:txBody>
      </p:sp>
      <p:sp>
        <p:nvSpPr>
          <p:cNvPr id="9" name="Text 6"/>
          <p:cNvSpPr txBox="1"/>
          <p:nvPr/>
        </p:nvSpPr>
        <p:spPr>
          <a:xfrm>
            <a:off x="640080" y="2606040"/>
            <a:ext cx="228600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rPr>
              <a:t>MR-10 (h = 10)</a:t>
            </a:r>
            <a:endParaRPr lang="en-US" sz="1300" dirty="0"/>
          </a:p>
        </p:txBody>
      </p:sp>
      <p:sp>
        <p:nvSpPr>
          <p:cNvPr id="10" name="Text 7"/>
          <p:cNvSpPr txBox="1"/>
          <p:nvPr/>
        </p:nvSpPr>
        <p:spPr>
          <a:xfrm>
            <a:off x="640080" y="3200400"/>
            <a:ext cx="2286000" cy="685800"/>
          </a:xfrm>
          <a:prstGeom prst="rect">
            <a:avLst/>
          </a:prstGeom>
          <a:noFill/>
          <a:ln/>
        </p:spPr>
        <p:txBody>
          <a:bodyPr wrap="square" lIns="0" tIns="0" rIns="0" bIns="0" rtlCol="0" anchor="t"/>
          <a:lstStyle/>
          <a:p>
            <a:pPr indent="0" marL="0">
              <a:buNone/>
            </a:pPr>
            <a:r>
              <a:rPr lang="en-US" sz="1400" b="1" dirty="0">
                <a:solidFill>
                  <a:schemeClr val="tx1"/>
                </a:solidFill>
              </a:rPr>
              <a:t>Choose Bengali Square, because 8 &lt; 10.</a:t>
            </a:r>
            <a:endParaRPr lang="en-US" sz="1400" dirty="0"/>
          </a:p>
        </p:txBody>
      </p:sp>
      <p:sp>
        <p:nvSpPr>
          <p:cNvPr id="11" name="Shape 8"/>
          <p:cNvSpPr/>
          <p:nvPr/>
        </p:nvSpPr>
        <p:spPr>
          <a:xfrm>
            <a:off x="3246120" y="1280160"/>
            <a:ext cx="2651760" cy="2697480"/>
          </a:xfrm>
          <a:prstGeom prst="roundRect">
            <a:avLst>
              <a:gd name="adj" fmla="val 3448"/>
            </a:avLst>
          </a:prstGeom>
          <a:solidFill>
            <a:schemeClr val="bg2"/>
          </a:solidFill>
          <a:ln w="12700">
            <a:solidFill>
              <a:schemeClr val="bg2"/>
            </a:solidFill>
            <a:prstDash val="solid"/>
          </a:ln>
        </p:spPr>
      </p:sp>
      <p:sp>
        <p:nvSpPr>
          <p:cNvPr id="12" name="Text 9"/>
          <p:cNvSpPr txBox="1"/>
          <p:nvPr/>
        </p:nvSpPr>
        <p:spPr>
          <a:xfrm>
            <a:off x="3429000" y="1371600"/>
            <a:ext cx="2286000" cy="365760"/>
          </a:xfrm>
          <a:prstGeom prst="rect">
            <a:avLst/>
          </a:prstGeom>
          <a:noFill/>
          <a:ln/>
        </p:spPr>
        <p:txBody>
          <a:bodyPr wrap="square" lIns="0" tIns="0" rIns="0" bIns="0" rtlCol="0" anchor="ctr"/>
          <a:lstStyle/>
          <a:p>
            <a:pPr indent="0" marL="0">
              <a:buNone/>
            </a:pPr>
            <a:r>
              <a:rPr lang="en-US" sz="1600" b="1" dirty="0">
                <a:solidFill>
                  <a:schemeClr val="tx2"/>
                </a:solidFill>
              </a:rPr>
              <a:t>Step 2</a:t>
            </a:r>
            <a:endParaRPr lang="en-US" sz="1600" dirty="0"/>
          </a:p>
        </p:txBody>
      </p:sp>
      <p:sp>
        <p:nvSpPr>
          <p:cNvPr id="13" name="Text 10"/>
          <p:cNvSpPr txBox="1"/>
          <p:nvPr/>
        </p:nvSpPr>
        <p:spPr>
          <a:xfrm>
            <a:off x="3429000" y="1783080"/>
            <a:ext cx="2286000" cy="256032"/>
          </a:xfrm>
          <a:prstGeom prst="rect">
            <a:avLst/>
          </a:prstGeom>
          <a:noFill/>
          <a:ln/>
        </p:spPr>
        <p:txBody>
          <a:bodyPr wrap="square" lIns="0" tIns="0" rIns="0" bIns="0" rtlCol="0" anchor="ctr"/>
          <a:lstStyle/>
          <a:p>
            <a:pPr indent="0" marL="0">
              <a:buNone/>
            </a:pPr>
            <a:r>
              <a:rPr lang="en-US" sz="1200" b="1" dirty="0">
                <a:solidFill>
                  <a:schemeClr val="accent5"/>
                </a:solidFill>
              </a:rPr>
              <a:t>FRONTIER</a:t>
            </a:r>
            <a:endParaRPr lang="en-US" sz="1200" dirty="0"/>
          </a:p>
        </p:txBody>
      </p:sp>
      <p:sp>
        <p:nvSpPr>
          <p:cNvPr id="14" name="Text 11"/>
          <p:cNvSpPr txBox="1"/>
          <p:nvPr/>
        </p:nvSpPr>
        <p:spPr>
          <a:xfrm>
            <a:off x="3429000" y="2057400"/>
            <a:ext cx="228600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rPr>
              <a:t>MR-10 (h = 10)</a:t>
            </a:r>
            <a:endParaRPr lang="en-US" sz="1300" dirty="0"/>
          </a:p>
        </p:txBody>
      </p:sp>
      <p:sp>
        <p:nvSpPr>
          <p:cNvPr id="15" name="Text 12"/>
          <p:cNvSpPr txBox="1"/>
          <p:nvPr/>
        </p:nvSpPr>
        <p:spPr>
          <a:xfrm>
            <a:off x="3429000" y="2606040"/>
            <a:ext cx="228600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Rau (h = 4)</a:t>
            </a:r>
            <a:endParaRPr lang="en-US" sz="1300" dirty="0"/>
          </a:p>
        </p:txBody>
      </p:sp>
      <p:sp>
        <p:nvSpPr>
          <p:cNvPr id="16" name="Text 13"/>
          <p:cNvSpPr txBox="1"/>
          <p:nvPr/>
        </p:nvSpPr>
        <p:spPr>
          <a:xfrm>
            <a:off x="3429000" y="3200400"/>
            <a:ext cx="2286000" cy="685800"/>
          </a:xfrm>
          <a:prstGeom prst="rect">
            <a:avLst/>
          </a:prstGeom>
          <a:noFill/>
          <a:ln/>
        </p:spPr>
        <p:txBody>
          <a:bodyPr wrap="square" lIns="0" tIns="0" rIns="0" bIns="0" rtlCol="0" anchor="t"/>
          <a:lstStyle/>
          <a:p>
            <a:pPr indent="0" marL="0">
              <a:buNone/>
            </a:pPr>
            <a:r>
              <a:rPr lang="en-US" sz="1400" b="1" dirty="0">
                <a:solidFill>
                  <a:schemeClr val="tx1"/>
                </a:solidFill>
              </a:rPr>
              <a:t>Choose Rau, because 4 &lt; 10.</a:t>
            </a:r>
            <a:endParaRPr lang="en-US" sz="1400" dirty="0"/>
          </a:p>
        </p:txBody>
      </p:sp>
      <p:sp>
        <p:nvSpPr>
          <p:cNvPr id="17" name="Shape 14"/>
          <p:cNvSpPr/>
          <p:nvPr/>
        </p:nvSpPr>
        <p:spPr>
          <a:xfrm>
            <a:off x="6035040" y="1280160"/>
            <a:ext cx="2651760" cy="2697480"/>
          </a:xfrm>
          <a:prstGeom prst="roundRect">
            <a:avLst>
              <a:gd name="adj" fmla="val 3448"/>
            </a:avLst>
          </a:prstGeom>
          <a:solidFill>
            <a:schemeClr val="bg2"/>
          </a:solidFill>
          <a:ln w="12700">
            <a:solidFill>
              <a:schemeClr val="bg2"/>
            </a:solidFill>
            <a:prstDash val="solid"/>
          </a:ln>
        </p:spPr>
      </p:sp>
      <p:sp>
        <p:nvSpPr>
          <p:cNvPr id="18" name="Text 15"/>
          <p:cNvSpPr txBox="1"/>
          <p:nvPr/>
        </p:nvSpPr>
        <p:spPr>
          <a:xfrm>
            <a:off x="6217920" y="1371600"/>
            <a:ext cx="2286000" cy="365760"/>
          </a:xfrm>
          <a:prstGeom prst="rect">
            <a:avLst/>
          </a:prstGeom>
          <a:noFill/>
          <a:ln/>
        </p:spPr>
        <p:txBody>
          <a:bodyPr wrap="square" lIns="0" tIns="0" rIns="0" bIns="0" rtlCol="0" anchor="ctr"/>
          <a:lstStyle/>
          <a:p>
            <a:pPr indent="0" marL="0">
              <a:buNone/>
            </a:pPr>
            <a:r>
              <a:rPr lang="en-US" sz="1600" b="1" dirty="0">
                <a:solidFill>
                  <a:schemeClr val="tx2"/>
                </a:solidFill>
              </a:rPr>
              <a:t>Step 3</a:t>
            </a:r>
            <a:endParaRPr lang="en-US" sz="1600" dirty="0"/>
          </a:p>
        </p:txBody>
      </p:sp>
      <p:sp>
        <p:nvSpPr>
          <p:cNvPr id="19" name="Text 16"/>
          <p:cNvSpPr txBox="1"/>
          <p:nvPr/>
        </p:nvSpPr>
        <p:spPr>
          <a:xfrm>
            <a:off x="6217920" y="1783080"/>
            <a:ext cx="2286000" cy="256032"/>
          </a:xfrm>
          <a:prstGeom prst="rect">
            <a:avLst/>
          </a:prstGeom>
          <a:noFill/>
          <a:ln/>
        </p:spPr>
        <p:txBody>
          <a:bodyPr wrap="square" lIns="0" tIns="0" rIns="0" bIns="0" rtlCol="0" anchor="ctr"/>
          <a:lstStyle/>
          <a:p>
            <a:pPr indent="0" marL="0">
              <a:buNone/>
            </a:pPr>
            <a:r>
              <a:rPr lang="en-US" sz="1200" b="1" dirty="0">
                <a:solidFill>
                  <a:schemeClr val="accent5"/>
                </a:solidFill>
              </a:rPr>
              <a:t>FRONTIER</a:t>
            </a:r>
            <a:endParaRPr lang="en-US" sz="1200" dirty="0"/>
          </a:p>
        </p:txBody>
      </p:sp>
      <p:sp>
        <p:nvSpPr>
          <p:cNvPr id="20" name="Text 17"/>
          <p:cNvSpPr txBox="1"/>
          <p:nvPr/>
        </p:nvSpPr>
        <p:spPr>
          <a:xfrm>
            <a:off x="6217920" y="2057400"/>
            <a:ext cx="228600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rPr>
              <a:t>MR-10 (h = 10)</a:t>
            </a:r>
            <a:endParaRPr lang="en-US" sz="1300" dirty="0"/>
          </a:p>
        </p:txBody>
      </p:sp>
      <p:sp>
        <p:nvSpPr>
          <p:cNvPr id="21" name="Text 18"/>
          <p:cNvSpPr txBox="1"/>
          <p:nvPr/>
        </p:nvSpPr>
        <p:spPr>
          <a:xfrm>
            <a:off x="6217920" y="2606040"/>
            <a:ext cx="228600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CDGI (h = 0)</a:t>
            </a:r>
            <a:endParaRPr lang="en-US" sz="1300" dirty="0"/>
          </a:p>
        </p:txBody>
      </p:sp>
      <p:sp>
        <p:nvSpPr>
          <p:cNvPr id="22" name="Text 19"/>
          <p:cNvSpPr txBox="1"/>
          <p:nvPr/>
        </p:nvSpPr>
        <p:spPr>
          <a:xfrm>
            <a:off x="6217920" y="3200400"/>
            <a:ext cx="2286000" cy="685800"/>
          </a:xfrm>
          <a:prstGeom prst="rect">
            <a:avLst/>
          </a:prstGeom>
          <a:noFill/>
          <a:ln/>
        </p:spPr>
        <p:txBody>
          <a:bodyPr wrap="square" lIns="0" tIns="0" rIns="0" bIns="0" rtlCol="0" anchor="t"/>
          <a:lstStyle/>
          <a:p>
            <a:pPr indent="0" marL="0">
              <a:buNone/>
            </a:pPr>
            <a:r>
              <a:rPr lang="en-US" sz="1400" b="1" dirty="0">
                <a:solidFill>
                  <a:schemeClr val="tx1"/>
                </a:solidFill>
              </a:rPr>
              <a:t>Choose CDGI, because h = 0.</a:t>
            </a:r>
            <a:endParaRPr lang="en-US" sz="1400" dirty="0"/>
          </a:p>
        </p:txBody>
      </p:sp>
      <p:sp>
        <p:nvSpPr>
          <p:cNvPr id="23" name="Shape 20"/>
          <p:cNvSpPr/>
          <p:nvPr/>
        </p:nvSpPr>
        <p:spPr>
          <a:xfrm>
            <a:off x="457200" y="4114800"/>
            <a:ext cx="8229600" cy="457200"/>
          </a:xfrm>
          <a:prstGeom prst="roundRect">
            <a:avLst>
              <a:gd name="adj" fmla="val 20000"/>
            </a:avLst>
          </a:prstGeom>
          <a:solidFill>
            <a:schemeClr val="tx2"/>
          </a:solidFill>
          <a:ln w="12700">
            <a:solidFill>
              <a:schemeClr val="tx2"/>
            </a:solidFill>
            <a:prstDash val="solid"/>
          </a:ln>
        </p:spPr>
      </p:sp>
      <p:sp>
        <p:nvSpPr>
          <p:cNvPr id="24" name="Text 21"/>
          <p:cNvSpPr txBox="1"/>
          <p:nvPr/>
        </p:nvSpPr>
        <p:spPr>
          <a:xfrm>
            <a:off x="640080" y="4114800"/>
            <a:ext cx="7863840" cy="457200"/>
          </a:xfrm>
          <a:prstGeom prst="rect">
            <a:avLst/>
          </a:prstGeom>
          <a:noFill/>
          <a:ln/>
        </p:spPr>
        <p:txBody>
          <a:bodyPr wrap="square" lIns="0" tIns="0" rIns="0" bIns="0" rtlCol="0" anchor="ctr"/>
          <a:lstStyle/>
          <a:p>
            <a:pPr algn="ctr" indent="0" marL="0">
              <a:buNone/>
            </a:pPr>
            <a:r>
              <a:rPr lang="en-US" sz="1400" b="1" dirty="0">
                <a:solidFill>
                  <a:schemeClr val="bg1"/>
                </a:solidFill>
              </a:rPr>
              <a:t>Final path: Vijaynagar → Bengali Square → Rau → CDGI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Best-First Search Works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Text 2"/>
          <p:cNvSpPr txBox="1"/>
          <p:nvPr/>
        </p:nvSpPr>
        <p:spPr>
          <a:xfrm>
            <a:off x="457200" y="1371600"/>
            <a:ext cx="11887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Start</a:t>
            </a:r>
            <a:endParaRPr lang="en-US" sz="1300" dirty="0"/>
          </a:p>
        </p:txBody>
      </p:sp>
      <p:sp>
        <p:nvSpPr>
          <p:cNvPr id="6" name="Shape 3"/>
          <p:cNvSpPr/>
          <p:nvPr/>
        </p:nvSpPr>
        <p:spPr>
          <a:xfrm>
            <a:off x="1664208" y="1828800"/>
            <a:ext cx="182880" cy="0"/>
          </a:xfrm>
          <a:prstGeom prst="line">
            <a:avLst/>
          </a:prstGeom>
          <a:noFill/>
          <a:ln w="25400">
            <a:solidFill>
              <a:schemeClr val="accent5"/>
            </a:solidFill>
            <a:prstDash val="solid"/>
            <a:tailEnd type="triangle"/>
          </a:ln>
        </p:spPr>
      </p:sp>
      <p:sp>
        <p:nvSpPr>
          <p:cNvPr id="7" name="Text 4"/>
          <p:cNvSpPr txBox="1"/>
          <p:nvPr/>
        </p:nvSpPr>
        <p:spPr>
          <a:xfrm>
            <a:off x="1865376" y="1371600"/>
            <a:ext cx="11887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Generate neighbours</a:t>
            </a:r>
            <a:endParaRPr lang="en-US" sz="1300" dirty="0"/>
          </a:p>
        </p:txBody>
      </p:sp>
      <p:sp>
        <p:nvSpPr>
          <p:cNvPr id="8" name="Shape 5"/>
          <p:cNvSpPr/>
          <p:nvPr/>
        </p:nvSpPr>
        <p:spPr>
          <a:xfrm>
            <a:off x="3072384" y="1828800"/>
            <a:ext cx="182880" cy="0"/>
          </a:xfrm>
          <a:prstGeom prst="line">
            <a:avLst/>
          </a:prstGeom>
          <a:noFill/>
          <a:ln w="25400">
            <a:solidFill>
              <a:schemeClr val="accent5"/>
            </a:solidFill>
            <a:prstDash val="solid"/>
            <a:tailEnd type="triangle"/>
          </a:ln>
        </p:spPr>
      </p:sp>
      <p:sp>
        <p:nvSpPr>
          <p:cNvPr id="9" name="Text 6"/>
          <p:cNvSpPr txBox="1"/>
          <p:nvPr/>
        </p:nvSpPr>
        <p:spPr>
          <a:xfrm>
            <a:off x="3273552" y="1371600"/>
            <a:ext cx="11887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Calculate h(n)</a:t>
            </a:r>
            <a:endParaRPr lang="en-US" sz="1300" dirty="0"/>
          </a:p>
        </p:txBody>
      </p:sp>
      <p:sp>
        <p:nvSpPr>
          <p:cNvPr id="10" name="Shape 7"/>
          <p:cNvSpPr/>
          <p:nvPr/>
        </p:nvSpPr>
        <p:spPr>
          <a:xfrm>
            <a:off x="4480560" y="1828800"/>
            <a:ext cx="182880" cy="0"/>
          </a:xfrm>
          <a:prstGeom prst="line">
            <a:avLst/>
          </a:prstGeom>
          <a:noFill/>
          <a:ln w="25400">
            <a:solidFill>
              <a:schemeClr val="accent5"/>
            </a:solidFill>
            <a:prstDash val="solid"/>
            <a:tailEnd type="triangle"/>
          </a:ln>
        </p:spPr>
      </p:sp>
      <p:sp>
        <p:nvSpPr>
          <p:cNvPr id="11" name="Text 8"/>
          <p:cNvSpPr txBox="1"/>
          <p:nvPr/>
        </p:nvSpPr>
        <p:spPr>
          <a:xfrm>
            <a:off x="4681728" y="1371600"/>
            <a:ext cx="11887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Select lowest h(n)</a:t>
            </a:r>
            <a:endParaRPr lang="en-US" sz="1300" dirty="0"/>
          </a:p>
        </p:txBody>
      </p:sp>
      <p:sp>
        <p:nvSpPr>
          <p:cNvPr id="12" name="Shape 9"/>
          <p:cNvSpPr/>
          <p:nvPr/>
        </p:nvSpPr>
        <p:spPr>
          <a:xfrm>
            <a:off x="5888736" y="1828800"/>
            <a:ext cx="182880" cy="0"/>
          </a:xfrm>
          <a:prstGeom prst="line">
            <a:avLst/>
          </a:prstGeom>
          <a:noFill/>
          <a:ln w="25400">
            <a:solidFill>
              <a:schemeClr val="accent5"/>
            </a:solidFill>
            <a:prstDash val="solid"/>
            <a:tailEnd type="triangle"/>
          </a:ln>
        </p:spPr>
      </p:sp>
      <p:sp>
        <p:nvSpPr>
          <p:cNvPr id="13" name="Text 10"/>
          <p:cNvSpPr txBox="1"/>
          <p:nvPr/>
        </p:nvSpPr>
        <p:spPr>
          <a:xfrm>
            <a:off x="6089904" y="1371600"/>
            <a:ext cx="11887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300" b="1" dirty="0">
                <a:solidFill>
                  <a:schemeClr val="bg1"/>
                </a:solidFill>
              </a:rPr>
              <a:t>Expand that node</a:t>
            </a:r>
            <a:endParaRPr lang="en-US" sz="1300" dirty="0"/>
          </a:p>
        </p:txBody>
      </p:sp>
      <p:sp>
        <p:nvSpPr>
          <p:cNvPr id="14" name="Shape 11"/>
          <p:cNvSpPr/>
          <p:nvPr/>
        </p:nvSpPr>
        <p:spPr>
          <a:xfrm>
            <a:off x="7296912" y="1828800"/>
            <a:ext cx="182880" cy="0"/>
          </a:xfrm>
          <a:prstGeom prst="line">
            <a:avLst/>
          </a:prstGeom>
          <a:noFill/>
          <a:ln w="25400">
            <a:solidFill>
              <a:schemeClr val="accent5"/>
            </a:solidFill>
            <a:prstDash val="solid"/>
            <a:tailEnd type="triangle"/>
          </a:ln>
        </p:spPr>
      </p:sp>
      <p:sp>
        <p:nvSpPr>
          <p:cNvPr id="15" name="Text 12"/>
          <p:cNvSpPr txBox="1"/>
          <p:nvPr/>
        </p:nvSpPr>
        <p:spPr>
          <a:xfrm>
            <a:off x="7498080" y="1371600"/>
            <a:ext cx="1188720" cy="914400"/>
          </a:xfrm>
          <a:prstGeom prst="roundRect">
            <a:avLst>
              <a:gd name="adj" fmla="val 8000"/>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Repeat</a:t>
            </a:r>
            <a:endParaRPr lang="en-US" sz="1300" dirty="0"/>
          </a:p>
        </p:txBody>
      </p:sp>
      <p:sp>
        <p:nvSpPr>
          <p:cNvPr id="16" name="Shape 13"/>
          <p:cNvSpPr/>
          <p:nvPr/>
        </p:nvSpPr>
        <p:spPr>
          <a:xfrm>
            <a:off x="457200" y="2743200"/>
            <a:ext cx="4846320" cy="1737360"/>
          </a:xfrm>
          <a:prstGeom prst="roundRect">
            <a:avLst>
              <a:gd name="adj" fmla="val 5263"/>
            </a:avLst>
          </a:prstGeom>
          <a:solidFill>
            <a:schemeClr val="bg2"/>
          </a:solidFill>
          <a:ln w="12700">
            <a:solidFill>
              <a:schemeClr val="bg2"/>
            </a:solidFill>
            <a:prstDash val="solid"/>
          </a:ln>
        </p:spPr>
      </p:sp>
      <p:sp>
        <p:nvSpPr>
          <p:cNvPr id="17" name="Text 14"/>
          <p:cNvSpPr txBox="1"/>
          <p:nvPr/>
        </p:nvSpPr>
        <p:spPr>
          <a:xfrm>
            <a:off x="640080" y="2743200"/>
            <a:ext cx="4480560" cy="1737360"/>
          </a:xfrm>
          <a:prstGeom prst="rect">
            <a:avLst/>
          </a:prstGeom>
          <a:noFill/>
          <a:ln/>
        </p:spPr>
        <p:txBody>
          <a:bodyPr wrap="square" lIns="0" tIns="0" rIns="0" bIns="0" rtlCol="0" anchor="ctr"/>
          <a:lstStyle/>
          <a:p>
            <a:pPr indent="0" marL="0">
              <a:buNone/>
            </a:pPr>
            <a:r>
              <a:rPr lang="en-US" sz="1800" b="1" dirty="0">
                <a:solidFill>
                  <a:schemeClr val="tx2"/>
                </a:solidFill>
              </a:rPr>
              <a:t>Selection rule</a:t>
            </a:r>
            <a:endParaRPr lang="en-US" sz="1400" dirty="0"/>
          </a:p>
          <a:p>
            <a:pPr indent="0" marL="0">
              <a:buNone/>
            </a:pPr>
            <a:r>
              <a:rPr lang="en-US" sz="1400" dirty="0">
                <a:solidFill>
                  <a:schemeClr val="tx1"/>
                </a:solidFill>
              </a:rPr>
              <a:t>Always expand the node that looks closest to the goal, using f(n) = h(n).</a:t>
            </a:r>
            <a:endParaRPr lang="en-US" sz="1400" dirty="0"/>
          </a:p>
        </p:txBody>
      </p:sp>
      <p:sp>
        <p:nvSpPr>
          <p:cNvPr id="18" name="Shape 15"/>
          <p:cNvSpPr/>
          <p:nvPr/>
        </p:nvSpPr>
        <p:spPr>
          <a:xfrm>
            <a:off x="5577840" y="2743200"/>
            <a:ext cx="3108960" cy="1737360"/>
          </a:xfrm>
          <a:prstGeom prst="roundRect">
            <a:avLst>
              <a:gd name="adj" fmla="val 5263"/>
            </a:avLst>
          </a:prstGeom>
          <a:solidFill>
            <a:schemeClr val="accent2"/>
          </a:solidFill>
          <a:ln w="12700">
            <a:solidFill>
              <a:schemeClr val="accent2"/>
            </a:solidFill>
            <a:prstDash val="solid"/>
          </a:ln>
        </p:spPr>
      </p:sp>
      <p:sp>
        <p:nvSpPr>
          <p:cNvPr id="19" name="Text 16"/>
          <p:cNvSpPr txBox="1"/>
          <p:nvPr/>
        </p:nvSpPr>
        <p:spPr>
          <a:xfrm>
            <a:off x="5577840" y="2743200"/>
            <a:ext cx="3108960" cy="1737360"/>
          </a:xfrm>
          <a:prstGeom prst="rect">
            <a:avLst/>
          </a:prstGeom>
          <a:noFill/>
          <a:ln/>
        </p:spPr>
        <p:txBody>
          <a:bodyPr wrap="square" lIns="0" tIns="0" rIns="0" bIns="0" rtlCol="0" anchor="ctr"/>
          <a:lstStyle/>
          <a:p>
            <a:pPr algn="ctr" indent="0" marL="0">
              <a:buNone/>
            </a:pPr>
            <a:r>
              <a:rPr lang="en-US" sz="2400" b="1" dirty="0">
                <a:solidFill>
                  <a:schemeClr val="tx1"/>
                </a:solidFill>
                <a:latin typeface="Cambria" pitchFamily="34" charset="0"/>
                <a:ea typeface="Cambria" pitchFamily="34" charset="-122"/>
                <a:cs typeface="Cambria" pitchFamily="34" charset="-120"/>
              </a:rPr>
              <a:t>Goal reached</a:t>
            </a:r>
            <a:endParaRPr lang="en-US" sz="2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Advantages and Disadvantages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Shape 2"/>
          <p:cNvSpPr/>
          <p:nvPr/>
        </p:nvSpPr>
        <p:spPr>
          <a:xfrm>
            <a:off x="457200" y="1280160"/>
            <a:ext cx="4023360" cy="3200400"/>
          </a:xfrm>
          <a:prstGeom prst="roundRect">
            <a:avLst>
              <a:gd name="adj" fmla="val 2857"/>
            </a:avLst>
          </a:prstGeom>
          <a:solidFill>
            <a:schemeClr val="bg2"/>
          </a:solidFill>
          <a:ln w="12700">
            <a:solidFill>
              <a:schemeClr val="bg2"/>
            </a:solidFill>
            <a:prstDash val="solid"/>
          </a:ln>
        </p:spPr>
      </p:sp>
      <p:sp>
        <p:nvSpPr>
          <p:cNvPr id="6" name="Text 3"/>
          <p:cNvSpPr txBox="1"/>
          <p:nvPr/>
        </p:nvSpPr>
        <p:spPr>
          <a:xfrm>
            <a:off x="640080" y="1417320"/>
            <a:ext cx="3657600" cy="502920"/>
          </a:xfrm>
          <a:prstGeom prst="roundRect">
            <a:avLst>
              <a:gd name="adj" fmla="val 18182"/>
            </a:avLst>
          </a:prstGeom>
          <a:solidFill>
            <a:schemeClr val="accent3"/>
          </a:solidFill>
          <a:ln/>
        </p:spPr>
        <p:txBody>
          <a:bodyPr wrap="square" lIns="0" tIns="0" rIns="0" bIns="0" rtlCol="0" anchor="ctr"/>
          <a:lstStyle/>
          <a:p>
            <a:pPr algn="ctr" indent="0" marL="0">
              <a:buNone/>
            </a:pPr>
            <a:r>
              <a:rPr lang="en-US" sz="1800" b="1" dirty="0">
                <a:solidFill>
                  <a:schemeClr val="bg1"/>
                </a:solidFill>
              </a:rPr>
              <a:t>Advantages</a:t>
            </a:r>
            <a:endParaRPr lang="en-US" sz="1800" dirty="0"/>
          </a:p>
        </p:txBody>
      </p:sp>
      <p:sp>
        <p:nvSpPr>
          <p:cNvPr id="7" name="Text 4"/>
          <p:cNvSpPr txBox="1"/>
          <p:nvPr/>
        </p:nvSpPr>
        <p:spPr>
          <a:xfrm>
            <a:off x="731520" y="210312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Uses heuristic knowledge to guide the search</a:t>
            </a:r>
            <a:endParaRPr lang="en-US" sz="1400" dirty="0"/>
          </a:p>
          <a:p>
            <a:pPr marL="342900" indent="-342900">
              <a:spcAft>
                <a:spcPts val="800"/>
              </a:spcAft>
              <a:buSzPct val="100000"/>
              <a:buChar char="•"/>
            </a:pPr>
            <a:r>
              <a:rPr lang="en-US" sz="1400" dirty="0">
                <a:solidFill>
                  <a:schemeClr val="tx1"/>
                </a:solidFill>
              </a:rPr>
              <a:t>Usually faster than blind search with a good heuristic</a:t>
            </a:r>
            <a:endParaRPr lang="en-US" sz="1400" dirty="0"/>
          </a:p>
          <a:p>
            <a:pPr marL="342900" indent="-342900">
              <a:spcAft>
                <a:spcPts val="800"/>
              </a:spcAft>
              <a:buSzPct val="100000"/>
              <a:buChar char="•"/>
            </a:pPr>
            <a:r>
              <a:rPr lang="en-US" sz="1400" dirty="0">
                <a:solidFill>
                  <a:schemeClr val="tx1"/>
                </a:solidFill>
              </a:rPr>
              <a:t>Reduces unnecessary exploration</a:t>
            </a:r>
            <a:endParaRPr lang="en-US" sz="1400" dirty="0"/>
          </a:p>
          <a:p>
            <a:pPr marL="342900" indent="-342900">
              <a:spcAft>
                <a:spcPts val="800"/>
              </a:spcAft>
              <a:buSzPct val="100000"/>
              <a:buChar char="•"/>
            </a:pPr>
            <a:r>
              <a:rPr lang="en-US" sz="1400" dirty="0">
                <a:solidFill>
                  <a:schemeClr val="tx1"/>
                </a:solidFill>
              </a:rPr>
              <a:t>Useful for route finding and many AI problems</a:t>
            </a:r>
            <a:endParaRPr lang="en-US" sz="1400" dirty="0"/>
          </a:p>
        </p:txBody>
      </p:sp>
      <p:sp>
        <p:nvSpPr>
          <p:cNvPr id="8" name="Shape 5"/>
          <p:cNvSpPr/>
          <p:nvPr/>
        </p:nvSpPr>
        <p:spPr>
          <a:xfrm>
            <a:off x="4663440" y="1280160"/>
            <a:ext cx="4023360" cy="3200400"/>
          </a:xfrm>
          <a:prstGeom prst="roundRect">
            <a:avLst>
              <a:gd name="adj" fmla="val 2857"/>
            </a:avLst>
          </a:prstGeom>
          <a:solidFill>
            <a:schemeClr val="bg2"/>
          </a:solidFill>
          <a:ln w="12700">
            <a:solidFill>
              <a:schemeClr val="bg2"/>
            </a:solidFill>
            <a:prstDash val="solid"/>
          </a:ln>
        </p:spPr>
      </p:sp>
      <p:sp>
        <p:nvSpPr>
          <p:cNvPr id="9" name="Text 6"/>
          <p:cNvSpPr txBox="1"/>
          <p:nvPr/>
        </p:nvSpPr>
        <p:spPr>
          <a:xfrm>
            <a:off x="4846320" y="1417320"/>
            <a:ext cx="3657600" cy="502920"/>
          </a:xfrm>
          <a:prstGeom prst="roundRect">
            <a:avLst>
              <a:gd name="adj" fmla="val 18182"/>
            </a:avLst>
          </a:prstGeom>
          <a:solidFill>
            <a:schemeClr val="accent4"/>
          </a:solidFill>
          <a:ln/>
        </p:spPr>
        <p:txBody>
          <a:bodyPr wrap="square" lIns="0" tIns="0" rIns="0" bIns="0" rtlCol="0" anchor="ctr"/>
          <a:lstStyle/>
          <a:p>
            <a:pPr algn="ctr" indent="0" marL="0">
              <a:buNone/>
            </a:pPr>
            <a:r>
              <a:rPr lang="en-US" sz="1800" b="1" dirty="0">
                <a:solidFill>
                  <a:schemeClr val="bg1"/>
                </a:solidFill>
              </a:rPr>
              <a:t>Disadvantages</a:t>
            </a:r>
            <a:endParaRPr lang="en-US" sz="1800" dirty="0"/>
          </a:p>
        </p:txBody>
      </p:sp>
      <p:sp>
        <p:nvSpPr>
          <p:cNvPr id="10" name="Text 7"/>
          <p:cNvSpPr txBox="1"/>
          <p:nvPr/>
        </p:nvSpPr>
        <p:spPr>
          <a:xfrm>
            <a:off x="4937760" y="2103120"/>
            <a:ext cx="347472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Quality depends heavily on the heuristic</a:t>
            </a:r>
            <a:endParaRPr lang="en-US" sz="1400" dirty="0"/>
          </a:p>
          <a:p>
            <a:pPr marL="342900" indent="-342900">
              <a:spcAft>
                <a:spcPts val="800"/>
              </a:spcAft>
              <a:buSzPct val="100000"/>
              <a:buChar char="•"/>
            </a:pPr>
            <a:r>
              <a:rPr lang="en-US" sz="1400" dirty="0">
                <a:solidFill>
                  <a:schemeClr val="tx1"/>
                </a:solidFill>
              </a:rPr>
              <a:t>Does not necessarily find the shortest path</a:t>
            </a:r>
            <a:endParaRPr lang="en-US" sz="1400" dirty="0"/>
          </a:p>
          <a:p>
            <a:pPr marL="342900" indent="-342900">
              <a:spcAft>
                <a:spcPts val="800"/>
              </a:spcAft>
              <a:buSzPct val="100000"/>
              <a:buChar char="•"/>
            </a:pPr>
            <a:r>
              <a:rPr lang="en-US" sz="1400" dirty="0">
                <a:solidFill>
                  <a:schemeClr val="tx1"/>
                </a:solidFill>
              </a:rPr>
              <a:t>Can be misled by a poor heuristic</a:t>
            </a:r>
            <a:endParaRPr lang="en-US" sz="1400" dirty="0"/>
          </a:p>
          <a:p>
            <a:pPr marL="342900" indent="-342900">
              <a:spcAft>
                <a:spcPts val="800"/>
              </a:spcAft>
              <a:buSzPct val="100000"/>
              <a:buChar char="•"/>
            </a:pPr>
            <a:r>
              <a:rPr lang="en-US" sz="1400" dirty="0">
                <a:solidFill>
                  <a:schemeClr val="tx1"/>
                </a:solidFill>
              </a:rPr>
              <a:t>May need considerable memory for candidate nodes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Applications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CONCEPT</a:t>
            </a:r>
            <a:endParaRPr lang="en-US" sz="1100" dirty="0"/>
          </a:p>
        </p:txBody>
      </p:sp>
      <p:sp>
        <p:nvSpPr>
          <p:cNvPr id="5" name="Shape 2"/>
          <p:cNvSpPr/>
          <p:nvPr/>
        </p:nvSpPr>
        <p:spPr>
          <a:xfrm>
            <a:off x="457200" y="1280160"/>
            <a:ext cx="2651760" cy="1508760"/>
          </a:xfrm>
          <a:prstGeom prst="roundRect">
            <a:avLst>
              <a:gd name="adj" fmla="val 6061"/>
            </a:avLst>
          </a:prstGeom>
          <a:solidFill>
            <a:schemeClr val="bg2"/>
          </a:solidFill>
          <a:ln w="12700">
            <a:solidFill>
              <a:schemeClr val="bg2"/>
            </a:solidFill>
            <a:prstDash val="solid"/>
          </a:ln>
        </p:spPr>
      </p:sp>
      <p:sp>
        <p:nvSpPr>
          <p:cNvPr id="6" name="Text 3"/>
          <p:cNvSpPr txBox="1"/>
          <p:nvPr/>
        </p:nvSpPr>
        <p:spPr>
          <a:xfrm>
            <a:off x="640080" y="146304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4"/>
          <p:cNvSpPr txBox="1"/>
          <p:nvPr/>
        </p:nvSpPr>
        <p:spPr>
          <a:xfrm>
            <a:off x="640080" y="2011680"/>
            <a:ext cx="2286000" cy="640080"/>
          </a:xfrm>
          <a:prstGeom prst="rect">
            <a:avLst/>
          </a:prstGeom>
          <a:noFill/>
          <a:ln/>
        </p:spPr>
        <p:txBody>
          <a:bodyPr wrap="square" lIns="0" tIns="0" rIns="0" bIns="0" rtlCol="0" anchor="t"/>
          <a:lstStyle/>
          <a:p>
            <a:pPr indent="0" marL="0">
              <a:buNone/>
            </a:pPr>
            <a:r>
              <a:rPr lang="en-US" sz="1400" b="1" dirty="0">
                <a:solidFill>
                  <a:schemeClr val="tx1"/>
                </a:solidFill>
              </a:rPr>
              <a:t>Route finding and navigation</a:t>
            </a:r>
            <a:endParaRPr lang="en-US" sz="1400" dirty="0"/>
          </a:p>
        </p:txBody>
      </p:sp>
      <p:sp>
        <p:nvSpPr>
          <p:cNvPr id="8" name="Shape 5"/>
          <p:cNvSpPr/>
          <p:nvPr/>
        </p:nvSpPr>
        <p:spPr>
          <a:xfrm>
            <a:off x="3246120" y="1280160"/>
            <a:ext cx="2651760" cy="1508760"/>
          </a:xfrm>
          <a:prstGeom prst="roundRect">
            <a:avLst>
              <a:gd name="adj" fmla="val 6061"/>
            </a:avLst>
          </a:prstGeom>
          <a:solidFill>
            <a:schemeClr val="bg2"/>
          </a:solidFill>
          <a:ln w="12700">
            <a:solidFill>
              <a:schemeClr val="bg2"/>
            </a:solidFill>
            <a:prstDash val="solid"/>
          </a:ln>
        </p:spPr>
      </p:sp>
      <p:sp>
        <p:nvSpPr>
          <p:cNvPr id="9" name="Text 6"/>
          <p:cNvSpPr txBox="1"/>
          <p:nvPr/>
        </p:nvSpPr>
        <p:spPr>
          <a:xfrm>
            <a:off x="342900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3429000" y="2011680"/>
            <a:ext cx="2286000" cy="640080"/>
          </a:xfrm>
          <a:prstGeom prst="rect">
            <a:avLst/>
          </a:prstGeom>
          <a:noFill/>
          <a:ln/>
        </p:spPr>
        <p:txBody>
          <a:bodyPr wrap="square" lIns="0" tIns="0" rIns="0" bIns="0" rtlCol="0" anchor="t"/>
          <a:lstStyle/>
          <a:p>
            <a:pPr indent="0" marL="0">
              <a:buNone/>
            </a:pPr>
            <a:r>
              <a:rPr lang="en-US" sz="1400" b="1" dirty="0">
                <a:solidFill>
                  <a:schemeClr val="tx1"/>
                </a:solidFill>
              </a:rPr>
              <a:t>Robot path planning</a:t>
            </a:r>
            <a:endParaRPr lang="en-US" sz="1400" dirty="0"/>
          </a:p>
        </p:txBody>
      </p:sp>
      <p:sp>
        <p:nvSpPr>
          <p:cNvPr id="11" name="Shape 8"/>
          <p:cNvSpPr/>
          <p:nvPr/>
        </p:nvSpPr>
        <p:spPr>
          <a:xfrm>
            <a:off x="6035040" y="1280160"/>
            <a:ext cx="2651760" cy="1508760"/>
          </a:xfrm>
          <a:prstGeom prst="roundRect">
            <a:avLst>
              <a:gd name="adj" fmla="val 6061"/>
            </a:avLst>
          </a:prstGeom>
          <a:solidFill>
            <a:schemeClr val="bg2"/>
          </a:solidFill>
          <a:ln w="12700">
            <a:solidFill>
              <a:schemeClr val="bg2"/>
            </a:solidFill>
            <a:prstDash val="solid"/>
          </a:ln>
        </p:spPr>
      </p:sp>
      <p:sp>
        <p:nvSpPr>
          <p:cNvPr id="12" name="Text 9"/>
          <p:cNvSpPr txBox="1"/>
          <p:nvPr/>
        </p:nvSpPr>
        <p:spPr>
          <a:xfrm>
            <a:off x="6217920" y="14630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0"/>
          <p:cNvSpPr txBox="1"/>
          <p:nvPr/>
        </p:nvSpPr>
        <p:spPr>
          <a:xfrm>
            <a:off x="6217920" y="2011680"/>
            <a:ext cx="2286000" cy="640080"/>
          </a:xfrm>
          <a:prstGeom prst="rect">
            <a:avLst/>
          </a:prstGeom>
          <a:noFill/>
          <a:ln/>
        </p:spPr>
        <p:txBody>
          <a:bodyPr wrap="square" lIns="0" tIns="0" rIns="0" bIns="0" rtlCol="0" anchor="t"/>
          <a:lstStyle/>
          <a:p>
            <a:pPr indent="0" marL="0">
              <a:buNone/>
            </a:pPr>
            <a:r>
              <a:rPr lang="en-US" sz="1400" b="1" dirty="0">
                <a:solidFill>
                  <a:schemeClr val="tx1"/>
                </a:solidFill>
              </a:rPr>
              <a:t>Game AI</a:t>
            </a:r>
            <a:endParaRPr lang="en-US" sz="1400" dirty="0"/>
          </a:p>
        </p:txBody>
      </p:sp>
      <p:sp>
        <p:nvSpPr>
          <p:cNvPr id="14" name="Shape 11"/>
          <p:cNvSpPr/>
          <p:nvPr/>
        </p:nvSpPr>
        <p:spPr>
          <a:xfrm>
            <a:off x="457200" y="2926080"/>
            <a:ext cx="2651760" cy="1508760"/>
          </a:xfrm>
          <a:prstGeom prst="roundRect">
            <a:avLst>
              <a:gd name="adj" fmla="val 6061"/>
            </a:avLst>
          </a:prstGeom>
          <a:solidFill>
            <a:schemeClr val="bg2"/>
          </a:solidFill>
          <a:ln w="12700">
            <a:solidFill>
              <a:schemeClr val="bg2"/>
            </a:solidFill>
            <a:prstDash val="solid"/>
          </a:ln>
        </p:spPr>
      </p:sp>
      <p:sp>
        <p:nvSpPr>
          <p:cNvPr id="15" name="Text 12"/>
          <p:cNvSpPr txBox="1"/>
          <p:nvPr/>
        </p:nvSpPr>
        <p:spPr>
          <a:xfrm>
            <a:off x="640080" y="3108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3"/>
          <p:cNvSpPr txBox="1"/>
          <p:nvPr/>
        </p:nvSpPr>
        <p:spPr>
          <a:xfrm>
            <a:off x="640080" y="3657600"/>
            <a:ext cx="2286000" cy="640080"/>
          </a:xfrm>
          <a:prstGeom prst="rect">
            <a:avLst/>
          </a:prstGeom>
          <a:noFill/>
          <a:ln/>
        </p:spPr>
        <p:txBody>
          <a:bodyPr wrap="square" lIns="0" tIns="0" rIns="0" bIns="0" rtlCol="0" anchor="t"/>
          <a:lstStyle/>
          <a:p>
            <a:pPr indent="0" marL="0">
              <a:buNone/>
            </a:pPr>
            <a:r>
              <a:rPr lang="en-US" sz="1400" b="1" dirty="0">
                <a:solidFill>
                  <a:schemeClr val="tx1"/>
                </a:solidFill>
              </a:rPr>
              <a:t>Puzzle solving</a:t>
            </a:r>
            <a:endParaRPr lang="en-US" sz="1400" dirty="0"/>
          </a:p>
        </p:txBody>
      </p:sp>
      <p:sp>
        <p:nvSpPr>
          <p:cNvPr id="17" name="Shape 14"/>
          <p:cNvSpPr/>
          <p:nvPr/>
        </p:nvSpPr>
        <p:spPr>
          <a:xfrm>
            <a:off x="3246120" y="2926080"/>
            <a:ext cx="2651760" cy="1508760"/>
          </a:xfrm>
          <a:prstGeom prst="roundRect">
            <a:avLst>
              <a:gd name="adj" fmla="val 6061"/>
            </a:avLst>
          </a:prstGeom>
          <a:solidFill>
            <a:schemeClr val="bg2"/>
          </a:solidFill>
          <a:ln w="12700">
            <a:solidFill>
              <a:schemeClr val="bg2"/>
            </a:solidFill>
            <a:prstDash val="solid"/>
          </a:ln>
        </p:spPr>
      </p:sp>
      <p:sp>
        <p:nvSpPr>
          <p:cNvPr id="18" name="Text 15"/>
          <p:cNvSpPr txBox="1"/>
          <p:nvPr/>
        </p:nvSpPr>
        <p:spPr>
          <a:xfrm>
            <a:off x="3429000" y="3108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6"/>
          <p:cNvSpPr txBox="1"/>
          <p:nvPr/>
        </p:nvSpPr>
        <p:spPr>
          <a:xfrm>
            <a:off x="3429000" y="3657600"/>
            <a:ext cx="2286000" cy="640080"/>
          </a:xfrm>
          <a:prstGeom prst="rect">
            <a:avLst/>
          </a:prstGeom>
          <a:noFill/>
          <a:ln/>
        </p:spPr>
        <p:txBody>
          <a:bodyPr wrap="square" lIns="0" tIns="0" rIns="0" bIns="0" rtlCol="0" anchor="t"/>
          <a:lstStyle/>
          <a:p>
            <a:pPr indent="0" marL="0">
              <a:buNone/>
            </a:pPr>
            <a:r>
              <a:rPr lang="en-US" sz="1400" b="1" dirty="0">
                <a:solidFill>
                  <a:schemeClr val="tx1"/>
                </a:solidFill>
              </a:rPr>
              <a:t>Network routing</a:t>
            </a:r>
            <a:endParaRPr lang="en-US" sz="1400" dirty="0"/>
          </a:p>
        </p:txBody>
      </p:sp>
      <p:sp>
        <p:nvSpPr>
          <p:cNvPr id="20" name="Shape 17"/>
          <p:cNvSpPr/>
          <p:nvPr/>
        </p:nvSpPr>
        <p:spPr>
          <a:xfrm>
            <a:off x="6035040" y="2926080"/>
            <a:ext cx="2651760" cy="1508760"/>
          </a:xfrm>
          <a:prstGeom prst="roundRect">
            <a:avLst>
              <a:gd name="adj" fmla="val 6061"/>
            </a:avLst>
          </a:prstGeom>
          <a:solidFill>
            <a:schemeClr val="bg2"/>
          </a:solidFill>
          <a:ln w="12700">
            <a:solidFill>
              <a:schemeClr val="bg2"/>
            </a:solidFill>
            <a:prstDash val="solid"/>
          </a:ln>
        </p:spPr>
      </p:sp>
      <p:sp>
        <p:nvSpPr>
          <p:cNvPr id="21" name="Text 18"/>
          <p:cNvSpPr txBox="1"/>
          <p:nvPr/>
        </p:nvSpPr>
        <p:spPr>
          <a:xfrm>
            <a:off x="6217920" y="310896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2" name="Text 19"/>
          <p:cNvSpPr txBox="1"/>
          <p:nvPr/>
        </p:nvSpPr>
        <p:spPr>
          <a:xfrm>
            <a:off x="6217920" y="3657600"/>
            <a:ext cx="2286000" cy="640080"/>
          </a:xfrm>
          <a:prstGeom prst="rect">
            <a:avLst/>
          </a:prstGeom>
          <a:noFill/>
          <a:ln/>
        </p:spPr>
        <p:txBody>
          <a:bodyPr wrap="square" lIns="0" tIns="0" rIns="0" bIns="0" rtlCol="0" anchor="t"/>
          <a:lstStyle/>
          <a:p>
            <a:pPr indent="0" marL="0">
              <a:buNone/>
            </a:pPr>
            <a:r>
              <a:rPr lang="en-US" sz="1400" b="1" dirty="0">
                <a:solidFill>
                  <a:schemeClr val="tx1"/>
                </a:solidFill>
              </a:rPr>
              <a:t>Problem-solving systems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1–2: Graph and Heuristic</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CODE SETUP</a:t>
            </a:r>
            <a:endParaRPr lang="en-US" sz="1100" dirty="0"/>
          </a:p>
        </p:txBody>
      </p:sp>
      <p:sp>
        <p:nvSpPr>
          <p:cNvPr id="5" name="Text 2"/>
          <p:cNvSpPr txBox="1"/>
          <p:nvPr/>
        </p:nvSpPr>
        <p:spPr>
          <a:xfrm>
            <a:off x="457200" y="1280160"/>
            <a:ext cx="4023360" cy="256032"/>
          </a:xfrm>
          <a:prstGeom prst="rect">
            <a:avLst/>
          </a:prstGeom>
          <a:noFill/>
          <a:ln/>
        </p:spPr>
        <p:txBody>
          <a:bodyPr wrap="square" lIns="0" tIns="0" rIns="0" bIns="0" rtlCol="0" anchor="ctr"/>
          <a:lstStyle/>
          <a:p>
            <a:pPr indent="0" marL="0">
              <a:buNone/>
            </a:pPr>
            <a:r>
              <a:rPr lang="en-US" sz="1200" b="1" dirty="0">
                <a:solidFill>
                  <a:schemeClr val="accent5"/>
                </a:solidFill>
              </a:rPr>
              <a:t>STEP 1: GRAPH</a:t>
            </a:r>
            <a:endParaRPr lang="en-US" sz="1200" dirty="0"/>
          </a:p>
        </p:txBody>
      </p:sp>
      <p:sp>
        <p:nvSpPr>
          <p:cNvPr id="6" name="Text 3"/>
          <p:cNvSpPr txBox="1"/>
          <p:nvPr/>
        </p:nvSpPr>
        <p:spPr>
          <a:xfrm>
            <a:off x="457200" y="1572768"/>
            <a:ext cx="4023360" cy="2331720"/>
          </a:xfrm>
          <a:prstGeom prst="roundRect">
            <a:avLst>
              <a:gd name="adj" fmla="val 3137"/>
            </a:avLst>
          </a:prstGeom>
          <a:solidFill>
            <a:schemeClr val="tx2"/>
          </a:solidFill>
          <a:ln/>
        </p:spPr>
        <p:txBody>
          <a:bodyPr wrap="square" lIns="127000" tIns="127000" rIns="127000" bIns="127000" rtlCol="0" anchor="ctr"/>
          <a:lstStyle/>
          <a:p>
            <a:pPr algn="l" indent="0" marL="0">
              <a:buNone/>
            </a:pPr>
            <a:r>
              <a:rPr lang="en-US" sz="1050" dirty="0">
                <a:solidFill>
                  <a:schemeClr val="bg1"/>
                </a:solidFill>
                <a:latin typeface="Courier New" pitchFamily="34" charset="0"/>
                <a:ea typeface="Courier New" pitchFamily="34" charset="-122"/>
                <a:cs typeface="Courier New" pitchFamily="34" charset="-120"/>
              </a:rPr>
              <a:t>graph = {</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"Vijaynagar": ["Bengali Square", "MR-10"],</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"Bengali Square": ["Vijaynagar", "Rau"],</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"MR-10": ["Vijaynagar", "Bypass"],</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"Rau": ["Bengali Square", "CDGI"],</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"Bypass": ["MR-10", "CDGI"],</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"CDGI": ["Rau", "Bypass"]</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7" name="Text 4"/>
          <p:cNvSpPr txBox="1"/>
          <p:nvPr/>
        </p:nvSpPr>
        <p:spPr>
          <a:xfrm>
            <a:off x="4663440" y="1280160"/>
            <a:ext cx="4023360" cy="256032"/>
          </a:xfrm>
          <a:prstGeom prst="rect">
            <a:avLst/>
          </a:prstGeom>
          <a:noFill/>
          <a:ln/>
        </p:spPr>
        <p:txBody>
          <a:bodyPr wrap="square" lIns="0" tIns="0" rIns="0" bIns="0" rtlCol="0" anchor="ctr"/>
          <a:lstStyle/>
          <a:p>
            <a:pPr indent="0" marL="0">
              <a:buNone/>
            </a:pPr>
            <a:r>
              <a:rPr lang="en-US" sz="1200" b="1" dirty="0">
                <a:solidFill>
                  <a:schemeClr val="accent5"/>
                </a:solidFill>
              </a:rPr>
              <a:t>STEP 2: HEURISTIC</a:t>
            </a:r>
            <a:endParaRPr lang="en-US" sz="1200" dirty="0"/>
          </a:p>
        </p:txBody>
      </p:sp>
      <p:sp>
        <p:nvSpPr>
          <p:cNvPr id="8" name="Text 5"/>
          <p:cNvSpPr txBox="1"/>
          <p:nvPr/>
        </p:nvSpPr>
        <p:spPr>
          <a:xfrm>
            <a:off x="4663440" y="1572768"/>
            <a:ext cx="4023360" cy="2331720"/>
          </a:xfrm>
          <a:prstGeom prst="roundRect">
            <a:avLst>
              <a:gd name="adj" fmla="val 3137"/>
            </a:avLst>
          </a:prstGeom>
          <a:solidFill>
            <a:schemeClr val="tx2"/>
          </a:solidFill>
          <a:ln/>
        </p:spPr>
        <p:txBody>
          <a:bodyPr wrap="square" lIns="127000" tIns="127000" rIns="127000" bIns="1270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h = {</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"Vijaynagar": 12,</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"Bengali Square": 8,</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"MR-10": 10,</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"Rau": 4,</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"Bypass": 6,</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"CDGI": 0</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457200" y="4069080"/>
            <a:ext cx="8229600" cy="457200"/>
          </a:xfrm>
          <a:prstGeom prst="roundRect">
            <a:avLst>
              <a:gd name="adj" fmla="val 20000"/>
            </a:avLst>
          </a:prstGeom>
          <a:solidFill>
            <a:schemeClr val="accent2"/>
          </a:solidFill>
          <a:ln w="12700">
            <a:solidFill>
              <a:schemeClr val="accent2"/>
            </a:solidFill>
            <a:prstDash val="solid"/>
          </a:ln>
        </p:spPr>
      </p:sp>
      <p:sp>
        <p:nvSpPr>
          <p:cNvPr id="10" name="Text 7"/>
          <p:cNvSpPr txBox="1"/>
          <p:nvPr/>
        </p:nvSpPr>
        <p:spPr>
          <a:xfrm>
            <a:off x="640080" y="4069080"/>
            <a:ext cx="7863840" cy="457200"/>
          </a:xfrm>
          <a:prstGeom prst="rect">
            <a:avLst/>
          </a:prstGeom>
          <a:noFill/>
          <a:ln/>
        </p:spPr>
        <p:txBody>
          <a:bodyPr wrap="square" lIns="0" tIns="0" rIns="0" bIns="0" rtlCol="0" anchor="ctr"/>
          <a:lstStyle/>
          <a:p>
            <a:pPr algn="ctr" indent="0" marL="0">
              <a:buNone/>
            </a:pPr>
            <a:r>
              <a:rPr lang="en-US" sz="1400" b="1" dirty="0">
                <a:solidFill>
                  <a:schemeClr val="tx1"/>
                </a:solidFill>
              </a:rPr>
              <a:t>Smaller h(n) = more promising node.  h(CDGI) = 0 because CDGI is the goal.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Complete Code, Part 1</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CODE SETUP</a:t>
            </a:r>
            <a:endParaRPr lang="en-US" sz="1100" dirty="0"/>
          </a:p>
        </p:txBody>
      </p:sp>
      <p:sp>
        <p:nvSpPr>
          <p:cNvPr id="5" name="Text 2"/>
          <p:cNvSpPr txBox="1"/>
          <p:nvPr/>
        </p:nvSpPr>
        <p:spPr>
          <a:xfrm>
            <a:off x="457200" y="1234440"/>
            <a:ext cx="8229600" cy="3291840"/>
          </a:xfrm>
          <a:prstGeom prst="roundRect">
            <a:avLst>
              <a:gd name="adj" fmla="val 2222"/>
            </a:avLst>
          </a:prstGeom>
          <a:solidFill>
            <a:schemeClr val="tx2"/>
          </a:solidFill>
          <a:ln/>
        </p:spPr>
        <p:txBody>
          <a:bodyPr wrap="square" lIns="76200" tIns="76200" rIns="76200" bIns="762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def best_first_search(start, goal):</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frontier = [start]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visited = set()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parent = {start: None}</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while frontier:</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current = min(frontier, key=lambda x: h[x])</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frontier.remove(current)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print(f"\nSelected: {current}")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print(f"Heuristic h({current}) = {h[current]}")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if current == goal:</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print("\nGoal reached!")</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break</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visited.add(current)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for neighbor in graph[current]: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if neighbor not in visited and neighbor not in frontier:</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frontier.append(neighbor)</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parent[neighbor] = 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print("Frontier:", frontier)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Complete Code, Part 2</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CODE SETUP</a:t>
            </a:r>
            <a:endParaRPr lang="en-US" sz="1100" dirty="0"/>
          </a:p>
        </p:txBody>
      </p:sp>
      <p:sp>
        <p:nvSpPr>
          <p:cNvPr id="5" name="Text 2"/>
          <p:cNvSpPr txBox="1"/>
          <p:nvPr/>
        </p:nvSpPr>
        <p:spPr>
          <a:xfrm>
            <a:off x="457200" y="1280160"/>
            <a:ext cx="4023360" cy="256032"/>
          </a:xfrm>
          <a:prstGeom prst="rect">
            <a:avLst/>
          </a:prstGeom>
          <a:noFill/>
          <a:ln/>
        </p:spPr>
        <p:txBody>
          <a:bodyPr wrap="square" lIns="0" tIns="0" rIns="0" bIns="0" rtlCol="0" anchor="ctr"/>
          <a:lstStyle/>
          <a:p>
            <a:pPr indent="0" marL="0">
              <a:buNone/>
            </a:pPr>
            <a:r>
              <a:rPr lang="en-US" sz="1200" b="1" dirty="0">
                <a:solidFill>
                  <a:schemeClr val="accent5"/>
                </a:solidFill>
              </a:rPr>
              <a:t>INSIDE THE FUNCTION: REBUILD THE PATH</a:t>
            </a:r>
            <a:endParaRPr lang="en-US" sz="1200" dirty="0"/>
          </a:p>
        </p:txBody>
      </p:sp>
      <p:sp>
        <p:nvSpPr>
          <p:cNvPr id="6" name="Text 3"/>
          <p:cNvSpPr txBox="1"/>
          <p:nvPr/>
        </p:nvSpPr>
        <p:spPr>
          <a:xfrm>
            <a:off x="457200" y="1572768"/>
            <a:ext cx="4023360" cy="2331720"/>
          </a:xfrm>
          <a:prstGeom prst="roundRect">
            <a:avLst>
              <a:gd name="adj" fmla="val 3137"/>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    if goal not in parent: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return None</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path = []</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current = goal</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while current is not None:</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path.append(current)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current = parent[current]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path.reverse()</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    return path</a:t>
            </a:r>
            <a:endParaRPr lang="en-US" sz="1100" dirty="0"/>
          </a:p>
        </p:txBody>
      </p:sp>
      <p:sp>
        <p:nvSpPr>
          <p:cNvPr id="7" name="Text 4"/>
          <p:cNvSpPr txBox="1"/>
          <p:nvPr/>
        </p:nvSpPr>
        <p:spPr>
          <a:xfrm>
            <a:off x="4663440" y="1280160"/>
            <a:ext cx="4023360" cy="256032"/>
          </a:xfrm>
          <a:prstGeom prst="rect">
            <a:avLst/>
          </a:prstGeom>
          <a:noFill/>
          <a:ln/>
        </p:spPr>
        <p:txBody>
          <a:bodyPr wrap="square" lIns="0" tIns="0" rIns="0" bIns="0" rtlCol="0" anchor="ctr"/>
          <a:lstStyle/>
          <a:p>
            <a:pPr indent="0" marL="0">
              <a:buNone/>
            </a:pPr>
            <a:r>
              <a:rPr lang="en-US" sz="1200" b="1" dirty="0">
                <a:solidFill>
                  <a:schemeClr val="accent5"/>
                </a:solidFill>
              </a:rPr>
              <a:t>OUTSIDE: RUN AND DISPLAY</a:t>
            </a:r>
            <a:endParaRPr lang="en-US" sz="1200" dirty="0"/>
          </a:p>
        </p:txBody>
      </p:sp>
      <p:sp>
        <p:nvSpPr>
          <p:cNvPr id="8" name="Text 5"/>
          <p:cNvSpPr txBox="1"/>
          <p:nvPr/>
        </p:nvSpPr>
        <p:spPr>
          <a:xfrm>
            <a:off x="4663440" y="1572768"/>
            <a:ext cx="4023360" cy="2331720"/>
          </a:xfrm>
          <a:prstGeom prst="roundRect">
            <a:avLst>
              <a:gd name="adj" fmla="val 3137"/>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start = "Vijaynagar"</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goal = "CDGI"</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path = best_first_search(start, goal)</a:t>
            </a:r>
            <a:endParaRPr lang="en-US" sz="1100" dirty="0"/>
          </a:p>
          <a:p>
            <a:pPr algn="l" indent="0" marL="0">
              <a:buNone/>
            </a:pP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print("\n----------------------------")</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print("Final Path:")</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 -&gt; ".join(path))</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a:t>
            </a:r>
            <a:endParaRPr lang="en-US" sz="1100" dirty="0"/>
          </a:p>
        </p:txBody>
      </p:sp>
      <p:sp>
        <p:nvSpPr>
          <p:cNvPr id="9" name="Shape 6"/>
          <p:cNvSpPr/>
          <p:nvPr/>
        </p:nvSpPr>
        <p:spPr>
          <a:xfrm>
            <a:off x="457200" y="4069080"/>
            <a:ext cx="8229600" cy="457200"/>
          </a:xfrm>
          <a:prstGeom prst="roundRect">
            <a:avLst>
              <a:gd name="adj" fmla="val 20000"/>
            </a:avLst>
          </a:prstGeom>
          <a:solidFill>
            <a:schemeClr val="accent2"/>
          </a:solidFill>
          <a:ln w="12700">
            <a:solidFill>
              <a:schemeClr val="accent2"/>
            </a:solidFill>
            <a:prstDash val="solid"/>
          </a:ln>
        </p:spPr>
      </p:sp>
      <p:sp>
        <p:nvSpPr>
          <p:cNvPr id="10" name="Text 7"/>
          <p:cNvSpPr txBox="1"/>
          <p:nvPr/>
        </p:nvSpPr>
        <p:spPr>
          <a:xfrm>
            <a:off x="640080" y="4069080"/>
            <a:ext cx="7863840" cy="457200"/>
          </a:xfrm>
          <a:prstGeom prst="rect">
            <a:avLst/>
          </a:prstGeom>
          <a:noFill/>
          <a:ln/>
        </p:spPr>
        <p:txBody>
          <a:bodyPr wrap="square" lIns="0" tIns="0" rIns="0" bIns="0" rtlCol="0" anchor="ctr"/>
          <a:lstStyle/>
          <a:p>
            <a:pPr algn="ctr" indent="0" marL="0">
              <a:buNone/>
            </a:pPr>
            <a:r>
              <a:rPr lang="en-US" sz="1400" b="1" dirty="0">
                <a:solidFill>
                  <a:schemeClr val="tx1"/>
                </a:solidFill>
              </a:rPr>
              <a:t>Part 1 finds the goal. Part 2 rebuilds the route using parent.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3–6: Function Setup</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CODE SETUP</a:t>
            </a:r>
            <a:endParaRPr lang="en-US" sz="1100" dirty="0"/>
          </a:p>
        </p:txBody>
      </p:sp>
      <p:sp>
        <p:nvSpPr>
          <p:cNvPr id="5" name="Shape 2"/>
          <p:cNvSpPr/>
          <p:nvPr/>
        </p:nvSpPr>
        <p:spPr>
          <a:xfrm>
            <a:off x="457200" y="1280160"/>
            <a:ext cx="8229600" cy="731520"/>
          </a:xfrm>
          <a:prstGeom prst="roundRect">
            <a:avLst>
              <a:gd name="adj" fmla="val 12500"/>
            </a:avLst>
          </a:prstGeom>
          <a:solidFill>
            <a:schemeClr val="bg2"/>
          </a:solidFill>
          <a:ln w="12700">
            <a:solidFill>
              <a:schemeClr val="bg2"/>
            </a:solidFill>
            <a:prstDash val="solid"/>
          </a:ln>
        </p:spPr>
      </p:sp>
      <p:sp>
        <p:nvSpPr>
          <p:cNvPr id="6" name="Text 3"/>
          <p:cNvSpPr txBox="1"/>
          <p:nvPr/>
        </p:nvSpPr>
        <p:spPr>
          <a:xfrm>
            <a:off x="594360" y="14173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7" name="Text 4"/>
          <p:cNvSpPr txBox="1"/>
          <p:nvPr/>
        </p:nvSpPr>
        <p:spPr>
          <a:xfrm>
            <a:off x="1234440" y="1389888"/>
            <a:ext cx="3566160" cy="512064"/>
          </a:xfrm>
          <a:prstGeom prst="roundRect">
            <a:avLst>
              <a:gd name="adj" fmla="val 14286"/>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def best_first_search(start, goal):</a:t>
            </a:r>
            <a:endParaRPr lang="en-US" sz="1100" dirty="0"/>
          </a:p>
        </p:txBody>
      </p:sp>
      <p:sp>
        <p:nvSpPr>
          <p:cNvPr id="8" name="Text 5"/>
          <p:cNvSpPr txBox="1"/>
          <p:nvPr/>
        </p:nvSpPr>
        <p:spPr>
          <a:xfrm>
            <a:off x="5029200" y="1280160"/>
            <a:ext cx="3474720" cy="731520"/>
          </a:xfrm>
          <a:prstGeom prst="rect">
            <a:avLst/>
          </a:prstGeom>
          <a:noFill/>
          <a:ln/>
        </p:spPr>
        <p:txBody>
          <a:bodyPr wrap="square" lIns="0" tIns="0" rIns="0" bIns="0" rtlCol="0" anchor="ctr"/>
          <a:lstStyle/>
          <a:p>
            <a:pPr indent="0" marL="0">
              <a:buNone/>
            </a:pPr>
            <a:r>
              <a:rPr lang="en-US" sz="1400" dirty="0">
                <a:solidFill>
                  <a:schemeClr val="tx1"/>
                </a:solidFill>
              </a:rPr>
              <a:t>Takes the start and goal. Here: Vijaynagar and CDGI.</a:t>
            </a:r>
            <a:endParaRPr lang="en-US" sz="1400" dirty="0"/>
          </a:p>
        </p:txBody>
      </p:sp>
      <p:sp>
        <p:nvSpPr>
          <p:cNvPr id="9" name="Shape 6"/>
          <p:cNvSpPr/>
          <p:nvPr/>
        </p:nvSpPr>
        <p:spPr>
          <a:xfrm>
            <a:off x="457200" y="2103120"/>
            <a:ext cx="8229600" cy="731520"/>
          </a:xfrm>
          <a:prstGeom prst="roundRect">
            <a:avLst>
              <a:gd name="adj" fmla="val 12500"/>
            </a:avLst>
          </a:prstGeom>
          <a:solidFill>
            <a:schemeClr val="bg2"/>
          </a:solidFill>
          <a:ln w="12700">
            <a:solidFill>
              <a:schemeClr val="bg2"/>
            </a:solidFill>
            <a:prstDash val="solid"/>
          </a:ln>
        </p:spPr>
      </p:sp>
      <p:sp>
        <p:nvSpPr>
          <p:cNvPr id="10" name="Text 7"/>
          <p:cNvSpPr txBox="1"/>
          <p:nvPr/>
        </p:nvSpPr>
        <p:spPr>
          <a:xfrm>
            <a:off x="594360" y="22402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2212848"/>
            <a:ext cx="3566160" cy="512064"/>
          </a:xfrm>
          <a:prstGeom prst="roundRect">
            <a:avLst>
              <a:gd name="adj" fmla="val 14286"/>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frontier = [start]</a:t>
            </a:r>
            <a:endParaRPr lang="en-US" sz="1100" dirty="0"/>
          </a:p>
        </p:txBody>
      </p:sp>
      <p:sp>
        <p:nvSpPr>
          <p:cNvPr id="12" name="Text 9"/>
          <p:cNvSpPr txBox="1"/>
          <p:nvPr/>
        </p:nvSpPr>
        <p:spPr>
          <a:xfrm>
            <a:off x="5029200" y="2103120"/>
            <a:ext cx="3474720" cy="731520"/>
          </a:xfrm>
          <a:prstGeom prst="rect">
            <a:avLst/>
          </a:prstGeom>
          <a:noFill/>
          <a:ln/>
        </p:spPr>
        <p:txBody>
          <a:bodyPr wrap="square" lIns="0" tIns="0" rIns="0" bIns="0" rtlCol="0" anchor="ctr"/>
          <a:lstStyle/>
          <a:p>
            <a:pPr indent="0" marL="0">
              <a:buNone/>
            </a:pPr>
            <a:r>
              <a:rPr lang="en-US" sz="1400" dirty="0">
                <a:solidFill>
                  <a:schemeClr val="tx1"/>
                </a:solidFill>
              </a:rPr>
              <a:t>Frontier: nodes waiting to be explored. Initially [Vijaynagar].</a:t>
            </a:r>
            <a:endParaRPr lang="en-US" sz="1400" dirty="0"/>
          </a:p>
        </p:txBody>
      </p:sp>
      <p:sp>
        <p:nvSpPr>
          <p:cNvPr id="13" name="Shape 10"/>
          <p:cNvSpPr/>
          <p:nvPr/>
        </p:nvSpPr>
        <p:spPr>
          <a:xfrm>
            <a:off x="457200" y="2926080"/>
            <a:ext cx="8229600" cy="731520"/>
          </a:xfrm>
          <a:prstGeom prst="roundRect">
            <a:avLst>
              <a:gd name="adj" fmla="val 12500"/>
            </a:avLst>
          </a:prstGeom>
          <a:solidFill>
            <a:schemeClr val="bg2"/>
          </a:solidFill>
          <a:ln w="12700">
            <a:solidFill>
              <a:schemeClr val="bg2"/>
            </a:solidFill>
            <a:prstDash val="solid"/>
          </a:ln>
        </p:spPr>
      </p:sp>
      <p:sp>
        <p:nvSpPr>
          <p:cNvPr id="14" name="Text 11"/>
          <p:cNvSpPr txBox="1"/>
          <p:nvPr/>
        </p:nvSpPr>
        <p:spPr>
          <a:xfrm>
            <a:off x="594360" y="306324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5" name="Text 12"/>
          <p:cNvSpPr txBox="1"/>
          <p:nvPr/>
        </p:nvSpPr>
        <p:spPr>
          <a:xfrm>
            <a:off x="1234440" y="3035808"/>
            <a:ext cx="3566160" cy="512064"/>
          </a:xfrm>
          <a:prstGeom prst="roundRect">
            <a:avLst>
              <a:gd name="adj" fmla="val 14286"/>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visited = set()</a:t>
            </a:r>
            <a:endParaRPr lang="en-US" sz="1100" dirty="0"/>
          </a:p>
        </p:txBody>
      </p:sp>
      <p:sp>
        <p:nvSpPr>
          <p:cNvPr id="16" name="Text 13"/>
          <p:cNvSpPr txBox="1"/>
          <p:nvPr/>
        </p:nvSpPr>
        <p:spPr>
          <a:xfrm>
            <a:off x="5029200" y="2926080"/>
            <a:ext cx="3474720" cy="731520"/>
          </a:xfrm>
          <a:prstGeom prst="rect">
            <a:avLst/>
          </a:prstGeom>
          <a:noFill/>
          <a:ln/>
        </p:spPr>
        <p:txBody>
          <a:bodyPr wrap="square" lIns="0" tIns="0" rIns="0" bIns="0" rtlCol="0" anchor="ctr"/>
          <a:lstStyle/>
          <a:p>
            <a:pPr indent="0" marL="0">
              <a:buNone/>
            </a:pPr>
            <a:r>
              <a:rPr lang="en-US" sz="1400" dirty="0">
                <a:solidFill>
                  <a:schemeClr val="tx1"/>
                </a:solidFill>
              </a:rPr>
              <a:t>Locations already explored. Prevents repeated exploration.</a:t>
            </a:r>
            <a:endParaRPr lang="en-US" sz="1400" dirty="0"/>
          </a:p>
        </p:txBody>
      </p:sp>
      <p:sp>
        <p:nvSpPr>
          <p:cNvPr id="17" name="Shape 14"/>
          <p:cNvSpPr/>
          <p:nvPr/>
        </p:nvSpPr>
        <p:spPr>
          <a:xfrm>
            <a:off x="457200" y="3749040"/>
            <a:ext cx="8229600" cy="731520"/>
          </a:xfrm>
          <a:prstGeom prst="roundRect">
            <a:avLst>
              <a:gd name="adj" fmla="val 12500"/>
            </a:avLst>
          </a:prstGeom>
          <a:solidFill>
            <a:schemeClr val="bg2"/>
          </a:solidFill>
          <a:ln w="12700">
            <a:solidFill>
              <a:schemeClr val="bg2"/>
            </a:solidFill>
            <a:prstDash val="solid"/>
          </a:ln>
        </p:spPr>
      </p:sp>
      <p:sp>
        <p:nvSpPr>
          <p:cNvPr id="18" name="Text 15"/>
          <p:cNvSpPr txBox="1"/>
          <p:nvPr/>
        </p:nvSpPr>
        <p:spPr>
          <a:xfrm>
            <a:off x="594360" y="388620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9" name="Text 16"/>
          <p:cNvSpPr txBox="1"/>
          <p:nvPr/>
        </p:nvSpPr>
        <p:spPr>
          <a:xfrm>
            <a:off x="1234440" y="3858768"/>
            <a:ext cx="3566160" cy="512064"/>
          </a:xfrm>
          <a:prstGeom prst="roundRect">
            <a:avLst>
              <a:gd name="adj" fmla="val 14286"/>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parent = {start: None}</a:t>
            </a:r>
            <a:endParaRPr lang="en-US" sz="1100" dirty="0"/>
          </a:p>
        </p:txBody>
      </p:sp>
      <p:sp>
        <p:nvSpPr>
          <p:cNvPr id="20" name="Text 17"/>
          <p:cNvSpPr txBox="1"/>
          <p:nvPr/>
        </p:nvSpPr>
        <p:spPr>
          <a:xfrm>
            <a:off x="5029200" y="3749040"/>
            <a:ext cx="3474720" cy="731520"/>
          </a:xfrm>
          <a:prstGeom prst="rect">
            <a:avLst/>
          </a:prstGeom>
          <a:noFill/>
          <a:ln/>
        </p:spPr>
        <p:txBody>
          <a:bodyPr wrap="square" lIns="0" tIns="0" rIns="0" bIns="0" rtlCol="0" anchor="ctr"/>
          <a:lstStyle/>
          <a:p>
            <a:pPr indent="0" marL="0">
              <a:buNone/>
            </a:pPr>
            <a:r>
              <a:rPr lang="en-US" sz="1400" dirty="0">
                <a:solidFill>
                  <a:schemeClr val="tx1"/>
                </a:solidFill>
              </a:rPr>
              <a:t>Remembers where each node came from, to rebuild the path.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7–8: Select the Best Node</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SEARCH LOOP</a:t>
            </a:r>
            <a:endParaRPr lang="en-US" sz="1100" dirty="0"/>
          </a:p>
        </p:txBody>
      </p:sp>
      <p:sp>
        <p:nvSpPr>
          <p:cNvPr id="5" name="Text 2"/>
          <p:cNvSpPr txBox="1"/>
          <p:nvPr/>
        </p:nvSpPr>
        <p:spPr>
          <a:xfrm>
            <a:off x="457200" y="1280160"/>
            <a:ext cx="8229600" cy="868680"/>
          </a:xfrm>
          <a:prstGeom prst="roundRect">
            <a:avLst>
              <a:gd name="adj" fmla="val 8421"/>
            </a:avLst>
          </a:prstGeom>
          <a:solidFill>
            <a:schemeClr val="tx2"/>
          </a:solidFill>
          <a:ln/>
        </p:spPr>
        <p:txBody>
          <a:bodyPr wrap="square" lIns="127000" tIns="127000" rIns="127000" bIns="127000" rtlCol="0" anchor="ctr"/>
          <a:lstStyle/>
          <a:p>
            <a:pPr algn="l" indent="0" marL="0">
              <a:buNone/>
            </a:pPr>
            <a:r>
              <a:rPr lang="en-US" sz="1400" dirty="0">
                <a:solidFill>
                  <a:schemeClr val="bg1"/>
                </a:solidFill>
                <a:latin typeface="Courier New" pitchFamily="34" charset="0"/>
                <a:ea typeface="Courier New" pitchFamily="34" charset="-122"/>
                <a:cs typeface="Courier New" pitchFamily="34" charset="-120"/>
              </a:rPr>
              <a:t>while frontier:</a:t>
            </a:r>
            <a:endParaRPr lang="en-US" sz="1400" dirty="0"/>
          </a:p>
          <a:p>
            <a:pPr algn="l" indent="0" marL="0">
              <a:buNone/>
            </a:pPr>
            <a:r>
              <a:rPr lang="en-US" sz="1400" dirty="0">
                <a:solidFill>
                  <a:schemeClr val="bg1"/>
                </a:solidFill>
                <a:latin typeface="Courier New" pitchFamily="34" charset="0"/>
                <a:ea typeface="Courier New" pitchFamily="34" charset="-122"/>
                <a:cs typeface="Courier New" pitchFamily="34" charset="-120"/>
              </a:rPr>
              <a:t>    current = min(frontier, key=lambda x: h[x])</a:t>
            </a:r>
            <a:endParaRPr lang="en-US" sz="1400" dirty="0"/>
          </a:p>
        </p:txBody>
      </p:sp>
      <p:sp>
        <p:nvSpPr>
          <p:cNvPr id="6" name="Shape 3"/>
          <p:cNvSpPr/>
          <p:nvPr/>
        </p:nvSpPr>
        <p:spPr>
          <a:xfrm>
            <a:off x="457200" y="2377440"/>
            <a:ext cx="4023360" cy="2103120"/>
          </a:xfrm>
          <a:prstGeom prst="roundRect">
            <a:avLst>
              <a:gd name="adj" fmla="val 4348"/>
            </a:avLst>
          </a:prstGeom>
          <a:solidFill>
            <a:schemeClr val="bg2"/>
          </a:solidFill>
          <a:ln w="12700">
            <a:solidFill>
              <a:schemeClr val="bg2"/>
            </a:solidFill>
            <a:prstDash val="solid"/>
          </a:ln>
        </p:spPr>
      </p:sp>
      <p:sp>
        <p:nvSpPr>
          <p:cNvPr id="7" name="Text 4"/>
          <p:cNvSpPr txBox="1"/>
          <p:nvPr/>
        </p:nvSpPr>
        <p:spPr>
          <a:xfrm>
            <a:off x="640080" y="246888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7. Keep searching</a:t>
            </a:r>
            <a:endParaRPr lang="en-US" sz="1600" dirty="0"/>
          </a:p>
        </p:txBody>
      </p:sp>
      <p:sp>
        <p:nvSpPr>
          <p:cNvPr id="8" name="Text 5"/>
          <p:cNvSpPr txBox="1"/>
          <p:nvPr/>
        </p:nvSpPr>
        <p:spPr>
          <a:xfrm>
            <a:off x="640080" y="2880360"/>
            <a:ext cx="3657600" cy="1463040"/>
          </a:xfrm>
          <a:prstGeom prst="rect">
            <a:avLst/>
          </a:prstGeom>
          <a:noFill/>
          <a:ln/>
        </p:spPr>
        <p:txBody>
          <a:bodyPr wrap="square" lIns="0" tIns="0" rIns="0" bIns="0" rtlCol="0" anchor="t"/>
          <a:lstStyle/>
          <a:p>
            <a:pPr indent="0" marL="0">
              <a:buNone/>
            </a:pPr>
            <a:r>
              <a:rPr lang="en-US" sz="1400" dirty="0">
                <a:solidFill>
                  <a:schemeClr val="tx1"/>
                </a:solidFill>
              </a:rPr>
              <a:t>The loop runs while the frontier has nodes. If frontier = [], nothing is left to search.</a:t>
            </a:r>
            <a:endParaRPr lang="en-US" sz="1400" dirty="0"/>
          </a:p>
        </p:txBody>
      </p:sp>
      <p:sp>
        <p:nvSpPr>
          <p:cNvPr id="9" name="Shape 6"/>
          <p:cNvSpPr/>
          <p:nvPr/>
        </p:nvSpPr>
        <p:spPr>
          <a:xfrm>
            <a:off x="4663440" y="2377440"/>
            <a:ext cx="4023360" cy="2103120"/>
          </a:xfrm>
          <a:prstGeom prst="roundRect">
            <a:avLst>
              <a:gd name="adj" fmla="val 4348"/>
            </a:avLst>
          </a:prstGeom>
          <a:solidFill>
            <a:schemeClr val="bg2"/>
          </a:solidFill>
          <a:ln w="12700">
            <a:solidFill>
              <a:schemeClr val="bg2"/>
            </a:solidFill>
            <a:prstDash val="solid"/>
          </a:ln>
        </p:spPr>
      </p:sp>
      <p:sp>
        <p:nvSpPr>
          <p:cNvPr id="10" name="Text 7"/>
          <p:cNvSpPr txBox="1"/>
          <p:nvPr/>
        </p:nvSpPr>
        <p:spPr>
          <a:xfrm>
            <a:off x="4846320" y="246888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8. Pick the smallest h</a:t>
            </a:r>
            <a:endParaRPr lang="en-US" sz="1600" dirty="0"/>
          </a:p>
        </p:txBody>
      </p:sp>
      <p:sp>
        <p:nvSpPr>
          <p:cNvPr id="11" name="Text 8"/>
          <p:cNvSpPr txBox="1"/>
          <p:nvPr/>
        </p:nvSpPr>
        <p:spPr>
          <a:xfrm>
            <a:off x="4846320" y="2926080"/>
            <a:ext cx="173736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rPr>
              <a:t>Bengali Square</a:t>
            </a:r>
            <a:endParaRPr lang="en-US" sz="1300" dirty="0"/>
          </a:p>
          <a:p>
            <a:pPr algn="ctr" indent="0" marL="0">
              <a:buNone/>
            </a:pPr>
            <a:r>
              <a:rPr lang="en-US" sz="1300" b="1" dirty="0">
                <a:solidFill>
                  <a:schemeClr val="tx1"/>
                </a:solidFill>
              </a:rPr>
              <a:t>h = 8</a:t>
            </a:r>
            <a:endParaRPr lang="en-US" sz="1300" dirty="0"/>
          </a:p>
        </p:txBody>
      </p:sp>
      <p:sp>
        <p:nvSpPr>
          <p:cNvPr id="12" name="Text 9"/>
          <p:cNvSpPr txBox="1"/>
          <p:nvPr/>
        </p:nvSpPr>
        <p:spPr>
          <a:xfrm>
            <a:off x="6766560" y="2926080"/>
            <a:ext cx="1737360" cy="731520"/>
          </a:xfrm>
          <a:prstGeom prst="roundRect">
            <a:avLst>
              <a:gd name="adj" fmla="val 10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rPr>
              <a:t>MR-10</a:t>
            </a:r>
            <a:endParaRPr lang="en-US" sz="1300" dirty="0"/>
          </a:p>
          <a:p>
            <a:pPr algn="ctr" indent="0" marL="0">
              <a:buNone/>
            </a:pPr>
            <a:r>
              <a:rPr lang="en-US" sz="1300" b="1" dirty="0">
                <a:solidFill>
                  <a:schemeClr val="bg1"/>
                </a:solidFill>
              </a:rPr>
              <a:t>h = 10</a:t>
            </a:r>
            <a:endParaRPr lang="en-US" sz="1300" dirty="0"/>
          </a:p>
        </p:txBody>
      </p:sp>
      <p:sp>
        <p:nvSpPr>
          <p:cNvPr id="13" name="Text 10"/>
          <p:cNvSpPr txBox="1"/>
          <p:nvPr/>
        </p:nvSpPr>
        <p:spPr>
          <a:xfrm>
            <a:off x="4846320" y="3749040"/>
            <a:ext cx="3657600" cy="640080"/>
          </a:xfrm>
          <a:prstGeom prst="rect">
            <a:avLst/>
          </a:prstGeom>
          <a:noFill/>
          <a:ln/>
        </p:spPr>
        <p:txBody>
          <a:bodyPr wrap="square" lIns="0" tIns="0" rIns="0" bIns="0" rtlCol="0" anchor="t"/>
          <a:lstStyle/>
          <a:p>
            <a:pPr indent="0" marL="0">
              <a:buNone/>
            </a:pPr>
            <a:r>
              <a:rPr lang="en-US" sz="1400" b="1" dirty="0">
                <a:solidFill>
                  <a:schemeClr val="tx1"/>
                </a:solidFill>
              </a:rPr>
              <a:t>8 &lt; 10, so Python selects Bengali Square.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9–11: Remove and Display</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SEARCH LOOP</a:t>
            </a:r>
            <a:endParaRPr lang="en-US" sz="1100" dirty="0"/>
          </a:p>
        </p:txBody>
      </p:sp>
      <p:sp>
        <p:nvSpPr>
          <p:cNvPr id="5" name="Text 2"/>
          <p:cNvSpPr txBox="1"/>
          <p:nvPr/>
        </p:nvSpPr>
        <p:spPr>
          <a:xfrm>
            <a:off x="457200" y="1280160"/>
            <a:ext cx="3657600" cy="256032"/>
          </a:xfrm>
          <a:prstGeom prst="rect">
            <a:avLst/>
          </a:prstGeom>
          <a:noFill/>
          <a:ln/>
        </p:spPr>
        <p:txBody>
          <a:bodyPr wrap="square" lIns="0" tIns="0" rIns="0" bIns="0" rtlCol="0" anchor="ctr"/>
          <a:lstStyle/>
          <a:p>
            <a:pPr indent="0" marL="0">
              <a:buNone/>
            </a:pPr>
            <a:r>
              <a:rPr lang="en-US" sz="1200" b="1" dirty="0">
                <a:solidFill>
                  <a:schemeClr val="accent5"/>
                </a:solidFill>
              </a:rPr>
              <a:t>CODE</a:t>
            </a:r>
            <a:endParaRPr lang="en-US" sz="1200" dirty="0"/>
          </a:p>
        </p:txBody>
      </p:sp>
      <p:sp>
        <p:nvSpPr>
          <p:cNvPr id="6" name="Text 3"/>
          <p:cNvSpPr txBox="1"/>
          <p:nvPr/>
        </p:nvSpPr>
        <p:spPr>
          <a:xfrm>
            <a:off x="457200" y="1572768"/>
            <a:ext cx="4480560" cy="1188720"/>
          </a:xfrm>
          <a:prstGeom prst="roundRect">
            <a:avLst>
              <a:gd name="adj" fmla="val 6154"/>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frontier.remove(current)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print(f"\nSelected: {current}")</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print(f"Heuristic h({current}) = {h[current]}")</a:t>
            </a:r>
            <a:endParaRPr lang="en-US" sz="1100" dirty="0"/>
          </a:p>
        </p:txBody>
      </p:sp>
      <p:sp>
        <p:nvSpPr>
          <p:cNvPr id="7" name="Text 4"/>
          <p:cNvSpPr txBox="1"/>
          <p:nvPr/>
        </p:nvSpPr>
        <p:spPr>
          <a:xfrm>
            <a:off x="457200" y="2926080"/>
            <a:ext cx="3657600" cy="256032"/>
          </a:xfrm>
          <a:prstGeom prst="rect">
            <a:avLst/>
          </a:prstGeom>
          <a:noFill/>
          <a:ln/>
        </p:spPr>
        <p:txBody>
          <a:bodyPr wrap="square" lIns="0" tIns="0" rIns="0" bIns="0" rtlCol="0" anchor="ctr"/>
          <a:lstStyle/>
          <a:p>
            <a:pPr indent="0" marL="0">
              <a:buNone/>
            </a:pPr>
            <a:r>
              <a:rPr lang="en-US" sz="1200" b="1" dirty="0">
                <a:solidFill>
                  <a:schemeClr val="accent5"/>
                </a:solidFill>
              </a:rPr>
              <a:t>OUTPUT</a:t>
            </a:r>
            <a:endParaRPr lang="en-US" sz="1200" dirty="0"/>
          </a:p>
        </p:txBody>
      </p:sp>
      <p:sp>
        <p:nvSpPr>
          <p:cNvPr id="8" name="Text 5"/>
          <p:cNvSpPr txBox="1"/>
          <p:nvPr/>
        </p:nvSpPr>
        <p:spPr>
          <a:xfrm>
            <a:off x="457200" y="3218688"/>
            <a:ext cx="4480560" cy="914400"/>
          </a:xfrm>
          <a:prstGeom prst="roundRect">
            <a:avLst>
              <a:gd name="adj" fmla="val 8000"/>
            </a:avLst>
          </a:prstGeom>
          <a:solidFill>
            <a:schemeClr val="tx1"/>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Selected: Bengali Square</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Heuristic h(Bengali Square) = 8</a:t>
            </a:r>
            <a:endParaRPr lang="en-US" sz="1100" dirty="0"/>
          </a:p>
        </p:txBody>
      </p:sp>
      <p:sp>
        <p:nvSpPr>
          <p:cNvPr id="9" name="Shape 6"/>
          <p:cNvSpPr/>
          <p:nvPr/>
        </p:nvSpPr>
        <p:spPr>
          <a:xfrm>
            <a:off x="5212080" y="1280160"/>
            <a:ext cx="3474720" cy="2852928"/>
          </a:xfrm>
          <a:prstGeom prst="roundRect">
            <a:avLst>
              <a:gd name="adj" fmla="val 3205"/>
            </a:avLst>
          </a:prstGeom>
          <a:solidFill>
            <a:schemeClr val="bg2"/>
          </a:solidFill>
          <a:ln w="12700">
            <a:solidFill>
              <a:schemeClr val="bg2"/>
            </a:solidFill>
            <a:prstDash val="solid"/>
          </a:ln>
        </p:spPr>
      </p:sp>
      <p:sp>
        <p:nvSpPr>
          <p:cNvPr id="10" name="Text 7"/>
          <p:cNvSpPr txBox="1"/>
          <p:nvPr/>
        </p:nvSpPr>
        <p:spPr>
          <a:xfrm>
            <a:off x="5394960" y="1371600"/>
            <a:ext cx="3108960" cy="365760"/>
          </a:xfrm>
          <a:prstGeom prst="rect">
            <a:avLst/>
          </a:prstGeom>
          <a:noFill/>
          <a:ln/>
        </p:spPr>
        <p:txBody>
          <a:bodyPr wrap="square" lIns="0" tIns="0" rIns="0" bIns="0" rtlCol="0" anchor="ctr"/>
          <a:lstStyle/>
          <a:p>
            <a:pPr indent="0" marL="0">
              <a:buNone/>
            </a:pPr>
            <a:r>
              <a:rPr lang="en-US" sz="1600" b="1" dirty="0">
                <a:solidFill>
                  <a:schemeClr val="tx2"/>
                </a:solidFill>
              </a:rPr>
              <a:t>Frontier update</a:t>
            </a:r>
            <a:endParaRPr lang="en-US" sz="1600" dirty="0"/>
          </a:p>
        </p:txBody>
      </p:sp>
      <p:sp>
        <p:nvSpPr>
          <p:cNvPr id="11" name="Text 8"/>
          <p:cNvSpPr txBox="1"/>
          <p:nvPr/>
        </p:nvSpPr>
        <p:spPr>
          <a:xfrm>
            <a:off x="5394960" y="1874520"/>
            <a:ext cx="310896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[Bengali Square, MR-10]</a:t>
            </a:r>
            <a:endParaRPr lang="en-US" sz="1100" dirty="0"/>
          </a:p>
        </p:txBody>
      </p:sp>
      <p:sp>
        <p:nvSpPr>
          <p:cNvPr id="12" name="Shape 9"/>
          <p:cNvSpPr/>
          <p:nvPr/>
        </p:nvSpPr>
        <p:spPr>
          <a:xfrm>
            <a:off x="6949440" y="2331720"/>
            <a:ext cx="0" cy="320040"/>
          </a:xfrm>
          <a:prstGeom prst="line">
            <a:avLst/>
          </a:prstGeom>
          <a:noFill/>
          <a:ln w="25400">
            <a:solidFill>
              <a:schemeClr val="accent5"/>
            </a:solidFill>
            <a:prstDash val="solid"/>
            <a:tailEnd type="triangle"/>
          </a:ln>
        </p:spPr>
      </p:sp>
      <p:sp>
        <p:nvSpPr>
          <p:cNvPr id="13" name="Text 10"/>
          <p:cNvSpPr txBox="1"/>
          <p:nvPr/>
        </p:nvSpPr>
        <p:spPr>
          <a:xfrm>
            <a:off x="5394960" y="2697480"/>
            <a:ext cx="310896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[MR-10]</a:t>
            </a:r>
            <a:endParaRPr lang="en-US" sz="1200" dirty="0"/>
          </a:p>
        </p:txBody>
      </p:sp>
      <p:sp>
        <p:nvSpPr>
          <p:cNvPr id="14" name="Text 11"/>
          <p:cNvSpPr txBox="1"/>
          <p:nvPr/>
        </p:nvSpPr>
        <p:spPr>
          <a:xfrm>
            <a:off x="5394960" y="3246120"/>
            <a:ext cx="3108960" cy="822960"/>
          </a:xfrm>
          <a:prstGeom prst="rect">
            <a:avLst/>
          </a:prstGeom>
          <a:noFill/>
          <a:ln/>
        </p:spPr>
        <p:txBody>
          <a:bodyPr wrap="square" lIns="0" tIns="0" rIns="0" bIns="0" rtlCol="0" anchor="t"/>
          <a:lstStyle/>
          <a:p>
            <a:pPr indent="0" marL="0">
              <a:buNone/>
            </a:pPr>
            <a:r>
              <a:rPr lang="en-US" sz="1400" dirty="0">
                <a:solidFill>
                  <a:schemeClr val="tx1"/>
                </a:solidFill>
              </a:rPr>
              <a:t>Bengali Square is now being explored, so it leaves the frontier.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12–13: Goal Test</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SEARCH LOOP</a:t>
            </a:r>
            <a:endParaRPr lang="en-US" sz="1100" dirty="0"/>
          </a:p>
        </p:txBody>
      </p:sp>
      <p:sp>
        <p:nvSpPr>
          <p:cNvPr id="5" name="Text 2"/>
          <p:cNvSpPr txBox="1"/>
          <p:nvPr/>
        </p:nvSpPr>
        <p:spPr>
          <a:xfrm>
            <a:off x="457200" y="1280160"/>
            <a:ext cx="4937760" cy="1051560"/>
          </a:xfrm>
          <a:prstGeom prst="roundRect">
            <a:avLst>
              <a:gd name="adj" fmla="val 6957"/>
            </a:avLst>
          </a:prstGeom>
          <a:solidFill>
            <a:schemeClr val="tx2"/>
          </a:solidFill>
          <a:ln/>
        </p:spPr>
        <p:txBody>
          <a:bodyPr wrap="square" lIns="127000" tIns="127000" rIns="127000" bIns="127000" rtlCol="0" anchor="ctr"/>
          <a:lstStyle/>
          <a:p>
            <a:pPr algn="l" indent="0" marL="0">
              <a:buNone/>
            </a:pPr>
            <a:r>
              <a:rPr lang="en-US" sz="1300" dirty="0">
                <a:solidFill>
                  <a:schemeClr val="bg1"/>
                </a:solidFill>
                <a:latin typeface="Courier New" pitchFamily="34" charset="0"/>
                <a:ea typeface="Courier New" pitchFamily="34" charset="-122"/>
                <a:cs typeface="Courier New" pitchFamily="34" charset="-120"/>
              </a:rPr>
              <a:t>if current == goal:</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print("\nGoal reached!")</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break</a:t>
            </a:r>
            <a:endParaRPr lang="en-US" sz="1300" dirty="0"/>
          </a:p>
        </p:txBody>
      </p:sp>
      <p:sp>
        <p:nvSpPr>
          <p:cNvPr id="6" name="Text 3"/>
          <p:cNvSpPr txBox="1"/>
          <p:nvPr/>
        </p:nvSpPr>
        <p:spPr>
          <a:xfrm>
            <a:off x="5577840" y="1280160"/>
            <a:ext cx="3108960" cy="1051560"/>
          </a:xfrm>
          <a:prstGeom prst="rect">
            <a:avLst/>
          </a:prstGeom>
          <a:noFill/>
          <a:ln/>
        </p:spPr>
        <p:txBody>
          <a:bodyPr wrap="square" lIns="0" tIns="0" rIns="0" bIns="0" rtlCol="0" anchor="ctr"/>
          <a:lstStyle/>
          <a:p>
            <a:pPr indent="0" marL="0">
              <a:buNone/>
            </a:pPr>
            <a:r>
              <a:rPr lang="en-US" sz="1400" b="1" dirty="0">
                <a:solidFill>
                  <a:schemeClr val="tx1"/>
                </a:solidFill>
              </a:rPr>
              <a:t>Is the current location the goal?</a:t>
            </a:r>
            <a:endParaRPr lang="en-US" sz="1400" dirty="0"/>
          </a:p>
        </p:txBody>
      </p:sp>
      <p:sp>
        <p:nvSpPr>
          <p:cNvPr id="7" name="Shape 4"/>
          <p:cNvSpPr/>
          <p:nvPr/>
        </p:nvSpPr>
        <p:spPr>
          <a:xfrm>
            <a:off x="457200" y="2560320"/>
            <a:ext cx="4023360" cy="1920240"/>
          </a:xfrm>
          <a:prstGeom prst="roundRect">
            <a:avLst>
              <a:gd name="adj" fmla="val 4762"/>
            </a:avLst>
          </a:prstGeom>
          <a:solidFill>
            <a:schemeClr val="bg2"/>
          </a:solidFill>
          <a:ln w="12700">
            <a:solidFill>
              <a:schemeClr val="bg2"/>
            </a:solidFill>
            <a:prstDash val="solid"/>
          </a:ln>
        </p:spPr>
      </p:sp>
      <p:sp>
        <p:nvSpPr>
          <p:cNvPr id="8" name="Text 5"/>
          <p:cNvSpPr txBox="1"/>
          <p:nvPr/>
        </p:nvSpPr>
        <p:spPr>
          <a:xfrm>
            <a:off x="640080" y="265176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Not yet</a:t>
            </a:r>
            <a:endParaRPr lang="en-US" sz="1600" dirty="0"/>
          </a:p>
        </p:txBody>
      </p:sp>
      <p:sp>
        <p:nvSpPr>
          <p:cNvPr id="9" name="Text 6"/>
          <p:cNvSpPr txBox="1"/>
          <p:nvPr/>
        </p:nvSpPr>
        <p:spPr>
          <a:xfrm>
            <a:off x="640080" y="3108960"/>
            <a:ext cx="365760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Bengali Square == CDGI</a:t>
            </a:r>
            <a:endParaRPr lang="en-US" sz="1300" dirty="0"/>
          </a:p>
        </p:txBody>
      </p:sp>
      <p:sp>
        <p:nvSpPr>
          <p:cNvPr id="10" name="Text 7"/>
          <p:cNvSpPr txBox="1"/>
          <p:nvPr/>
        </p:nvSpPr>
        <p:spPr>
          <a:xfrm>
            <a:off x="640080" y="3794760"/>
            <a:ext cx="3657600" cy="457200"/>
          </a:xfrm>
          <a:prstGeom prst="roundRect">
            <a:avLst>
              <a:gd name="adj" fmla="val 16000"/>
            </a:avLst>
          </a:prstGeom>
          <a:solidFill>
            <a:schemeClr val="accent3"/>
          </a:solidFill>
          <a:ln/>
        </p:spPr>
        <p:txBody>
          <a:bodyPr wrap="square" lIns="50800" tIns="50800" rIns="50800" bIns="50800" rtlCol="0" anchor="ctr"/>
          <a:lstStyle/>
          <a:p>
            <a:pPr algn="ctr" indent="0" marL="0">
              <a:buNone/>
            </a:pPr>
            <a:r>
              <a:rPr lang="en-US" sz="1400" b="1" dirty="0">
                <a:solidFill>
                  <a:schemeClr val="bg1"/>
                </a:solidFill>
              </a:rPr>
              <a:t>False: continue searching</a:t>
            </a:r>
            <a:endParaRPr lang="en-US" sz="1400" dirty="0"/>
          </a:p>
        </p:txBody>
      </p:sp>
      <p:sp>
        <p:nvSpPr>
          <p:cNvPr id="11" name="Shape 8"/>
          <p:cNvSpPr/>
          <p:nvPr/>
        </p:nvSpPr>
        <p:spPr>
          <a:xfrm>
            <a:off x="2468880" y="3566160"/>
            <a:ext cx="0" cy="228600"/>
          </a:xfrm>
          <a:prstGeom prst="line">
            <a:avLst/>
          </a:prstGeom>
          <a:noFill/>
          <a:ln w="25400">
            <a:solidFill>
              <a:schemeClr val="accent5"/>
            </a:solidFill>
            <a:prstDash val="solid"/>
            <a:tailEnd type="triangle"/>
          </a:ln>
        </p:spPr>
      </p:sp>
      <p:sp>
        <p:nvSpPr>
          <p:cNvPr id="12" name="Shape 9"/>
          <p:cNvSpPr/>
          <p:nvPr/>
        </p:nvSpPr>
        <p:spPr>
          <a:xfrm>
            <a:off x="4663440" y="2560320"/>
            <a:ext cx="4023360" cy="1920240"/>
          </a:xfrm>
          <a:prstGeom prst="roundRect">
            <a:avLst>
              <a:gd name="adj" fmla="val 4762"/>
            </a:avLst>
          </a:prstGeom>
          <a:solidFill>
            <a:schemeClr val="bg2"/>
          </a:solidFill>
          <a:ln w="12700">
            <a:solidFill>
              <a:schemeClr val="bg2"/>
            </a:solidFill>
            <a:prstDash val="solid"/>
          </a:ln>
        </p:spPr>
      </p:sp>
      <p:sp>
        <p:nvSpPr>
          <p:cNvPr id="13" name="Text 10"/>
          <p:cNvSpPr txBox="1"/>
          <p:nvPr/>
        </p:nvSpPr>
        <p:spPr>
          <a:xfrm>
            <a:off x="4846320" y="2651760"/>
            <a:ext cx="3657600" cy="365760"/>
          </a:xfrm>
          <a:prstGeom prst="rect">
            <a:avLst/>
          </a:prstGeom>
          <a:noFill/>
          <a:ln/>
        </p:spPr>
        <p:txBody>
          <a:bodyPr wrap="square" lIns="0" tIns="0" rIns="0" bIns="0" rtlCol="0" anchor="ctr"/>
          <a:lstStyle/>
          <a:p>
            <a:pPr indent="0" marL="0">
              <a:buNone/>
            </a:pPr>
            <a:r>
              <a:rPr lang="en-US" sz="1600" b="1" dirty="0">
                <a:solidFill>
                  <a:schemeClr val="tx2"/>
                </a:solidFill>
              </a:rPr>
              <a:t>Goal found</a:t>
            </a:r>
            <a:endParaRPr lang="en-US" sz="1600" dirty="0"/>
          </a:p>
        </p:txBody>
      </p:sp>
      <p:sp>
        <p:nvSpPr>
          <p:cNvPr id="14" name="Text 11"/>
          <p:cNvSpPr txBox="1"/>
          <p:nvPr/>
        </p:nvSpPr>
        <p:spPr>
          <a:xfrm>
            <a:off x="4846320" y="3108960"/>
            <a:ext cx="365760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CDGI == CDGI</a:t>
            </a:r>
            <a:endParaRPr lang="en-US" sz="1300" dirty="0"/>
          </a:p>
        </p:txBody>
      </p:sp>
      <p:sp>
        <p:nvSpPr>
          <p:cNvPr id="15" name="Text 12"/>
          <p:cNvSpPr txBox="1"/>
          <p:nvPr/>
        </p:nvSpPr>
        <p:spPr>
          <a:xfrm>
            <a:off x="4846320" y="3794760"/>
            <a:ext cx="365760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b="1" dirty="0">
                <a:solidFill>
                  <a:schemeClr val="tx1"/>
                </a:solidFill>
              </a:rPr>
              <a:t>True: Goal reached! then stop</a:t>
            </a:r>
            <a:endParaRPr lang="en-US" sz="1400" dirty="0"/>
          </a:p>
        </p:txBody>
      </p:sp>
      <p:sp>
        <p:nvSpPr>
          <p:cNvPr id="16" name="Shape 13"/>
          <p:cNvSpPr/>
          <p:nvPr/>
        </p:nvSpPr>
        <p:spPr>
          <a:xfrm>
            <a:off x="6675120" y="3566160"/>
            <a:ext cx="0" cy="228600"/>
          </a:xfrm>
          <a:prstGeom prst="line">
            <a:avLst/>
          </a:prstGeom>
          <a:noFill/>
          <a:ln w="25400">
            <a:solidFill>
              <a:schemeClr val="accent5"/>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14–19: Explore the Neighbors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SEARCH LOOP</a:t>
            </a:r>
            <a:endParaRPr lang="en-US" sz="1100" dirty="0"/>
          </a:p>
        </p:txBody>
      </p:sp>
      <p:sp>
        <p:nvSpPr>
          <p:cNvPr id="5" name="Text 2"/>
          <p:cNvSpPr txBox="1"/>
          <p:nvPr/>
        </p:nvSpPr>
        <p:spPr>
          <a:xfrm>
            <a:off x="457200" y="1280160"/>
            <a:ext cx="5120640" cy="2103120"/>
          </a:xfrm>
          <a:prstGeom prst="roundRect">
            <a:avLst>
              <a:gd name="adj" fmla="val 3478"/>
            </a:avLst>
          </a:prstGeom>
          <a:solidFill>
            <a:schemeClr val="tx2"/>
          </a:solidFill>
          <a:ln/>
        </p:spPr>
        <p:txBody>
          <a:bodyPr wrap="square" lIns="127000" tIns="127000" rIns="127000" bIns="127000" rtlCol="0" anchor="ctr"/>
          <a:lstStyle/>
          <a:p>
            <a:pPr algn="l" indent="0" marL="0">
              <a:buNone/>
            </a:pPr>
            <a:r>
              <a:rPr lang="en-US" sz="1050" dirty="0">
                <a:solidFill>
                  <a:schemeClr val="bg1"/>
                </a:solidFill>
                <a:latin typeface="Courier New" pitchFamily="34" charset="0"/>
                <a:ea typeface="Courier New" pitchFamily="34" charset="-122"/>
                <a:cs typeface="Courier New" pitchFamily="34" charset="-120"/>
              </a:rPr>
              <a:t>visited.add(current)</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for neighbor in graph[current]:</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if neighbor not in visited and neighbor not in frontier:</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frontier.append(neighbor)</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        parent[neighbor] = current</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print("Frontier:", frontier)</a:t>
            </a:r>
            <a:endParaRPr lang="en-US" sz="1050" dirty="0"/>
          </a:p>
        </p:txBody>
      </p:sp>
      <p:sp>
        <p:nvSpPr>
          <p:cNvPr id="6" name="Shape 3"/>
          <p:cNvSpPr/>
          <p:nvPr/>
        </p:nvSpPr>
        <p:spPr>
          <a:xfrm>
            <a:off x="457200" y="3566160"/>
            <a:ext cx="5120640" cy="91440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640080" y="3566160"/>
            <a:ext cx="4754880" cy="914400"/>
          </a:xfrm>
          <a:prstGeom prst="rect">
            <a:avLst/>
          </a:prstGeom>
          <a:noFill/>
          <a:ln/>
        </p:spPr>
        <p:txBody>
          <a:bodyPr wrap="square" lIns="0" tIns="0" rIns="0" bIns="0" rtlCol="0" anchor="ctr"/>
          <a:lstStyle/>
          <a:p>
            <a:pPr indent="0" marL="0">
              <a:buNone/>
            </a:pPr>
            <a:r>
              <a:rPr lang="en-US" sz="1400" b="1" dirty="0">
                <a:solidFill>
                  <a:schemeClr val="tx1"/>
                </a:solidFill>
              </a:rPr>
              <a:t>After exploring Vijaynagar: </a:t>
            </a:r>
            <a:pPr indent="0" marL="0">
              <a:buNone/>
            </a:pPr>
            <a:r>
              <a:rPr lang="en-US" sz="1400" dirty="0">
                <a:solidFill>
                  <a:schemeClr val="tx1"/>
                </a:solidFill>
              </a:rPr>
              <a:t>frontier = [Bengali Square, MR-10] and parent["Bengali Square"] = "Vijaynagar".</a:t>
            </a:r>
            <a:endParaRPr lang="en-US" sz="1400" dirty="0"/>
          </a:p>
        </p:txBody>
      </p:sp>
      <p:sp>
        <p:nvSpPr>
          <p:cNvPr id="8" name="Shape 5"/>
          <p:cNvSpPr/>
          <p:nvPr/>
        </p:nvSpPr>
        <p:spPr>
          <a:xfrm>
            <a:off x="5760720" y="1280160"/>
            <a:ext cx="2926080" cy="3200400"/>
          </a:xfrm>
          <a:prstGeom prst="roundRect">
            <a:avLst>
              <a:gd name="adj" fmla="val 3125"/>
            </a:avLst>
          </a:prstGeom>
          <a:solidFill>
            <a:schemeClr val="bg2"/>
          </a:solidFill>
          <a:ln w="12700">
            <a:solidFill>
              <a:schemeClr val="bg2"/>
            </a:solidFill>
            <a:prstDash val="solid"/>
          </a:ln>
        </p:spPr>
      </p:sp>
      <p:sp>
        <p:nvSpPr>
          <p:cNvPr id="9" name="Text 6"/>
          <p:cNvSpPr txBox="1"/>
          <p:nvPr/>
        </p:nvSpPr>
        <p:spPr>
          <a:xfrm>
            <a:off x="5943600" y="1371600"/>
            <a:ext cx="2560320" cy="365760"/>
          </a:xfrm>
          <a:prstGeom prst="rect">
            <a:avLst/>
          </a:prstGeom>
          <a:noFill/>
          <a:ln/>
        </p:spPr>
        <p:txBody>
          <a:bodyPr wrap="square" lIns="0" tIns="0" rIns="0" bIns="0" rtlCol="0" anchor="ctr"/>
          <a:lstStyle/>
          <a:p>
            <a:pPr indent="0" marL="0">
              <a:buNone/>
            </a:pPr>
            <a:r>
              <a:rPr lang="en-US" sz="1600" b="1" dirty="0">
                <a:solidFill>
                  <a:schemeClr val="tx2"/>
                </a:solidFill>
              </a:rPr>
              <a:t>Is it new?</a:t>
            </a:r>
            <a:endParaRPr lang="en-US" sz="1600" dirty="0"/>
          </a:p>
        </p:txBody>
      </p:sp>
      <p:sp>
        <p:nvSpPr>
          <p:cNvPr id="10" name="Text 7"/>
          <p:cNvSpPr txBox="1"/>
          <p:nvPr/>
        </p:nvSpPr>
        <p:spPr>
          <a:xfrm>
            <a:off x="5943600" y="1783080"/>
            <a:ext cx="2560320" cy="2560320"/>
          </a:xfrm>
          <a:prstGeom prst="rect">
            <a:avLst/>
          </a:prstGeom>
          <a:noFill/>
          <a:ln/>
        </p:spPr>
        <p:txBody>
          <a:bodyPr wrap="square" lIns="0" tIns="0" rIns="0" bIns="0" rtlCol="0" anchor="t"/>
          <a:lstStyle/>
          <a:p>
            <a:pPr indent="0" marL="0">
              <a:buNone/>
            </a:pPr>
            <a:r>
              <a:rPr lang="en-US" sz="1400" b="1" dirty="0">
                <a:solidFill>
                  <a:schemeClr val="tx1"/>
                </a:solidFill>
              </a:rPr>
              <a:t>Not in visited:</a:t>
            </a:r>
            <a:endParaRPr lang="en-US" sz="1400" dirty="0"/>
          </a:p>
          <a:p>
            <a:pPr indent="0" marL="0">
              <a:spcAft>
                <a:spcPts val="800"/>
              </a:spcAft>
              <a:buNone/>
            </a:pPr>
            <a:r>
              <a:rPr lang="en-US" sz="1400" dirty="0">
                <a:solidFill>
                  <a:schemeClr val="tx1"/>
                </a:solidFill>
              </a:rPr>
              <a:t>not explored yet.</a:t>
            </a:r>
            <a:endParaRPr lang="en-US" sz="1400" dirty="0"/>
          </a:p>
          <a:p>
            <a:pPr indent="0" marL="0">
              <a:buNone/>
            </a:pPr>
            <a:r>
              <a:rPr lang="en-US" sz="1400" b="1" dirty="0">
                <a:solidFill>
                  <a:schemeClr val="tx1"/>
                </a:solidFill>
              </a:rPr>
              <a:t>Not in frontier:</a:t>
            </a:r>
            <a:endParaRPr lang="en-US" sz="1400" dirty="0"/>
          </a:p>
          <a:p>
            <a:pPr indent="0" marL="0">
              <a:spcAft>
                <a:spcPts val="800"/>
              </a:spcAft>
              <a:buNone/>
            </a:pPr>
            <a:r>
              <a:rPr lang="en-US" sz="1400" dirty="0">
                <a:solidFill>
                  <a:schemeClr val="tx1"/>
                </a:solidFill>
              </a:rPr>
              <a:t>not already waiting.</a:t>
            </a:r>
            <a:endParaRPr lang="en-US" sz="1400" dirty="0"/>
          </a:p>
          <a:p>
            <a:pPr indent="0" marL="0">
              <a:buNone/>
            </a:pPr>
            <a:r>
              <a:rPr lang="en-US" sz="1400" b="1" dirty="0">
                <a:solidFill>
                  <a:schemeClr val="accent1"/>
                </a:solidFill>
              </a:rPr>
              <a:t>Both true: add it to the frontier.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20–25: Rebuilding the Path</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RESULT</a:t>
            </a:r>
            <a:endParaRPr lang="en-US" sz="1100" dirty="0"/>
          </a:p>
        </p:txBody>
      </p:sp>
      <p:sp>
        <p:nvSpPr>
          <p:cNvPr id="5" name="Text 2"/>
          <p:cNvSpPr txBox="1"/>
          <p:nvPr/>
        </p:nvSpPr>
        <p:spPr>
          <a:xfrm>
            <a:off x="457200" y="1280160"/>
            <a:ext cx="4754880" cy="1005840"/>
          </a:xfrm>
          <a:prstGeom prst="roundRect">
            <a:avLst>
              <a:gd name="adj" fmla="val 7273"/>
            </a:avLst>
          </a:prstGeom>
          <a:solidFill>
            <a:schemeClr val="tx2"/>
          </a:solidFill>
          <a:ln/>
        </p:spPr>
        <p:txBody>
          <a:bodyPr wrap="square" lIns="127000" tIns="127000" rIns="127000" bIns="1270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while current is not None:</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path.append(current)</a:t>
            </a:r>
            <a:endParaRPr lang="en-US" sz="1200" dirty="0"/>
          </a:p>
          <a:p>
            <a:pPr algn="l" indent="0" marL="0">
              <a:buNone/>
            </a:pPr>
            <a:r>
              <a:rPr lang="en-US" sz="1200" dirty="0">
                <a:solidFill>
                  <a:schemeClr val="bg1"/>
                </a:solidFill>
                <a:latin typeface="Courier New" pitchFamily="34" charset="0"/>
                <a:ea typeface="Courier New" pitchFamily="34" charset="-122"/>
                <a:cs typeface="Courier New" pitchFamily="34" charset="-120"/>
              </a:rPr>
              <a:t>    current = parent[current]</a:t>
            </a:r>
            <a:endParaRPr lang="en-US" sz="1200" dirty="0"/>
          </a:p>
        </p:txBody>
      </p:sp>
      <p:sp>
        <p:nvSpPr>
          <p:cNvPr id="6" name="Text 3"/>
          <p:cNvSpPr txBox="1"/>
          <p:nvPr/>
        </p:nvSpPr>
        <p:spPr>
          <a:xfrm>
            <a:off x="5440680" y="1280160"/>
            <a:ext cx="3246120" cy="1005840"/>
          </a:xfrm>
          <a:prstGeom prst="rect">
            <a:avLst/>
          </a:prstGeom>
          <a:noFill/>
          <a:ln/>
        </p:spPr>
        <p:txBody>
          <a:bodyPr wrap="square" lIns="0" tIns="0" rIns="0" bIns="0" rtlCol="0" anchor="ctr"/>
          <a:lstStyle/>
          <a:p>
            <a:pPr indent="0" marL="0">
              <a:buNone/>
            </a:pPr>
            <a:r>
              <a:rPr lang="en-US" sz="1400" dirty="0">
                <a:solidFill>
                  <a:schemeClr val="tx1"/>
                </a:solidFill>
              </a:rPr>
              <a:t>If the goal is not in parent, the function returns None: no path was found.</a:t>
            </a:r>
            <a:endParaRPr lang="en-US" sz="1400" dirty="0"/>
          </a:p>
        </p:txBody>
      </p:sp>
      <p:sp>
        <p:nvSpPr>
          <p:cNvPr id="7" name="Text 4"/>
          <p:cNvSpPr txBox="1"/>
          <p:nvPr/>
        </p:nvSpPr>
        <p:spPr>
          <a:xfrm>
            <a:off x="457200" y="2468880"/>
            <a:ext cx="5486400" cy="256032"/>
          </a:xfrm>
          <a:prstGeom prst="rect">
            <a:avLst/>
          </a:prstGeom>
          <a:noFill/>
          <a:ln/>
        </p:spPr>
        <p:txBody>
          <a:bodyPr wrap="square" lIns="0" tIns="0" rIns="0" bIns="0" rtlCol="0" anchor="ctr"/>
          <a:lstStyle/>
          <a:p>
            <a:pPr indent="0" marL="0">
              <a:buNone/>
            </a:pPr>
            <a:r>
              <a:rPr lang="en-US" sz="1200" b="1" dirty="0">
                <a:solidFill>
                  <a:schemeClr val="accent5"/>
                </a:solidFill>
              </a:rPr>
              <a:t>BUILT BACKWARD USING PARENT</a:t>
            </a:r>
            <a:endParaRPr lang="en-US" sz="1200" dirty="0"/>
          </a:p>
        </p:txBody>
      </p:sp>
      <p:sp>
        <p:nvSpPr>
          <p:cNvPr id="8" name="Text 5"/>
          <p:cNvSpPr txBox="1"/>
          <p:nvPr/>
        </p:nvSpPr>
        <p:spPr>
          <a:xfrm>
            <a:off x="457200" y="2743200"/>
            <a:ext cx="173736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400" b="1" dirty="0">
                <a:solidFill>
                  <a:schemeClr val="bg1"/>
                </a:solidFill>
              </a:rPr>
              <a:t>CDGI</a:t>
            </a:r>
            <a:endParaRPr lang="en-US" sz="1400" dirty="0"/>
          </a:p>
        </p:txBody>
      </p:sp>
      <p:sp>
        <p:nvSpPr>
          <p:cNvPr id="9" name="Shape 6"/>
          <p:cNvSpPr/>
          <p:nvPr/>
        </p:nvSpPr>
        <p:spPr>
          <a:xfrm>
            <a:off x="2240280" y="2971800"/>
            <a:ext cx="320040" cy="0"/>
          </a:xfrm>
          <a:prstGeom prst="line">
            <a:avLst/>
          </a:prstGeom>
          <a:noFill/>
          <a:ln w="25400">
            <a:solidFill>
              <a:schemeClr val="accent5"/>
            </a:solidFill>
            <a:prstDash val="solid"/>
            <a:tailEnd type="triangle"/>
          </a:ln>
        </p:spPr>
      </p:sp>
      <p:sp>
        <p:nvSpPr>
          <p:cNvPr id="10" name="Text 7"/>
          <p:cNvSpPr txBox="1"/>
          <p:nvPr/>
        </p:nvSpPr>
        <p:spPr>
          <a:xfrm>
            <a:off x="2606040" y="2743200"/>
            <a:ext cx="173736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400" b="1" dirty="0">
                <a:solidFill>
                  <a:schemeClr val="bg1"/>
                </a:solidFill>
              </a:rPr>
              <a:t>Rau</a:t>
            </a:r>
            <a:endParaRPr lang="en-US" sz="1400" dirty="0"/>
          </a:p>
        </p:txBody>
      </p:sp>
      <p:sp>
        <p:nvSpPr>
          <p:cNvPr id="11" name="Shape 8"/>
          <p:cNvSpPr/>
          <p:nvPr/>
        </p:nvSpPr>
        <p:spPr>
          <a:xfrm>
            <a:off x="4389120" y="2971800"/>
            <a:ext cx="320040" cy="0"/>
          </a:xfrm>
          <a:prstGeom prst="line">
            <a:avLst/>
          </a:prstGeom>
          <a:noFill/>
          <a:ln w="25400">
            <a:solidFill>
              <a:schemeClr val="accent5"/>
            </a:solidFill>
            <a:prstDash val="solid"/>
            <a:tailEnd type="triangle"/>
          </a:ln>
        </p:spPr>
      </p:sp>
      <p:sp>
        <p:nvSpPr>
          <p:cNvPr id="12" name="Text 9"/>
          <p:cNvSpPr txBox="1"/>
          <p:nvPr/>
        </p:nvSpPr>
        <p:spPr>
          <a:xfrm>
            <a:off x="4754880" y="2743200"/>
            <a:ext cx="173736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400" b="1" dirty="0">
                <a:solidFill>
                  <a:schemeClr val="bg1"/>
                </a:solidFill>
              </a:rPr>
              <a:t>Bengali Square</a:t>
            </a:r>
            <a:endParaRPr lang="en-US" sz="1400" dirty="0"/>
          </a:p>
        </p:txBody>
      </p:sp>
      <p:sp>
        <p:nvSpPr>
          <p:cNvPr id="13" name="Shape 10"/>
          <p:cNvSpPr/>
          <p:nvPr/>
        </p:nvSpPr>
        <p:spPr>
          <a:xfrm>
            <a:off x="6537960" y="2971800"/>
            <a:ext cx="320040" cy="0"/>
          </a:xfrm>
          <a:prstGeom prst="line">
            <a:avLst/>
          </a:prstGeom>
          <a:noFill/>
          <a:ln w="25400">
            <a:solidFill>
              <a:schemeClr val="accent5"/>
            </a:solidFill>
            <a:prstDash val="solid"/>
            <a:tailEnd type="triangle"/>
          </a:ln>
        </p:spPr>
      </p:sp>
      <p:sp>
        <p:nvSpPr>
          <p:cNvPr id="14" name="Text 11"/>
          <p:cNvSpPr txBox="1"/>
          <p:nvPr/>
        </p:nvSpPr>
        <p:spPr>
          <a:xfrm>
            <a:off x="6903720" y="2743200"/>
            <a:ext cx="1737360" cy="457200"/>
          </a:xfrm>
          <a:prstGeom prst="roundRect">
            <a:avLst>
              <a:gd name="adj" fmla="val 16000"/>
            </a:avLst>
          </a:prstGeom>
          <a:solidFill>
            <a:schemeClr val="accent5"/>
          </a:solidFill>
          <a:ln/>
        </p:spPr>
        <p:txBody>
          <a:bodyPr wrap="square" lIns="50800" tIns="50800" rIns="50800" bIns="50800" rtlCol="0" anchor="ctr"/>
          <a:lstStyle/>
          <a:p>
            <a:pPr algn="ctr" indent="0" marL="0">
              <a:buNone/>
            </a:pPr>
            <a:r>
              <a:rPr lang="en-US" sz="1400" b="1" dirty="0">
                <a:solidFill>
                  <a:schemeClr val="bg1"/>
                </a:solidFill>
              </a:rPr>
              <a:t>Vijaynagar</a:t>
            </a:r>
            <a:endParaRPr lang="en-US" sz="1400" dirty="0"/>
          </a:p>
        </p:txBody>
      </p:sp>
      <p:sp>
        <p:nvSpPr>
          <p:cNvPr id="15" name="Text 12"/>
          <p:cNvSpPr txBox="1"/>
          <p:nvPr/>
        </p:nvSpPr>
        <p:spPr>
          <a:xfrm>
            <a:off x="3566160" y="3383280"/>
            <a:ext cx="2011680" cy="411480"/>
          </a:xfrm>
          <a:prstGeom prst="roundRect">
            <a:avLst>
              <a:gd name="adj" fmla="val 17778"/>
            </a:avLst>
          </a:prstGeom>
          <a:solidFill>
            <a:schemeClr val="accent2"/>
          </a:solidFill>
          <a:ln/>
        </p:spPr>
        <p:txBody>
          <a:bodyPr wrap="square" lIns="50800" tIns="50800" rIns="50800" bIns="5080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path.reverse()</a:t>
            </a:r>
            <a:endParaRPr lang="en-US" sz="1300" dirty="0"/>
          </a:p>
        </p:txBody>
      </p:sp>
      <p:sp>
        <p:nvSpPr>
          <p:cNvPr id="16" name="Text 13"/>
          <p:cNvSpPr txBox="1"/>
          <p:nvPr/>
        </p:nvSpPr>
        <p:spPr>
          <a:xfrm>
            <a:off x="457200" y="4023360"/>
            <a:ext cx="173736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Vijaynagar</a:t>
            </a:r>
            <a:endParaRPr lang="en-US" sz="1400" dirty="0"/>
          </a:p>
        </p:txBody>
      </p:sp>
      <p:sp>
        <p:nvSpPr>
          <p:cNvPr id="17" name="Shape 14"/>
          <p:cNvSpPr/>
          <p:nvPr/>
        </p:nvSpPr>
        <p:spPr>
          <a:xfrm>
            <a:off x="2240280" y="4251960"/>
            <a:ext cx="320040" cy="0"/>
          </a:xfrm>
          <a:prstGeom prst="line">
            <a:avLst/>
          </a:prstGeom>
          <a:noFill/>
          <a:ln w="25400">
            <a:solidFill>
              <a:schemeClr val="accent5"/>
            </a:solidFill>
            <a:prstDash val="solid"/>
            <a:tailEnd type="triangle"/>
          </a:ln>
        </p:spPr>
      </p:sp>
      <p:sp>
        <p:nvSpPr>
          <p:cNvPr id="18" name="Text 15"/>
          <p:cNvSpPr txBox="1"/>
          <p:nvPr/>
        </p:nvSpPr>
        <p:spPr>
          <a:xfrm>
            <a:off x="2606040" y="4023360"/>
            <a:ext cx="173736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Bengali Square</a:t>
            </a:r>
            <a:endParaRPr lang="en-US" sz="1400" dirty="0"/>
          </a:p>
        </p:txBody>
      </p:sp>
      <p:sp>
        <p:nvSpPr>
          <p:cNvPr id="19" name="Shape 16"/>
          <p:cNvSpPr/>
          <p:nvPr/>
        </p:nvSpPr>
        <p:spPr>
          <a:xfrm>
            <a:off x="4389120" y="4251960"/>
            <a:ext cx="320040" cy="0"/>
          </a:xfrm>
          <a:prstGeom prst="line">
            <a:avLst/>
          </a:prstGeom>
          <a:noFill/>
          <a:ln w="25400">
            <a:solidFill>
              <a:schemeClr val="accent5"/>
            </a:solidFill>
            <a:prstDash val="solid"/>
            <a:tailEnd type="triangle"/>
          </a:ln>
        </p:spPr>
      </p:sp>
      <p:sp>
        <p:nvSpPr>
          <p:cNvPr id="20" name="Text 17"/>
          <p:cNvSpPr txBox="1"/>
          <p:nvPr/>
        </p:nvSpPr>
        <p:spPr>
          <a:xfrm>
            <a:off x="4754880" y="4023360"/>
            <a:ext cx="173736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b="1" dirty="0">
                <a:solidFill>
                  <a:schemeClr val="bg1"/>
                </a:solidFill>
              </a:rPr>
              <a:t>Rau</a:t>
            </a:r>
            <a:endParaRPr lang="en-US" sz="1400" dirty="0"/>
          </a:p>
        </p:txBody>
      </p:sp>
      <p:sp>
        <p:nvSpPr>
          <p:cNvPr id="21" name="Shape 18"/>
          <p:cNvSpPr/>
          <p:nvPr/>
        </p:nvSpPr>
        <p:spPr>
          <a:xfrm>
            <a:off x="6537960" y="4251960"/>
            <a:ext cx="320040" cy="0"/>
          </a:xfrm>
          <a:prstGeom prst="line">
            <a:avLst/>
          </a:prstGeom>
          <a:noFill/>
          <a:ln w="25400">
            <a:solidFill>
              <a:schemeClr val="accent5"/>
            </a:solidFill>
            <a:prstDash val="solid"/>
            <a:tailEnd type="triangle"/>
          </a:ln>
        </p:spPr>
      </p:sp>
      <p:sp>
        <p:nvSpPr>
          <p:cNvPr id="22" name="Text 19"/>
          <p:cNvSpPr txBox="1"/>
          <p:nvPr/>
        </p:nvSpPr>
        <p:spPr>
          <a:xfrm>
            <a:off x="6903720" y="4023360"/>
            <a:ext cx="173736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b="1" dirty="0">
                <a:solidFill>
                  <a:schemeClr val="tx1"/>
                </a:solidFill>
              </a:rPr>
              <a:t>CDGI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Steps 26–28: Run and Display</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RESULT</a:t>
            </a:r>
            <a:endParaRPr lang="en-US" sz="1100" dirty="0"/>
          </a:p>
        </p:txBody>
      </p:sp>
      <p:sp>
        <p:nvSpPr>
          <p:cNvPr id="5" name="Shape 2"/>
          <p:cNvSpPr/>
          <p:nvPr/>
        </p:nvSpPr>
        <p:spPr>
          <a:xfrm>
            <a:off x="457200" y="1280160"/>
            <a:ext cx="3566160" cy="3200400"/>
          </a:xfrm>
          <a:prstGeom prst="roundRect">
            <a:avLst>
              <a:gd name="adj" fmla="val 2857"/>
            </a:avLst>
          </a:prstGeom>
          <a:solidFill>
            <a:schemeClr val="bg2"/>
          </a:solidFill>
          <a:ln w="12700">
            <a:solidFill>
              <a:schemeClr val="bg2"/>
            </a:solidFill>
            <a:prstDash val="solid"/>
          </a:ln>
        </p:spPr>
      </p:sp>
      <p:sp>
        <p:nvSpPr>
          <p:cNvPr id="6" name="Text 3"/>
          <p:cNvSpPr txBox="1"/>
          <p:nvPr/>
        </p:nvSpPr>
        <p:spPr>
          <a:xfrm>
            <a:off x="640080" y="1371600"/>
            <a:ext cx="3200400" cy="365760"/>
          </a:xfrm>
          <a:prstGeom prst="rect">
            <a:avLst/>
          </a:prstGeom>
          <a:noFill/>
          <a:ln/>
        </p:spPr>
        <p:txBody>
          <a:bodyPr wrap="square" lIns="0" tIns="0" rIns="0" bIns="0" rtlCol="0" anchor="ctr"/>
          <a:lstStyle/>
          <a:p>
            <a:pPr indent="0" marL="0">
              <a:buNone/>
            </a:pPr>
            <a:r>
              <a:rPr lang="en-US" sz="1600" b="1" dirty="0">
                <a:solidFill>
                  <a:schemeClr val="tx2"/>
                </a:solidFill>
              </a:rPr>
              <a:t>Run the algorithm</a:t>
            </a:r>
            <a:endParaRPr lang="en-US" sz="1600" dirty="0"/>
          </a:p>
        </p:txBody>
      </p:sp>
      <p:sp>
        <p:nvSpPr>
          <p:cNvPr id="7" name="Text 4"/>
          <p:cNvSpPr txBox="1"/>
          <p:nvPr/>
        </p:nvSpPr>
        <p:spPr>
          <a:xfrm>
            <a:off x="640080" y="1828800"/>
            <a:ext cx="3200400" cy="1188720"/>
          </a:xfrm>
          <a:prstGeom prst="roundRect">
            <a:avLst>
              <a:gd name="adj" fmla="val 6154"/>
            </a:avLst>
          </a:prstGeom>
          <a:solidFill>
            <a:schemeClr val="tx2"/>
          </a:solidFill>
          <a:ln/>
        </p:spPr>
        <p:txBody>
          <a:bodyPr wrap="square" lIns="127000" tIns="127000" rIns="127000" bIns="127000" rtlCol="0" anchor="ctr"/>
          <a:lstStyle/>
          <a:p>
            <a:pPr algn="l" indent="0" marL="0">
              <a:buNone/>
            </a:pPr>
            <a:r>
              <a:rPr lang="en-US" sz="1000" dirty="0">
                <a:solidFill>
                  <a:schemeClr val="bg1"/>
                </a:solidFill>
                <a:latin typeface="Courier New" pitchFamily="34" charset="0"/>
                <a:ea typeface="Courier New" pitchFamily="34" charset="-122"/>
                <a:cs typeface="Courier New" pitchFamily="34" charset="-120"/>
              </a:rPr>
              <a:t>start = "Vijaynagar"</a:t>
            </a:r>
            <a:endParaRPr lang="en-US" sz="1000" dirty="0"/>
          </a:p>
          <a:p>
            <a:pPr algn="l" indent="0" marL="0">
              <a:buNone/>
            </a:pPr>
            <a:r>
              <a:rPr lang="en-US" sz="1000" dirty="0">
                <a:solidFill>
                  <a:schemeClr val="bg1"/>
                </a:solidFill>
                <a:latin typeface="Courier New" pitchFamily="34" charset="0"/>
                <a:ea typeface="Courier New" pitchFamily="34" charset="-122"/>
                <a:cs typeface="Courier New" pitchFamily="34" charset="-120"/>
              </a:rPr>
              <a:t>goal = "CDGI"</a:t>
            </a:r>
            <a:endParaRPr lang="en-US" sz="1000" dirty="0"/>
          </a:p>
          <a:p>
            <a:pPr algn="l" indent="0" marL="0">
              <a:buNone/>
            </a:pPr>
            <a:r>
              <a:rPr lang="en-US" sz="1000" dirty="0">
                <a:solidFill>
                  <a:schemeClr val="bg1"/>
                </a:solidFill>
                <a:latin typeface="Courier New" pitchFamily="34" charset="0"/>
                <a:ea typeface="Courier New" pitchFamily="34" charset="-122"/>
                <a:cs typeface="Courier New" pitchFamily="34" charset="-120"/>
              </a:rPr>
              <a:t>path = best_first_search(start, goal)</a:t>
            </a:r>
            <a:endParaRPr lang="en-US" sz="1000" dirty="0"/>
          </a:p>
        </p:txBody>
      </p:sp>
      <p:sp>
        <p:nvSpPr>
          <p:cNvPr id="8" name="Text 5"/>
          <p:cNvSpPr txBox="1"/>
          <p:nvPr/>
        </p:nvSpPr>
        <p:spPr>
          <a:xfrm>
            <a:off x="640080" y="3200400"/>
            <a:ext cx="3200400" cy="1188720"/>
          </a:xfrm>
          <a:prstGeom prst="rect">
            <a:avLst/>
          </a:prstGeom>
          <a:noFill/>
          <a:ln/>
        </p:spPr>
        <p:txBody>
          <a:bodyPr wrap="square" lIns="0" tIns="0" rIns="0" bIns="0" rtlCol="0" anchor="t"/>
          <a:lstStyle/>
          <a:p>
            <a:pPr indent="0" marL="0">
              <a:buNone/>
            </a:pPr>
            <a:r>
              <a:rPr lang="en-US" sz="1400" dirty="0">
                <a:solidFill>
                  <a:schemeClr val="tx1"/>
                </a:solidFill>
              </a:rPr>
              <a:t>Starts at Vijaynagar, searches for CDGI, and stores the returned list in path.</a:t>
            </a:r>
            <a:endParaRPr lang="en-US" sz="1400" dirty="0"/>
          </a:p>
        </p:txBody>
      </p:sp>
      <p:sp>
        <p:nvSpPr>
          <p:cNvPr id="9" name="Shape 6"/>
          <p:cNvSpPr/>
          <p:nvPr/>
        </p:nvSpPr>
        <p:spPr>
          <a:xfrm>
            <a:off x="4206240" y="1280160"/>
            <a:ext cx="4480560" cy="3200400"/>
          </a:xfrm>
          <a:prstGeom prst="roundRect">
            <a:avLst>
              <a:gd name="adj" fmla="val 2857"/>
            </a:avLst>
          </a:prstGeom>
          <a:solidFill>
            <a:schemeClr val="bg2"/>
          </a:solidFill>
          <a:ln w="12700">
            <a:solidFill>
              <a:schemeClr val="bg2"/>
            </a:solidFill>
            <a:prstDash val="solid"/>
          </a:ln>
        </p:spPr>
      </p:sp>
      <p:sp>
        <p:nvSpPr>
          <p:cNvPr id="10" name="Text 7"/>
          <p:cNvSpPr txBox="1"/>
          <p:nvPr/>
        </p:nvSpPr>
        <p:spPr>
          <a:xfrm>
            <a:off x="4389120" y="1371600"/>
            <a:ext cx="4114800" cy="365760"/>
          </a:xfrm>
          <a:prstGeom prst="rect">
            <a:avLst/>
          </a:prstGeom>
          <a:noFill/>
          <a:ln/>
        </p:spPr>
        <p:txBody>
          <a:bodyPr wrap="square" lIns="0" tIns="0" rIns="0" bIns="0" rtlCol="0" anchor="ctr"/>
          <a:lstStyle/>
          <a:p>
            <a:pPr indent="0" marL="0">
              <a:buNone/>
            </a:pPr>
            <a:r>
              <a:rPr lang="en-US" sz="1600" b="1" dirty="0">
                <a:solidFill>
                  <a:schemeClr val="tx2"/>
                </a:solidFill>
              </a:rPr>
              <a:t>Display with join()</a:t>
            </a:r>
            <a:endParaRPr lang="en-US" sz="1600" dirty="0"/>
          </a:p>
        </p:txBody>
      </p:sp>
      <p:sp>
        <p:nvSpPr>
          <p:cNvPr id="11" name="Text 8"/>
          <p:cNvSpPr txBox="1"/>
          <p:nvPr/>
        </p:nvSpPr>
        <p:spPr>
          <a:xfrm>
            <a:off x="4389120" y="1828800"/>
            <a:ext cx="4114800" cy="1188720"/>
          </a:xfrm>
          <a:prstGeom prst="roundRect">
            <a:avLst>
              <a:gd name="adj" fmla="val 6154"/>
            </a:avLst>
          </a:prstGeom>
          <a:solidFill>
            <a:schemeClr val="tx2"/>
          </a:solidFill>
          <a:ln/>
        </p:spPr>
        <p:txBody>
          <a:bodyPr wrap="square" lIns="127000" tIns="127000" rIns="127000" bIns="127000" rtlCol="0" anchor="ctr"/>
          <a:lstStyle/>
          <a:p>
            <a:pPr algn="l" indent="0" marL="0">
              <a:buNone/>
            </a:pPr>
            <a:r>
              <a:rPr lang="en-US" sz="1100" dirty="0">
                <a:solidFill>
                  <a:schemeClr val="bg1"/>
                </a:solidFill>
                <a:latin typeface="Courier New" pitchFamily="34" charset="0"/>
                <a:ea typeface="Courier New" pitchFamily="34" charset="-122"/>
                <a:cs typeface="Courier New" pitchFamily="34" charset="-120"/>
              </a:rPr>
              <a:t>print("\n----------------------------")</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print("Final Path:")</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 -&gt; ".join(path))</a:t>
            </a:r>
            <a:endParaRPr lang="en-US" sz="1100" dirty="0"/>
          </a:p>
          <a:p>
            <a:pPr algn="l" indent="0" marL="0">
              <a:buNone/>
            </a:pPr>
            <a:r>
              <a:rPr lang="en-US" sz="1100" dirty="0">
                <a:solidFill>
                  <a:schemeClr val="bg1"/>
                </a:solidFill>
                <a:latin typeface="Courier New" pitchFamily="34" charset="0"/>
                <a:ea typeface="Courier New" pitchFamily="34" charset="-122"/>
                <a:cs typeface="Courier New" pitchFamily="34" charset="-120"/>
              </a:rPr>
              <a:t>print("----------------------------")</a:t>
            </a:r>
            <a:endParaRPr lang="en-US" sz="1100" dirty="0"/>
          </a:p>
        </p:txBody>
      </p:sp>
      <p:sp>
        <p:nvSpPr>
          <p:cNvPr id="12" name="Shape 9"/>
          <p:cNvSpPr/>
          <p:nvPr/>
        </p:nvSpPr>
        <p:spPr>
          <a:xfrm>
            <a:off x="6446520" y="3063240"/>
            <a:ext cx="0" cy="274320"/>
          </a:xfrm>
          <a:prstGeom prst="line">
            <a:avLst/>
          </a:prstGeom>
          <a:noFill/>
          <a:ln w="25400">
            <a:solidFill>
              <a:schemeClr val="accent5"/>
            </a:solidFill>
            <a:prstDash val="solid"/>
            <a:tailEnd type="triangle"/>
          </a:ln>
        </p:spPr>
      </p:sp>
      <p:sp>
        <p:nvSpPr>
          <p:cNvPr id="13" name="Text 10"/>
          <p:cNvSpPr txBox="1"/>
          <p:nvPr/>
        </p:nvSpPr>
        <p:spPr>
          <a:xfrm>
            <a:off x="4389120" y="3383280"/>
            <a:ext cx="4114800" cy="822960"/>
          </a:xfrm>
          <a:prstGeom prst="roundRect">
            <a:avLst>
              <a:gd name="adj" fmla="val 8889"/>
            </a:avLst>
          </a:prstGeom>
          <a:solidFill>
            <a:schemeClr val="tx1"/>
          </a:solidFill>
          <a:ln/>
        </p:spPr>
        <p:txBody>
          <a:bodyPr wrap="square" lIns="127000" tIns="127000" rIns="127000" bIns="127000" rtlCol="0" anchor="ctr"/>
          <a:lstStyle/>
          <a:p>
            <a:pPr algn="l" indent="0" marL="0">
              <a:buNone/>
            </a:pPr>
            <a:r>
              <a:rPr lang="en-US" sz="1050" dirty="0">
                <a:solidFill>
                  <a:schemeClr val="bg1"/>
                </a:solidFill>
                <a:latin typeface="Courier New" pitchFamily="34" charset="0"/>
                <a:ea typeface="Courier New" pitchFamily="34" charset="-122"/>
                <a:cs typeface="Courier New" pitchFamily="34" charset="-120"/>
              </a:rPr>
              <a:t>Final Path:</a:t>
            </a:r>
            <a:endParaRPr lang="en-US" sz="1050" dirty="0"/>
          </a:p>
          <a:p>
            <a:pPr algn="l" indent="0" marL="0">
              <a:buNone/>
            </a:pPr>
            <a:r>
              <a:rPr lang="en-US" sz="1050" dirty="0">
                <a:solidFill>
                  <a:schemeClr val="bg1"/>
                </a:solidFill>
                <a:latin typeface="Courier New" pitchFamily="34" charset="0"/>
                <a:ea typeface="Courier New" pitchFamily="34" charset="-122"/>
                <a:cs typeface="Courier New" pitchFamily="34" charset="-120"/>
              </a:rPr>
              <a:t>Vijaynagar -&gt; Bengali Square -&gt; Rau -&gt; CDGI</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Complete Working: Run Trace</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RESULT</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731520"/>
                <a:gridCol w="2194560"/>
                <a:gridCol w="822960"/>
                <a:gridCol w="4480560"/>
              </a:tblGrid>
              <a:tr h="411480">
                <a:tc>
                  <a:txBody>
                    <a:bodyPr/>
                    <a:lstStyle/>
                    <a:p>
                      <a:pPr indent="0" marL="0">
                        <a:buNone/>
                      </a:pPr>
                      <a:r>
                        <a:rPr lang="en-US" sz="1400" b="1" dirty="0">
                          <a:solidFill>
                            <a:schemeClr val="bg1"/>
                          </a:solidFill>
                        </a:rPr>
                        <a:t>Step</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Selected</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Frontier after exploring</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30352">
                <a:tc>
                  <a:txBody>
                    <a:bodyPr/>
                    <a:lstStyle/>
                    <a:p>
                      <a:pPr indent="0" marL="0">
                        <a:buNone/>
                      </a:pPr>
                      <a:r>
                        <a:rPr lang="en-US" sz="1400" dirty="0">
                          <a:solidFill>
                            <a:schemeClr val="tx1"/>
                          </a:solidFill>
                        </a:rPr>
                        <a:t>1</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Vijaynagar</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12</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[Bengali Square, MR-10]</a:t>
                      </a:r>
                      <a:endParaRPr lang="en-US" sz="1400" dirty="0">
                        <a:latin typeface="Courier New" charset="0"/>
                        <a:ea typeface="Courier New" charset="0"/>
                        <a:cs typeface="Courier New" charset="0"/>
                      </a:endParaRPr>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30352">
                <a:tc>
                  <a:txBody>
                    <a:bodyPr/>
                    <a:lstStyle/>
                    <a:p>
                      <a:pPr indent="0" marL="0">
                        <a:buNone/>
                      </a:pPr>
                      <a:r>
                        <a:rPr lang="en-US" sz="1400" dirty="0">
                          <a:solidFill>
                            <a:schemeClr val="tx1"/>
                          </a:solidFill>
                        </a:rPr>
                        <a:t>2</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Bengali Square</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[MR-10, Rau]</a:t>
                      </a:r>
                      <a:endParaRPr lang="en-US" sz="1400" dirty="0">
                        <a:latin typeface="Courier New" charset="0"/>
                        <a:ea typeface="Courier New" charset="0"/>
                        <a:cs typeface="Courier New" charset="0"/>
                      </a:endParaRPr>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30352">
                <a:tc>
                  <a:txBody>
                    <a:bodyPr/>
                    <a:lstStyle/>
                    <a:p>
                      <a:pPr indent="0" marL="0">
                        <a:buNone/>
                      </a:pPr>
                      <a:r>
                        <a:rPr lang="en-US" sz="1400" dirty="0">
                          <a:solidFill>
                            <a:schemeClr val="tx1"/>
                          </a:solidFill>
                        </a:rPr>
                        <a:t>3</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Rau</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[MR-10, CDGI]</a:t>
                      </a:r>
                      <a:endParaRPr lang="en-US" sz="1400" dirty="0">
                        <a:latin typeface="Courier New" charset="0"/>
                        <a:ea typeface="Courier New" charset="0"/>
                        <a:cs typeface="Courier New" charset="0"/>
                      </a:endParaRPr>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rPr>
                        <a:t>4</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c>
                  <a:txBody>
                    <a:bodyPr/>
                    <a:lstStyle/>
                    <a:p>
                      <a:pPr indent="0" marL="0">
                        <a:buNone/>
                      </a:pPr>
                      <a:r>
                        <a:rPr lang="en-US" sz="1400" b="1" dirty="0">
                          <a:solidFill>
                            <a:schemeClr val="tx1"/>
                          </a:solidFill>
                        </a:rPr>
                        <a:t>CDGI</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c>
                  <a:txBody>
                    <a:bodyPr/>
                    <a:lstStyle/>
                    <a:p>
                      <a:pPr indent="0" marL="0">
                        <a:buNone/>
                      </a:pPr>
                      <a:r>
                        <a:rPr lang="en-US" sz="1400" b="1" dirty="0">
                          <a:solidFill>
                            <a:schemeClr val="tx1"/>
                          </a:solidFill>
                        </a:rPr>
                        <a:t>0</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c>
                  <a:txBody>
                    <a:bodyPr/>
                    <a:lstStyle/>
                    <a:p>
                      <a:pPr indent="0" marL="0">
                        <a:buNone/>
                      </a:pPr>
                      <a:r>
                        <a:rPr lang="en-US" sz="1400" b="1" dirty="0">
                          <a:solidFill>
                            <a:schemeClr val="tx1"/>
                          </a:solidFill>
                        </a:rPr>
                        <a:t>Goal reached!</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alpha val="45000"/>
                      </a:schemeClr>
                    </a:solidFill>
                  </a:tcPr>
                </a:tc>
              </a:tr>
            </a:tbl>
          </a:graphicData>
        </a:graphic>
      </p:graphicFrame>
      <p:sp>
        <p:nvSpPr>
          <p:cNvPr id="6" name="Shape 2"/>
          <p:cNvSpPr/>
          <p:nvPr/>
        </p:nvSpPr>
        <p:spPr>
          <a:xfrm>
            <a:off x="457200" y="4206240"/>
            <a:ext cx="8229600" cy="411480"/>
          </a:xfrm>
          <a:prstGeom prst="roundRect">
            <a:avLst>
              <a:gd name="adj" fmla="val 22222"/>
            </a:avLst>
          </a:prstGeom>
          <a:solidFill>
            <a:schemeClr val="tx2"/>
          </a:solidFill>
          <a:ln w="12700">
            <a:solidFill>
              <a:schemeClr val="tx2"/>
            </a:solidFill>
            <a:prstDash val="solid"/>
          </a:ln>
        </p:spPr>
      </p:sp>
      <p:sp>
        <p:nvSpPr>
          <p:cNvPr id="7" name="Text 3"/>
          <p:cNvSpPr txBox="1"/>
          <p:nvPr/>
        </p:nvSpPr>
        <p:spPr>
          <a:xfrm>
            <a:off x="640080" y="4206240"/>
            <a:ext cx="7863840" cy="411480"/>
          </a:xfrm>
          <a:prstGeom prst="rect">
            <a:avLst/>
          </a:prstGeom>
          <a:noFill/>
          <a:ln/>
        </p:spPr>
        <p:txBody>
          <a:bodyPr wrap="square" lIns="0" tIns="0" rIns="0" bIns="0" rtlCol="0" anchor="ctr"/>
          <a:lstStyle/>
          <a:p>
            <a:pPr algn="ctr" indent="0" marL="0">
              <a:buNone/>
            </a:pPr>
            <a:r>
              <a:rPr lang="en-US" sz="1400" b="1" dirty="0">
                <a:solidFill>
                  <a:schemeClr val="bg1"/>
                </a:solidFill>
              </a:rPr>
              <a:t>Final path: Vijaynagar → Bengali Square → Rau → CDGI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Most Important Line</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RECAP</a:t>
            </a:r>
            <a:endParaRPr lang="en-US" sz="1100" dirty="0"/>
          </a:p>
        </p:txBody>
      </p:sp>
      <p:sp>
        <p:nvSpPr>
          <p:cNvPr id="5" name="Text 2"/>
          <p:cNvSpPr txBox="1"/>
          <p:nvPr/>
        </p:nvSpPr>
        <p:spPr>
          <a:xfrm>
            <a:off x="457200" y="1371600"/>
            <a:ext cx="8229600" cy="914400"/>
          </a:xfrm>
          <a:prstGeom prst="roundRect">
            <a:avLst>
              <a:gd name="adj" fmla="val 8000"/>
            </a:avLst>
          </a:prstGeom>
          <a:solidFill>
            <a:schemeClr val="tx2"/>
          </a:solidFill>
          <a:ln/>
        </p:spPr>
        <p:txBody>
          <a:bodyPr wrap="square" lIns="127000" tIns="127000" rIns="127000" bIns="127000" rtlCol="0" anchor="ctr"/>
          <a:lstStyle/>
          <a:p>
            <a:pPr algn="l" indent="0" marL="0">
              <a:buNone/>
            </a:pPr>
            <a:r>
              <a:rPr lang="en-US" sz="2000" dirty="0">
                <a:solidFill>
                  <a:schemeClr val="bg1"/>
                </a:solidFill>
                <a:latin typeface="Courier New" pitchFamily="34" charset="0"/>
                <a:ea typeface="Courier New" pitchFamily="34" charset="-122"/>
                <a:cs typeface="Courier New" pitchFamily="34" charset="-120"/>
              </a:rPr>
              <a:t>current = min(frontier, key=lambda x: h[x])</a:t>
            </a:r>
            <a:endParaRPr lang="en-US" sz="2000" dirty="0"/>
          </a:p>
        </p:txBody>
      </p:sp>
      <p:sp>
        <p:nvSpPr>
          <p:cNvPr id="6" name="Shape 3"/>
          <p:cNvSpPr/>
          <p:nvPr/>
        </p:nvSpPr>
        <p:spPr>
          <a:xfrm>
            <a:off x="457200" y="2651760"/>
            <a:ext cx="8229600" cy="1737360"/>
          </a:xfrm>
          <a:prstGeom prst="roundRect">
            <a:avLst>
              <a:gd name="adj" fmla="val 5263"/>
            </a:avLst>
          </a:prstGeom>
          <a:solidFill>
            <a:schemeClr val="accent2"/>
          </a:solidFill>
          <a:ln w="12700">
            <a:solidFill>
              <a:schemeClr val="accent2"/>
            </a:solidFill>
            <a:prstDash val="solid"/>
          </a:ln>
        </p:spPr>
      </p:sp>
      <p:sp>
        <p:nvSpPr>
          <p:cNvPr id="7" name="Text 4"/>
          <p:cNvSpPr txBox="1"/>
          <p:nvPr/>
        </p:nvSpPr>
        <p:spPr>
          <a:xfrm>
            <a:off x="822960" y="2651760"/>
            <a:ext cx="7498080" cy="1737360"/>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“Best-First Search looks at all currently available nodes and selects the node with the smallest heuristic value.”</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Best-First vs Hill Climbing</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RECAP</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457200">
                <a:tc>
                  <a:txBody>
                    <a:bodyPr/>
                    <a:lstStyle/>
                    <a:p>
                      <a:pPr indent="0" marL="0">
                        <a:buNone/>
                      </a:pPr>
                      <a:r>
                        <a:rPr lang="en-US" sz="1400" b="1" dirty="0">
                          <a:solidFill>
                            <a:schemeClr val="bg1"/>
                          </a:solidFill>
                        </a:rPr>
                        <a:t>Hill Climbing</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Best-First Search</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Looks mainly at the current state's neighbours</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Maintains a frontier of promising nodes</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Usually moves immediately to the best neighbour</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Selects the best available candidate</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Can easily get stuck at a local optimum or plateau</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Can retain alternative candidates</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Usually uses low memory</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Usually requires more memory</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h(n) guides local movement</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h(n) guides node selection</a:t>
                      </a:r>
                      <a:endParaRPr lang="en-US" sz="1400" dirty="0"/>
                    </a:p>
                  </a:txBody>
                  <a:tcPr marL="137160" marR="13716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An Easy Sentence for Students</a:t>
            </a:r>
            <a:endParaRPr lang="en-US" sz="3200" dirty="0"/>
          </a:p>
        </p:txBody>
      </p:sp>
      <p:sp>
        <p:nvSpPr>
          <p:cNvPr id="3" name="Section tag"/>
          <p:cNvSpPr txBox="1"/>
          <p:nvPr/>
        </p:nvSpPr>
        <p:spPr>
          <a:xfrm>
            <a:off x="457200" y="201168"/>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RECAP</a:t>
            </a:r>
            <a:endParaRPr lang="en-US" sz="1100" dirty="0"/>
          </a:p>
        </p:txBody>
      </p:sp>
      <p:sp>
        <p:nvSpPr>
          <p:cNvPr id="5" name="Shape 2"/>
          <p:cNvSpPr/>
          <p:nvPr/>
        </p:nvSpPr>
        <p:spPr>
          <a:xfrm>
            <a:off x="457200" y="1371600"/>
            <a:ext cx="4023360" cy="2926080"/>
          </a:xfrm>
          <a:prstGeom prst="roundRect">
            <a:avLst>
              <a:gd name="adj" fmla="val 3125"/>
            </a:avLst>
          </a:prstGeom>
          <a:solidFill>
            <a:schemeClr val="bg2"/>
          </a:solidFill>
          <a:ln w="12700">
            <a:solidFill>
              <a:schemeClr val="bg2"/>
            </a:solidFill>
            <a:prstDash val="solid"/>
          </a:ln>
        </p:spPr>
      </p:sp>
      <p:sp>
        <p:nvSpPr>
          <p:cNvPr id="6" name="Text 3"/>
          <p:cNvSpPr txBox="1"/>
          <p:nvPr/>
        </p:nvSpPr>
        <p:spPr>
          <a:xfrm>
            <a:off x="731520" y="1371600"/>
            <a:ext cx="3474720" cy="2926080"/>
          </a:xfrm>
          <a:prstGeom prst="rect">
            <a:avLst/>
          </a:prstGeom>
          <a:noFill/>
          <a:ln/>
        </p:spPr>
        <p:txBody>
          <a:bodyPr wrap="square" lIns="0" tIns="0" rIns="0" bIns="0" rtlCol="0" anchor="ctr"/>
          <a:lstStyle/>
          <a:p>
            <a:pPr indent="0" marL="0">
              <a:buNone/>
            </a:pPr>
            <a:r>
              <a:rPr lang="en-US" sz="1400" b="1" dirty="0">
                <a:solidFill>
                  <a:schemeClr val="accent5"/>
                </a:solidFill>
              </a:rPr>
              <a:t>Hill Climbing asks</a:t>
            </a:r>
            <a:endParaRPr lang="en-US" sz="1400" dirty="0"/>
          </a:p>
          <a:p>
            <a:pPr indent="0" marL="0">
              <a:buNone/>
            </a:pPr>
            <a:r>
              <a:rPr lang="en-US" sz="2600" b="1" dirty="0">
                <a:solidFill>
                  <a:schemeClr val="tx2"/>
                </a:solidFill>
                <a:latin typeface="Cambria" pitchFamily="34" charset="0"/>
                <a:ea typeface="Cambria" pitchFamily="34" charset="-122"/>
                <a:cs typeface="Cambria" pitchFamily="34" charset="-120"/>
              </a:rPr>
              <a:t>“Which neighbor is best?”</a:t>
            </a:r>
            <a:endParaRPr lang="en-US" sz="1400" dirty="0"/>
          </a:p>
        </p:txBody>
      </p:sp>
      <p:sp>
        <p:nvSpPr>
          <p:cNvPr id="7" name="Shape 4"/>
          <p:cNvSpPr/>
          <p:nvPr/>
        </p:nvSpPr>
        <p:spPr>
          <a:xfrm>
            <a:off x="4663440" y="1371600"/>
            <a:ext cx="4023360" cy="2926080"/>
          </a:xfrm>
          <a:prstGeom prst="roundRect">
            <a:avLst>
              <a:gd name="adj" fmla="val 3125"/>
            </a:avLst>
          </a:prstGeom>
          <a:solidFill>
            <a:schemeClr val="accent2"/>
          </a:solidFill>
          <a:ln w="12700">
            <a:solidFill>
              <a:schemeClr val="accent2"/>
            </a:solidFill>
            <a:prstDash val="solid"/>
          </a:ln>
        </p:spPr>
      </p:sp>
      <p:sp>
        <p:nvSpPr>
          <p:cNvPr id="8" name="Text 5"/>
          <p:cNvSpPr txBox="1"/>
          <p:nvPr/>
        </p:nvSpPr>
        <p:spPr>
          <a:xfrm>
            <a:off x="4937760" y="1371600"/>
            <a:ext cx="3474720" cy="2926080"/>
          </a:xfrm>
          <a:prstGeom prst="rect">
            <a:avLst/>
          </a:prstGeom>
          <a:noFill/>
          <a:ln/>
        </p:spPr>
        <p:txBody>
          <a:bodyPr wrap="square" lIns="0" tIns="0" rIns="0" bIns="0" rtlCol="0" anchor="ctr"/>
          <a:lstStyle/>
          <a:p>
            <a:pPr indent="0" marL="0">
              <a:buNone/>
            </a:pPr>
            <a:r>
              <a:rPr lang="en-US" sz="1400" b="1" dirty="0">
                <a:solidFill>
                  <a:schemeClr val="tx1"/>
                </a:solidFill>
              </a:rPr>
              <a:t>Best-First Search asks</a:t>
            </a:r>
            <a:endParaRPr lang="en-US" sz="1400" dirty="0"/>
          </a:p>
          <a:p>
            <a:pPr indent="0" marL="0">
              <a:buNone/>
            </a:pPr>
            <a:r>
              <a:rPr lang="en-US" sz="2400" b="1" dirty="0">
                <a:solidFill>
                  <a:schemeClr val="tx2"/>
                </a:solidFill>
                <a:latin typeface="Cambria" pitchFamily="34" charset="0"/>
                <a:ea typeface="Cambria" pitchFamily="34" charset="-122"/>
                <a:cs typeface="Cambria" pitchFamily="34" charset="-120"/>
              </a:rPr>
              <a:t>“Which available node is currently the most promising?”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CDGI Route">
  <a:themeElements>
    <a:clrScheme name="CDGI Route">
      <a:dk1>
        <a:srgbClr val="17262B"/>
      </a:dk1>
      <a:lt1>
        <a:srgbClr val="FFFFFF"/>
      </a:lt1>
      <a:dk2>
        <a:srgbClr val="0B3C49"/>
      </a:dk2>
      <a:lt2>
        <a:srgbClr val="EAF3F4"/>
      </a:lt2>
      <a:accent1>
        <a:srgbClr val="12707F"/>
      </a:accent1>
      <a:accent2>
        <a:srgbClr val="F29F05"/>
      </a:accent2>
      <a:accent3>
        <a:srgbClr val="2E8B57"/>
      </a:accent3>
      <a:accent4>
        <a:srgbClr val="C8553D"/>
      </a:accent4>
      <a:accent5>
        <a:srgbClr val="4A6A7D"/>
      </a:accent5>
      <a:accent6>
        <a:srgbClr val="7A5C8E"/>
      </a:accent6>
      <a:hlink>
        <a:srgbClr val="12707F"/>
      </a:hlink>
      <a:folHlink>
        <a:srgbClr val="7A5C8E"/>
      </a:folHlink>
    </a:clrScheme>
    <a:fontScheme name="CDGI Rou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Best-First Search: Concept and Code</dc:title>
  <dc:subject>PptxGenJS Presentation</dc:subject>
  <dc:creator>PptxGenJS</dc:creator>
  <cp:lastModifiedBy>PptxGenJS</cp:lastModifiedBy>
  <cp:revision>1</cp:revision>
  <dcterms:created xsi:type="dcterms:W3CDTF">2026-10-04T12:35:13Z</dcterms:created>
  <dcterms:modified xsi:type="dcterms:W3CDTF">2026-10-04T12:35:13Z</dcterms:modified>
</cp:coreProperties>
</file>