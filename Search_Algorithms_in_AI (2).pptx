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13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63172"/>
          </a:solidFill>
          <a:ln w="12700">
            <a:solidFill>
              <a:srgbClr val="2631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657600" cy="3657600"/>
          </a:xfrm>
          <a:prstGeom prst="ellipse">
            <a:avLst/>
          </a:prstGeom>
          <a:solidFill>
            <a:srgbClr val="263172"/>
          </a:solidFill>
          <a:ln w="12700">
            <a:solidFill>
              <a:srgbClr val="2631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" y="987552"/>
            <a:ext cx="402336" cy="402336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01952" y="621792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01952" y="621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01952" y="1353312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01952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V="1">
            <a:off x="1371600" y="868680"/>
            <a:ext cx="548640" cy="246888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371600" y="1261872"/>
            <a:ext cx="548640" cy="246888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·  PROBLEM SOLVING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Algorithms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  ·  Best-First  ·  A*  ·  AO*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choosing a neighbor to solving AND–OR graphs — how machines decide which path to explore next.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A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Search Algorithm?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(or any agent) must travel from a start state to a goal state. Usually, several paths exist.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577840" cy="27432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3090672"/>
            <a:ext cx="585216" cy="5852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3090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242316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945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94560" y="379476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11880" y="242316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11880" y="379476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10912" y="3090672"/>
            <a:ext cx="585216" cy="585216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10912" y="3090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1325880" y="2807208"/>
            <a:ext cx="941832" cy="466344"/>
          </a:xfrm>
          <a:prstGeom prst="line">
            <a:avLst/>
          </a:prstGeom>
          <a:noFill/>
          <a:ln w="22225">
            <a:solidFill>
              <a:srgbClr val="9AA5C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3493008"/>
            <a:ext cx="941832" cy="466344"/>
          </a:xfrm>
          <a:prstGeom prst="line">
            <a:avLst/>
          </a:prstGeom>
          <a:noFill/>
          <a:ln w="22225">
            <a:solidFill>
              <a:srgbClr val="9AA5C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670048" y="2697480"/>
            <a:ext cx="1014984" cy="0"/>
          </a:xfrm>
          <a:prstGeom prst="line">
            <a:avLst/>
          </a:prstGeom>
          <a:noFill/>
          <a:ln w="22225">
            <a:solidFill>
              <a:srgbClr val="9AA5C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670048" y="4069080"/>
            <a:ext cx="1014984" cy="0"/>
          </a:xfrm>
          <a:prstGeom prst="line">
            <a:avLst/>
          </a:prstGeom>
          <a:noFill/>
          <a:ln w="22225">
            <a:solidFill>
              <a:srgbClr val="9AA5C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087368" y="2788920"/>
            <a:ext cx="1014984" cy="502920"/>
          </a:xfrm>
          <a:prstGeom prst="line">
            <a:avLst/>
          </a:prstGeom>
          <a:noFill/>
          <a:ln w="22225">
            <a:solidFill>
              <a:srgbClr val="9AA5C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4087368" y="3474720"/>
            <a:ext cx="1014984" cy="502920"/>
          </a:xfrm>
          <a:prstGeom prst="line">
            <a:avLst/>
          </a:prstGeom>
          <a:noFill/>
          <a:ln w="22225">
            <a:solidFill>
              <a:srgbClr val="9AA5C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9436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46520" y="20116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20840" y="2194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must decide: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25146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state / node should I explore next?”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6446520" y="361188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20840" y="377647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algorithms answer this question differently — by weighing distance already travelled, estimated distance remaining, or both.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2084832" cy="594360"/>
          </a:xfrm>
          <a:prstGeom prst="roundRect">
            <a:avLst>
              <a:gd name="adj" fmla="val 49231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5074920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98064" y="5074920"/>
            <a:ext cx="2084832" cy="594360"/>
          </a:xfrm>
          <a:prstGeom prst="roundRect">
            <a:avLst>
              <a:gd name="adj" fmla="val 4923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98064" y="5074920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47488" y="5074920"/>
            <a:ext cx="2084832" cy="594360"/>
          </a:xfrm>
          <a:prstGeom prst="roundRect">
            <a:avLst>
              <a:gd name="adj" fmla="val 4923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47488" y="5074920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Best-First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296912" y="5074920"/>
            <a:ext cx="2084832" cy="594360"/>
          </a:xfrm>
          <a:prstGeom prst="roundRect">
            <a:avLst>
              <a:gd name="adj" fmla="val 4923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96912" y="5074920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546336" y="5074920"/>
            <a:ext cx="2084832" cy="594360"/>
          </a:xfrm>
          <a:prstGeom prst="roundRect">
            <a:avLst>
              <a:gd name="adj" fmla="val 4923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546336" y="5074920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AO*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approaches covered in this deck: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A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UMBRELLA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Search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is a broad category — not one single algorithm. A heuristic is an estimate of how promising a state is.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h(n)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9659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estimated cost from node n to the goal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649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3931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uses problem-specific knowledge to guide the search.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34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Hill Climbing · Best-First Search · A*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1143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 student wants to reach Indore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00200"/>
          <a:ext cx="5029200" cy="210312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distance to Indore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km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km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km  ← lowest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km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629400" y="393192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03720" y="39319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heuristic search prefers C, because its estimated distance to the goal is the smallest of all candidates.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A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Hill Climbing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3A4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“Move to the neighbor that looks better.”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76072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193852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8288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29000" y="2414016"/>
            <a:ext cx="0" cy="91440"/>
          </a:xfrm>
          <a:prstGeom prst="line">
            <a:avLst/>
          </a:prstGeom>
          <a:noFill/>
          <a:ln w="19050">
            <a:solidFill>
              <a:srgbClr val="9AA5C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523744"/>
            <a:ext cx="576072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" y="263347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5237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neighbors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429000" y="3108960"/>
            <a:ext cx="0" cy="91440"/>
          </a:xfrm>
          <a:prstGeom prst="line">
            <a:avLst/>
          </a:prstGeom>
          <a:noFill/>
          <a:ln w="19050">
            <a:solidFill>
              <a:srgbClr val="9AA5C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218688"/>
            <a:ext cx="5760720" cy="566928"/>
          </a:xfrm>
          <a:prstGeom prst="roundRect">
            <a:avLst>
              <a:gd name="adj" fmla="val 11290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" y="3328416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2186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better one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429000" y="3803904"/>
            <a:ext cx="0" cy="91440"/>
          </a:xfrm>
          <a:prstGeom prst="line">
            <a:avLst/>
          </a:prstGeom>
          <a:noFill/>
          <a:ln w="19050">
            <a:solidFill>
              <a:srgbClr val="9AA5C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3913632"/>
            <a:ext cx="576072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" y="402336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9136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there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429000" y="4498848"/>
            <a:ext cx="0" cy="91440"/>
          </a:xfrm>
          <a:prstGeom prst="line">
            <a:avLst/>
          </a:prstGeom>
          <a:noFill/>
          <a:ln w="19050">
            <a:solidFill>
              <a:srgbClr val="9AA5C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" y="4608576"/>
            <a:ext cx="576072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" y="4718304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0664" y="4718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6085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1115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maximizing a score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29400" y="2392680"/>
            <a:ext cx="777240" cy="4876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29400" y="21000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71232" y="2148840"/>
            <a:ext cx="777240" cy="73152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71232" y="18562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13064" y="1905000"/>
            <a:ext cx="777240" cy="97536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13064" y="1612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454896" y="1417320"/>
            <a:ext cx="777240" cy="1463040"/>
          </a:xfrm>
          <a:prstGeom prst="roundRect">
            <a:avLst>
              <a:gd name="adj" fmla="val 4706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54896" y="11247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396728" y="1661160"/>
            <a:ext cx="777240" cy="1219200"/>
          </a:xfrm>
          <a:prstGeom prst="roundRect">
            <a:avLst>
              <a:gd name="adj" fmla="val 4706"/>
            </a:avLst>
          </a:prstGeom>
          <a:solidFill>
            <a:srgbClr val="D9DDEC"/>
          </a:solidFill>
          <a:ln w="12700">
            <a:solidFill>
              <a:srgbClr val="D9DD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396728" y="1368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629400" y="2880360"/>
            <a:ext cx="4544568" cy="0"/>
          </a:xfrm>
          <a:prstGeom prst="line">
            <a:avLst/>
          </a:prstGeom>
          <a:noFill/>
          <a:ln w="12700">
            <a:solidFill>
              <a:srgbClr val="C7CC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2940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taken: 10 → 15 → 20 → 30. Stops at 30 — its neighbor (25) isn't better.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629400" y="397764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90372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problem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903720" y="43891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 can get stuck at a local maximum — a peak that looks best nearby, but isn't the true global maximum.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A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Best-First Search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Best-First Search keeps several candidate nodes in play and always expands the most promising one according to a heuristic.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5740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h(n)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chooses the node with the lowest heuristic value.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576072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794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069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Best-First Search chooses the most promising node from the available candidates — not necessarily a neighbor of the current node.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143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candidate nodes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00200"/>
          <a:ext cx="5029200" cy="210312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← chosen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629400" y="393192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39319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Best-First Search chooses D, because h(D) = 3 is the smallest value among all candidates.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A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Search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is more sophisticated — it weighs both the cost already spent and the estimated cost still remaining.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g(n) + h(n)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g(n)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3108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cost from Start to current node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7588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758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6758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from current node to Goal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42816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24281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2428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cost of the path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143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candidate nodes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00200"/>
          <a:ext cx="5029200" cy="1682496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629400" y="352044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03720" y="35204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selects B, because f(B) = 8 + 4 = 12 — the lowest total cost.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629400" y="448056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03720" y="44805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Best-First:  h(n) only  →  A* uses g(n) + h(n), so it never ignores the cost already paid to get there.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A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AND–OR GRAPHS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AO* Search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AO* is different — it's designed for problems whose subgoals form AND–OR graphs, not simple either/or paths.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only one alternative required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035808" y="2578608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3580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12848" y="3218688"/>
            <a:ext cx="512064" cy="51206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12848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58768" y="3218688"/>
            <a:ext cx="512064" cy="51206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58768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3044952"/>
            <a:ext cx="539496" cy="246888"/>
          </a:xfrm>
          <a:prstGeom prst="line">
            <a:avLst/>
          </a:prstGeom>
          <a:noFill/>
          <a:ln w="22225">
            <a:solidFill>
              <a:srgbClr val="9AA5C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38144" y="3044952"/>
            <a:ext cx="539496" cy="246888"/>
          </a:xfrm>
          <a:prstGeom prst="line">
            <a:avLst/>
          </a:prstGeom>
          <a:noFill/>
          <a:ln w="22225">
            <a:solidFill>
              <a:srgbClr val="9AA5C9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822960" y="36393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 be solved through B  OR  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18745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3952" y="20391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— both branches required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0" y="2578608"/>
            <a:ext cx="512064" cy="512064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0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3218688"/>
            <a:ext cx="512064" cy="51206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0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09760" y="3218688"/>
            <a:ext cx="512064" cy="51206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09760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57032" y="3044952"/>
            <a:ext cx="539496" cy="246888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89136" y="3044952"/>
            <a:ext cx="539496" cy="246888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19872" y="3246120"/>
            <a:ext cx="1645920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473952" y="36393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requires B  AND  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FFF6E5"/>
          </a:solidFill>
          <a:ln w="12700">
            <a:solidFill>
              <a:srgbClr val="FFE1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35254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Medical Diagnosis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700016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symptoms (OR): either Flu or COVID could explain them — one diagnosis is enough.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4700016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a condition (AND): if it requires two tests, both Test A and Test B must be completed.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22960" y="5413248"/>
            <a:ext cx="10543032" cy="0"/>
          </a:xfrm>
          <a:prstGeom prst="line">
            <a:avLst/>
          </a:prstGeom>
          <a:noFill/>
          <a:ln w="12700">
            <a:solidFill>
              <a:srgbClr val="FFE1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504688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AO* is used precisely when a problem mixes alternative choices (OR) with multiple required subproblems (AND).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A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Five Approaches Compare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4690872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1737360"/>
                <a:gridCol w="1828800"/>
                <a:gridCol w="1737360"/>
                <a:gridCol w="1719072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Hill Climbing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Best-First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AND–OR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Neighbor 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candidate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h(n) guides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g(n) + h(n)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AND–OR 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g(n)?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use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Maintains alternatives?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AND–OR graph?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necessarily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get stuck / local max?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(yes)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same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Generally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heuristic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A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EXAMPLE, FIVE LENSES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Indore → Delhi: Same Trip, Five Strategies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= Indore     Goal = Delhi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828800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18288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691640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691640"/>
            <a:ext cx="7452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toward the neighboring city that appears closest to Delhi.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724912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7249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587752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Best-First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587752"/>
            <a:ext cx="7452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all currently available cities, choose the one that appears closest to Delhi.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621024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36210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483864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3483864"/>
            <a:ext cx="7452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estimated distance to Delhi to guide the search in general.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79976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517136"/>
            <a:ext cx="493776" cy="493776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45171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379976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4379976"/>
            <a:ext cx="7452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distance already travelled + estimated distance remaining. f(n) = g(n) + h(n)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276088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5413248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6112" y="5413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276088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AO*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023360" y="5276088"/>
            <a:ext cx="7452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reaching Delhi needs alternative routes (OR) or multiple required legs (AND).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63172"/>
          </a:solidFill>
          <a:ln w="12700">
            <a:solidFill>
              <a:srgbClr val="26317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EXAM-READY 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 Per Algorithm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0664" y="1517904"/>
            <a:ext cx="438912" cy="43891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1517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17320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Hill Climbing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1417320"/>
            <a:ext cx="7589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around me and move to a better neighbor.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2240280"/>
            <a:ext cx="10515600" cy="0"/>
          </a:xfrm>
          <a:prstGeom prst="line">
            <a:avLst/>
          </a:prstGeom>
          <a:noFill/>
          <a:ln w="9525">
            <a:solidFill>
              <a:srgbClr val="3A46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2450592"/>
            <a:ext cx="438912" cy="43891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" y="2450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350008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Best-First Search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350008"/>
            <a:ext cx="7589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all available nodes, choose the one that looks best.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60120" y="3172968"/>
            <a:ext cx="10515600" cy="0"/>
          </a:xfrm>
          <a:prstGeom prst="line">
            <a:avLst/>
          </a:prstGeom>
          <a:noFill/>
          <a:ln w="9525">
            <a:solidFill>
              <a:srgbClr val="3A46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" y="3383280"/>
            <a:ext cx="438912" cy="43891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" y="3383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282696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Search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3282696"/>
            <a:ext cx="7589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estimate, h(n), to guide the search.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4105656"/>
            <a:ext cx="10515600" cy="0"/>
          </a:xfrm>
          <a:prstGeom prst="line">
            <a:avLst/>
          </a:prstGeom>
          <a:noFill/>
          <a:ln w="9525">
            <a:solidFill>
              <a:srgbClr val="3A46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" y="4315968"/>
            <a:ext cx="438912" cy="43891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" y="4315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215384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4215384"/>
            <a:ext cx="7589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what I've already spent + what I expect to spend  —  f(n) = g(n) + h(n)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60120" y="5038344"/>
            <a:ext cx="10515600" cy="0"/>
          </a:xfrm>
          <a:prstGeom prst="line">
            <a:avLst/>
          </a:prstGeom>
          <a:noFill/>
          <a:ln w="9525">
            <a:solidFill>
              <a:srgbClr val="3A46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" y="5248656"/>
            <a:ext cx="438912" cy="43891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" y="52486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148072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AO*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5148072"/>
            <a:ext cx="7589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problems need OR choices; others need AND combinations.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981</Words>
  <Application>Microsoft Office PowerPoint</Application>
  <PresentationFormat>Widescreen</PresentationFormat>
  <Paragraphs>229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</cp:revision>
  <dcterms:created xsi:type="dcterms:W3CDTF">2026-08-31T00:28:58Z</dcterms:created>
  <dcterms:modified xsi:type="dcterms:W3CDTF">2026-09-07T15:09:41Z</dcterms:modified>
</cp:coreProperties>
</file>