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Best-First Search is an informed (heuristic) search algorithm. The highlighted path shows the search heading toward the goal G through the most promising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Best-First Search uses f(n) = h(n). The node with the smallest heuristic value is selected first. More general forms of best-first search use other evaluation functions, for example A* uses g(n) + h(n).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Steps: start, generate nodes, calculate h(n), select the smallest, expand it, and repeat until the goal is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B and C are available. h(B) = 6 and h(C) = 4, so C is chosen. D has an even smaller value but it is not yet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Heuristic values: A = 10, B = 6, C = 8, D = 2, G = 0. The search picks B over C, then D, then G. C is left in the frontier and never expanded.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advantages: speed, heuristic knowledge, less blind exploration, suitability for large spaces, simplicity, and real-world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example: greedy search chooses X because h(X) = 2 is smaller than h(Y) = 6, but reaching X already cost 30. The route via Y totals 10, while the route via X totals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finding is the flagship application. Others include games, puzzles such as the 8-puzzle and 15-puzzle, robot navigation, AI planning and general graph 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Hill climbing is a local search that keeps almost no memory of alternatives; best-first search keeps a frontier of candidates so it can return to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greedy best-first picks the smallest h(n), is fast but not optimal, and keeps a frontier so it can revisit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6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INFORMED 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Best-First Search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search that always expands the most promising node first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H="1">
            <a:off x="5303520" y="2103120"/>
            <a:ext cx="1097280" cy="146304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3566160"/>
            <a:ext cx="1371600" cy="54864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2103120"/>
            <a:ext cx="1188720" cy="82296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6675120" y="2926080"/>
            <a:ext cx="914400" cy="118872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7589520" y="1371600"/>
            <a:ext cx="365760" cy="155448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2926080"/>
            <a:ext cx="731520" cy="128016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4114800"/>
            <a:ext cx="1645920" cy="9144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5303520" y="2103120"/>
            <a:ext cx="1097280" cy="146304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874520"/>
            <a:ext cx="457200" cy="45720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886200"/>
            <a:ext cx="457200" cy="45720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697480"/>
            <a:ext cx="457200" cy="45720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188720"/>
            <a:ext cx="365760" cy="36576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291840"/>
            <a:ext cx="548640" cy="548640"/>
          </a:xfrm>
          <a:prstGeom prst="ellipse">
            <a:avLst/>
          </a:prstGeom>
          <a:solidFill>
            <a:srgbClr val="0E7C86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0" y="3886200"/>
            <a:ext cx="640080" cy="640080"/>
          </a:xfrm>
          <a:prstGeom prst="ellipse">
            <a:avLst/>
          </a:prstGeom>
          <a:solidFill>
            <a:srgbClr val="F2694B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Best-First Search?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06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informed (heuristic) search algorithm that selects the most promising node from the available nodes using an evaluation function.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10896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154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 = h(n)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794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estimated cost to reach the goal from node 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Greedy Best-First Search. A* uses f(n) = g(n) + h(n).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D9ECF2"/>
          </a:solidFill>
          <a:ln w="12700">
            <a:solidFill>
              <a:srgbClr val="D9EC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Frontier, ordered by h(n)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075688"/>
            <a:ext cx="457200" cy="457200"/>
          </a:xfrm>
          <a:prstGeom prst="ellipse">
            <a:avLst/>
          </a:prstGeom>
          <a:solidFill>
            <a:srgbClr val="F2694B"/>
          </a:solidFill>
          <a:ln w="38100">
            <a:solidFill>
              <a:srgbClr val="D9EC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0" y="2121408"/>
            <a:ext cx="804672" cy="365760"/>
          </a:xfrm>
          <a:prstGeom prst="roundRect">
            <a:avLst>
              <a:gd name="adj" fmla="val 15000"/>
            </a:avLst>
          </a:prstGeom>
          <a:solidFill>
            <a:srgbClr val="F2694B"/>
          </a:solidFill>
          <a:ln w="12700">
            <a:solidFill>
              <a:srgbClr val="F269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48272" y="2121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734056"/>
            <a:ext cx="457200" cy="457200"/>
          </a:xfrm>
          <a:prstGeom prst="ellipse">
            <a:avLst/>
          </a:prstGeom>
          <a:solidFill>
            <a:srgbClr val="0E7C86"/>
          </a:solidFill>
          <a:ln w="38100">
            <a:solidFill>
              <a:srgbClr val="D9EC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852160" y="2779776"/>
            <a:ext cx="1207008" cy="365760"/>
          </a:xfrm>
          <a:prstGeom prst="roundRect">
            <a:avLst>
              <a:gd name="adj" fmla="val 15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50608" y="27797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392424"/>
            <a:ext cx="457200" cy="45720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D9EC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2160" y="3438144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4381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3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h(n) is picked first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8620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17220" y="1508760"/>
            <a:ext cx="548640" cy="54864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0302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7220" y="2176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at the start node.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8980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97580" y="1508760"/>
            <a:ext cx="548640" cy="54864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18338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nodes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97580" y="2176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possible next nodes.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49340" y="12801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77940" y="1508760"/>
            <a:ext cx="548640" cy="54864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063740" y="1508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h(n)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77940" y="21762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each node's distance to the goal.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862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17220" y="3108960"/>
            <a:ext cx="548640" cy="54864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0302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smallest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" y="3776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node with the smallest h(n).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6898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97580" y="3108960"/>
            <a:ext cx="548640" cy="54864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18338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97580" y="3776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its successors and add them to the frontier.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49340" y="288036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77940" y="3108960"/>
            <a:ext cx="548640" cy="548640"/>
          </a:xfrm>
          <a:prstGeom prst="ellipse">
            <a:avLst/>
          </a:prstGeom>
          <a:solidFill>
            <a:srgbClr val="F2694B"/>
          </a:solidFill>
          <a:ln w="38100">
            <a:solidFill>
              <a:srgbClr val="FDE3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063740" y="3108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Goal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377940" y="3776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the goal node is selected.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select, expand, repeat until the goal is reached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Choice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2377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C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nodes: B and C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200400" y="12801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3429000" y="1600200"/>
            <a:ext cx="640080" cy="640080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47472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h(B) = 6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80760" y="12801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1600200"/>
            <a:ext cx="640080" cy="640080"/>
          </a:xfrm>
          <a:prstGeom prst="ellipse">
            <a:avLst/>
          </a:prstGeom>
          <a:solidFill>
            <a:srgbClr val="F2694B"/>
          </a:solidFill>
          <a:ln w="38100">
            <a:solidFill>
              <a:srgbClr val="1E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423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h(C) = 4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smaller h(n)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00400" y="370332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D9ECF2"/>
          </a:solidFill>
          <a:ln w="12700">
            <a:solidFill>
              <a:srgbClr val="D9EC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3703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idea: choose the node that appears closest to the goal.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Robot to 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2743200"/>
            <a:ext cx="1417320" cy="777240"/>
          </a:xfrm>
          <a:prstGeom prst="line">
            <a:avLst/>
          </a:prstGeom>
          <a:noFill/>
          <a:ln w="25400">
            <a:solidFill>
              <a:srgbClr val="B7C6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60120" y="1828800"/>
            <a:ext cx="1417320" cy="91440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828800"/>
            <a:ext cx="1325880" cy="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03320" y="1828800"/>
            <a:ext cx="1325880" cy="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377440"/>
            <a:ext cx="731520" cy="731520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h=10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463040"/>
            <a:ext cx="731520" cy="731520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h=6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3154680"/>
            <a:ext cx="731520" cy="731520"/>
          </a:xfrm>
          <a:prstGeom prst="ellipse">
            <a:avLst/>
          </a:prstGeom>
          <a:solidFill>
            <a:srgbClr val="9FB3C2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h=8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463040"/>
            <a:ext cx="731520" cy="731520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h=2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463040"/>
            <a:ext cx="731520" cy="731520"/>
          </a:xfrm>
          <a:prstGeom prst="ellipse">
            <a:avLst/>
          </a:prstGeom>
          <a:solidFill>
            <a:srgbClr val="F2694B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h=0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the frontier, never expanded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found:  A → B → D → 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371600"/>
            <a:ext cx="365760" cy="36576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3F7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12801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A (h = 10). Generate B and C.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194560"/>
            <a:ext cx="365760" cy="36576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3F7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103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Frontier: B (6) and C (8). Pick B, the smallest.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017520"/>
            <a:ext cx="365760" cy="36576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3F7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926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 to get D (2). D is now the smallest, so pick it.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3840480"/>
            <a:ext cx="365760" cy="36576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3F7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 to reach G (0). Goal found.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910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89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Search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007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the goal quickly by focusing on promising nodes.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4173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5910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89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Heuristic Knowledge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7007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Problem-specific information guides the search.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6883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Blind Exploration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27980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promising nodes instead of exploring everything.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251460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68833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24871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Search Spaces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27980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make big problem spaces more manageable.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85800" y="361188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785616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3584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389534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best-looking node first.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892040" y="361188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3785616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715000" y="3584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Problems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715000" y="389534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games, planning and other search tasks.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47548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743200"/>
            <a:ext cx="1828800" cy="77724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2743200" y="2743200"/>
            <a:ext cx="1691640" cy="777240"/>
          </a:xfrm>
          <a:prstGeom prst="line">
            <a:avLst/>
          </a:prstGeom>
          <a:noFill/>
          <a:ln w="508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14400" y="1920240"/>
            <a:ext cx="1828800" cy="82296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920240"/>
            <a:ext cx="1691640" cy="82296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27632" y="2185416"/>
            <a:ext cx="402336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B7C6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87852" y="2185416"/>
            <a:ext cx="402336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B7C6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85516"/>
            <a:ext cx="402336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B7C6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7852" y="2985516"/>
            <a:ext cx="402336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2700">
            <a:solidFill>
              <a:srgbClr val="B7C6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423160"/>
            <a:ext cx="640080" cy="64008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1554480"/>
            <a:ext cx="731520" cy="731520"/>
          </a:xfrm>
          <a:prstGeom prst="ellipse">
            <a:avLst/>
          </a:prstGeom>
          <a:solidFill>
            <a:srgbClr val="F2694B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h=2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154680"/>
            <a:ext cx="731520" cy="731520"/>
          </a:xfrm>
          <a:prstGeom prst="ellipse">
            <a:avLst/>
          </a:prstGeom>
          <a:solidFill>
            <a:srgbClr val="0E7C86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h=6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423160"/>
            <a:ext cx="640080" cy="64008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3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picks X (h = 2): total cost 32.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through Y costs only 10.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307592"/>
            <a:ext cx="457200" cy="45720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41732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98932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heuristic quality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1490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heuristic explores inefficient paths.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94960" y="1965960"/>
            <a:ext cx="457200" cy="45720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07568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989320" y="1892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guaranteed optimal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9893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cost already travelled.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394960" y="2624328"/>
            <a:ext cx="457200" cy="45720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734056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989320" y="2551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significant memory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989320" y="2807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candidates in the priority queue.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394960" y="3282696"/>
            <a:ext cx="457200" cy="45720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3392424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989320" y="32095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get misled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989320" y="3465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that looks close may not lead to the best solution.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394960" y="3941064"/>
            <a:ext cx="457200" cy="45720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4050792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989320" y="3867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takes time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598932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h(n) can itself be expensive.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F2694B"/>
          </a:solidFill>
          <a:ln w="12700">
            <a:solidFill>
              <a:srgbClr val="F2694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550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Finding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location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 flipV="1">
            <a:off x="2148840" y="2761488"/>
            <a:ext cx="182880" cy="109728"/>
          </a:xfrm>
          <a:prstGeom prst="triangle">
            <a:avLst/>
          </a:prstGeom>
          <a:solidFill>
            <a:srgbClr val="BFD6E6"/>
          </a:solidFill>
          <a:ln w="12700">
            <a:solidFill>
              <a:srgbClr val="BFD6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898648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routes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 flipV="1">
            <a:off x="2148840" y="3328416"/>
            <a:ext cx="182880" cy="109728"/>
          </a:xfrm>
          <a:prstGeom prst="triangle">
            <a:avLst/>
          </a:prstGeom>
          <a:solidFill>
            <a:srgbClr val="BFD6E6"/>
          </a:solidFill>
          <a:ln w="12700">
            <a:solidFill>
              <a:srgbClr val="BFD6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465576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distance to destination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 flipV="1">
            <a:off x="2148840" y="3895344"/>
            <a:ext cx="182880" cy="109728"/>
          </a:xfrm>
          <a:prstGeom prst="triangle">
            <a:avLst/>
          </a:prstGeom>
          <a:solidFill>
            <a:srgbClr val="BFD6E6"/>
          </a:solidFill>
          <a:ln w="12700">
            <a:solidFill>
              <a:srgbClr val="BFD6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032504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F26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promising route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97680" y="1280160"/>
            <a:ext cx="43891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4840" y="1362456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463040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983480" y="1280160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Playing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1280160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Chess, puzzle games, strategy games.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97680" y="1947672"/>
            <a:ext cx="43891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34840" y="2029968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130552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983480" y="1947672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Solving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583680" y="1947672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8-puzzle, 15-puzzle, maze solving.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297680" y="2615184"/>
            <a:ext cx="43891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434840" y="2697480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798064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983480" y="2615184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Navigation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6583680" y="2615184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pick a promising direction.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97680" y="3282696"/>
            <a:ext cx="43891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434840" y="3364992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3465576"/>
            <a:ext cx="210312" cy="21031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983480" y="3282696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Planning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6583680" y="3282696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through actions to reach a goal.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297680" y="3950208"/>
            <a:ext cx="438912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434840" y="4032504"/>
            <a:ext cx="411480" cy="4114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4133088"/>
            <a:ext cx="210312" cy="21031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983480" y="3950208"/>
            <a:ext cx="1600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Search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6583680" y="3950208"/>
            <a:ext cx="2011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find promising nodes among many paths.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Best-First vs Hill Climbing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Hill Climbing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Best-First Search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neighbor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available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heuristic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of neighbors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f(n) = h(n)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Maintains candidate nodes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no large frontier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backtrack / explore alternatives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6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6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most promising node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best-first expands the node with the smallest h(n).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6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but not always optimal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926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ignores the cost already travelled and relies on the heuristic.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6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frontier of candidates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977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hill climbing, it can return to alternatives, at a memory cost.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1371600" cy="45720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80160"/>
            <a:ext cx="548640" cy="155448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6766560" y="1737360"/>
            <a:ext cx="822960" cy="109728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1737360"/>
            <a:ext cx="640080" cy="137160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2834640"/>
            <a:ext cx="1463040" cy="27432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6309360" y="2834640"/>
            <a:ext cx="457200" cy="137160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8046720" y="3108960"/>
            <a:ext cx="182880" cy="118872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206240"/>
            <a:ext cx="1737360" cy="91440"/>
          </a:xfrm>
          <a:prstGeom prst="line">
            <a:avLst/>
          </a:prstGeom>
          <a:noFill/>
          <a:ln w="25400">
            <a:solidFill>
              <a:srgbClr val="1E4A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280160"/>
            <a:ext cx="548640" cy="155448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834640"/>
            <a:ext cx="1463040" cy="27432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8046720" y="3108960"/>
            <a:ext cx="182880" cy="1188720"/>
          </a:xfrm>
          <a:prstGeom prst="line">
            <a:avLst/>
          </a:prstGeom>
          <a:noFill/>
          <a:ln w="50800">
            <a:solidFill>
              <a:srgbClr val="F269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12180" y="1074420"/>
            <a:ext cx="411480" cy="41148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83780" y="1531620"/>
            <a:ext cx="411480" cy="41148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560820" y="2628900"/>
            <a:ext cx="411480" cy="41148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023860" y="2903220"/>
            <a:ext cx="411480" cy="41148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103620" y="4000500"/>
            <a:ext cx="411480" cy="411480"/>
          </a:xfrm>
          <a:prstGeom prst="ellipse">
            <a:avLst/>
          </a:prstGeom>
          <a:solidFill>
            <a:srgbClr val="1E3A5F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966460" y="1028700"/>
            <a:ext cx="502920" cy="502920"/>
          </a:xfrm>
          <a:prstGeom prst="ellipse">
            <a:avLst/>
          </a:prstGeom>
          <a:solidFill>
            <a:srgbClr val="0E7C86"/>
          </a:solidFill>
          <a:ln w="381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49540" y="4000500"/>
            <a:ext cx="594360" cy="594360"/>
          </a:xfrm>
          <a:prstGeom prst="ellipse">
            <a:avLst/>
          </a:prstGeom>
          <a:solidFill>
            <a:srgbClr val="F2694B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Best-First Search</dc:title>
  <dc:subject>PptxGenJS Presentation</dc:subject>
  <dc:creator>PptxGenJS</dc:creator>
  <cp:lastModifiedBy>PptxGenJS</cp:lastModifiedBy>
  <cp:revision>1</cp:revision>
  <dcterms:created xsi:type="dcterms:W3CDTF">2026-09-24T00:56:14Z</dcterms:created>
  <dcterms:modified xsi:type="dcterms:W3CDTF">2026-09-24T00:56:14Z</dcterms:modified>
</cp:coreProperties>
</file>