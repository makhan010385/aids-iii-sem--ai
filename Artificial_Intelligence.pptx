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5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2119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9786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21.png"/><Relationship Id="rId10" Type="http://schemas.openxmlformats.org/officeDocument/2006/relationships/image" Target="../media/image10.png"/><Relationship Id="rId4" Type="http://schemas.openxmlformats.org/officeDocument/2006/relationships/image" Target="../media/image20.png"/><Relationship Id="rId9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4"/>
          <p:cNvSpPr/>
          <p:nvPr/>
        </p:nvSpPr>
        <p:spPr>
          <a:xfrm>
            <a:off x="640080" y="228600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Intelligence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640080" y="43434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machines can do, how they learn, and why humans still matter.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Rectangle 5"/>
          <p:cNvSpPr/>
          <p:nvPr/>
        </p:nvSpPr>
        <p:spPr>
          <a:xfrm>
            <a:off x="183832" y="463272"/>
            <a:ext cx="1173080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AD 304 Artificial Intelligence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Fundamental of Artificial Intelligence</a:t>
            </a:r>
            <a:r>
              <a:rPr lang="en-US" dirty="0"/>
              <a:t>, history, motivation and need of AI, Production systems, Characteristics of production systems, goals and contribution of AI to modern technology, search space, different search techniques: Hill Climbing, Best First Search, heuristic search algorithm, A* and AO* search techniques etc. </a:t>
            </a:r>
            <a:endParaRPr lang="en-US" dirty="0" smtClean="0"/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Knowledge Representation</a:t>
            </a:r>
            <a:r>
              <a:rPr lang="en-US" dirty="0"/>
              <a:t>, Problems in representing knowledge, knowledge representation using propositional and predicate logic, comparison of propositional and predicate logic, Resolution, refutation, deduction, theorem proving, inferencing, monotonic and non-monotonic reasoning. </a:t>
            </a:r>
            <a:endParaRPr lang="en-US" dirty="0" smtClean="0"/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Probabilistic reasoning</a:t>
            </a:r>
            <a:r>
              <a:rPr lang="en-US" dirty="0"/>
              <a:t>, </a:t>
            </a:r>
            <a:r>
              <a:rPr lang="en-US" dirty="0" err="1"/>
              <a:t>Baye's</a:t>
            </a:r>
            <a:r>
              <a:rPr lang="en-US" dirty="0"/>
              <a:t> theorem, semantic networks, scripts, schemas, frames, conceptual dependency, forward and backward reasoning. </a:t>
            </a:r>
            <a:endParaRPr lang="en-US" dirty="0" smtClean="0"/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Game playing techniques</a:t>
            </a:r>
            <a:r>
              <a:rPr lang="en-US" dirty="0"/>
              <a:t> like minimax procedure, alpha-beta cut-offs etc., planning, study of the block world problem in robotics, introduction to understanding, natural language processing (NLP), components of NLP, application of NLP to design expert systems. </a:t>
            </a:r>
            <a:endParaRPr lang="en-US" dirty="0" smtClean="0"/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Expert systems (ES)</a:t>
            </a:r>
            <a:r>
              <a:rPr lang="en-US" dirty="0"/>
              <a:t> and its characteristics, requirements of ES, components and capability of expert systems, Inference Engine Forward &amp; backward Chaining, Expert Systems Limitation, Expert System Development Environment, technology, Benefits of Expert Systems.</a:t>
            </a:r>
          </a:p>
        </p:txBody>
      </p:sp>
    </p:spTree>
    <p:extLst>
      <p:ext uri="{BB962C8B-B14F-4D97-AF65-F5344CB8AC3E}">
        <p14:creationId xmlns:p14="http://schemas.microsoft.com/office/powerpoint/2010/main" val="3182596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48640"/>
            <a:ext cx="822960" cy="82296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5" name="Image 0" descr="/home/claude/ai_lecture/icons/gradu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65" y="655625"/>
            <a:ext cx="608990" cy="6089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28600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Intelligence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640080" y="33375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</a:t>
            </a:r>
            <a:r>
              <a:rPr lang="en-US" sz="2200" i="1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40080" y="43434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machines can do, how they learn, and why humans still matter.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Rectangle 5"/>
          <p:cNvSpPr/>
          <p:nvPr/>
        </p:nvSpPr>
        <p:spPr>
          <a:xfrm>
            <a:off x="6003634" y="324433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803280" y="883058"/>
            <a:ext cx="500611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AD 304 Artificial Intelligence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65760" y="45720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256032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"What is the difference between a human being and a computer?"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ANSWERS — HUMANS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51206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3785616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657600"/>
            <a:ext cx="4434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can think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315968"/>
            <a:ext cx="51206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4443984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4315968"/>
            <a:ext cx="4434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experience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974336"/>
            <a:ext cx="51206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5102352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4974336"/>
            <a:ext cx="4434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have emotions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309360" y="32461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ANSWERS — COMPUTERS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3657600"/>
            <a:ext cx="51206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73952" y="3785616"/>
            <a:ext cx="274320" cy="27432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3657600"/>
            <a:ext cx="4434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are faster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309360" y="4315968"/>
            <a:ext cx="51206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73952" y="4443984"/>
            <a:ext cx="274320" cy="27432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6903720" y="4315968"/>
            <a:ext cx="4434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huge amounts of data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309360" y="512064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Follow-up: "If a computer can learn, decide, recognize faces, understand language, and play games like humans — can we call it intelligent?"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DEFINITION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Artificial Intelligence?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7F9F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54480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the field of computer science that aims to make machines capable of performing tasks that normally require human intelligence.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7F9FC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9718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/home/claude/ai_lecture/icons/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394" y="3060954"/>
            <a:ext cx="507492" cy="5074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29992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600200" y="3429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43400" y="274320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7F9FC"/>
          </a:solidFill>
          <a:ln/>
        </p:spPr>
      </p:sp>
      <p:sp>
        <p:nvSpPr>
          <p:cNvPr id="12" name="Shape 9"/>
          <p:cNvSpPr/>
          <p:nvPr/>
        </p:nvSpPr>
        <p:spPr>
          <a:xfrm>
            <a:off x="4572000" y="29718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ai_lecture/icons/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1154" y="3060954"/>
            <a:ext cx="507492" cy="50749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94960" y="29992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394960" y="3429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38160" y="274320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7F9FC"/>
          </a:solidFill>
          <a:ln/>
        </p:spPr>
      </p:sp>
      <p:sp>
        <p:nvSpPr>
          <p:cNvPr id="17" name="Shape 13"/>
          <p:cNvSpPr/>
          <p:nvPr/>
        </p:nvSpPr>
        <p:spPr>
          <a:xfrm>
            <a:off x="8366760" y="29718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/home/claude/ai_lecture/icons/commen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5914" y="3060954"/>
            <a:ext cx="507492" cy="50749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89720" y="29992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language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9189720" y="3429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48640" y="475488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7F9FC"/>
          </a:solidFill>
          <a:ln/>
        </p:spPr>
      </p:sp>
      <p:sp>
        <p:nvSpPr>
          <p:cNvPr id="22" name="Shape 17"/>
          <p:cNvSpPr/>
          <p:nvPr/>
        </p:nvSpPr>
        <p:spPr>
          <a:xfrm>
            <a:off x="777240" y="49834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3" descr="/home/claude/ai_lecture/icons/che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394" y="5072634"/>
            <a:ext cx="507492" cy="50749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00200" y="501091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games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1600200" y="5440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Game-playing AI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343400" y="475488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7F9FC"/>
          </a:solidFill>
          <a:ln/>
        </p:spPr>
      </p:sp>
      <p:sp>
        <p:nvSpPr>
          <p:cNvPr id="27" name="Shape 21"/>
          <p:cNvSpPr/>
          <p:nvPr/>
        </p:nvSpPr>
        <p:spPr>
          <a:xfrm>
            <a:off x="4572000" y="49834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4" descr="/home/claude/ai_lecture/icons/c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1154" y="5072634"/>
            <a:ext cx="507492" cy="50749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394960" y="501091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5394960" y="5440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vehicles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8138160" y="475488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7F9FC"/>
          </a:solidFill>
          <a:ln/>
        </p:spPr>
      </p:sp>
      <p:sp>
        <p:nvSpPr>
          <p:cNvPr id="32" name="Shape 25"/>
          <p:cNvSpPr/>
          <p:nvPr/>
        </p:nvSpPr>
        <p:spPr>
          <a:xfrm>
            <a:off x="8366760" y="49834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3" name="Image 5" descr="/home/claude/ai_lecture/icons/lightbu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5914" y="5072634"/>
            <a:ext cx="507492" cy="50749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189720" y="501091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problems</a:t>
            </a:r>
            <a:endParaRPr lang="en-US" sz="1450" dirty="0"/>
          </a:p>
        </p:txBody>
      </p:sp>
      <p:sp>
        <p:nvSpPr>
          <p:cNvPr id="35" name="Text 27"/>
          <p:cNvSpPr/>
          <p:nvPr/>
        </p:nvSpPr>
        <p:spPr>
          <a:xfrm>
            <a:off x="9189720" y="5440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reasoning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Intelligence vs. Artificial Intelligence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257800" cy="457200"/>
          </a:xfrm>
          <a:prstGeom prst="roundRect">
            <a:avLst>
              <a:gd name="adj" fmla="val 16000"/>
            </a:avLst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1563624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ai_lecture/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963" y="1608795"/>
            <a:ext cx="257129" cy="25712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50876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26480" y="1508760"/>
            <a:ext cx="5257800" cy="457200"/>
          </a:xfrm>
          <a:prstGeom prst="roundRect">
            <a:avLst>
              <a:gd name="adj" fmla="val 16000"/>
            </a:avLst>
          </a:prstGeom>
          <a:solidFill>
            <a:srgbClr val="F5A623"/>
          </a:solidFill>
          <a:ln/>
        </p:spPr>
      </p:sp>
      <p:sp>
        <p:nvSpPr>
          <p:cNvPr id="9" name="Shape 6"/>
          <p:cNvSpPr/>
          <p:nvPr/>
        </p:nvSpPr>
        <p:spPr>
          <a:xfrm>
            <a:off x="6199632" y="1563624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ai_lecture/icons/rob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4803" y="1608795"/>
            <a:ext cx="257129" cy="25712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29400" y="150876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126480" y="2075688"/>
            <a:ext cx="5257800" cy="507492"/>
          </a:xfrm>
          <a:prstGeom prst="rect">
            <a:avLst/>
          </a:prstGeom>
          <a:solidFill>
            <a:srgbClr val="141A47"/>
          </a:solidFill>
          <a:ln/>
        </p:spPr>
      </p:sp>
      <p:sp>
        <p:nvSpPr>
          <p:cNvPr id="16" name="Shape 12"/>
          <p:cNvSpPr/>
          <p:nvPr/>
        </p:nvSpPr>
        <p:spPr>
          <a:xfrm>
            <a:off x="548640" y="2638044"/>
            <a:ext cx="5257800" cy="5074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Shape 13"/>
          <p:cNvSpPr/>
          <p:nvPr/>
        </p:nvSpPr>
        <p:spPr>
          <a:xfrm>
            <a:off x="6126480" y="2638044"/>
            <a:ext cx="5257800" cy="5074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4"/>
          <p:cNvSpPr/>
          <p:nvPr/>
        </p:nvSpPr>
        <p:spPr>
          <a:xfrm>
            <a:off x="713232" y="2638044"/>
            <a:ext cx="4983480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life experience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6291072" y="2638044"/>
            <a:ext cx="4983480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data &amp; training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548640" y="3200400"/>
            <a:ext cx="5257800" cy="507492"/>
          </a:xfrm>
          <a:prstGeom prst="rect">
            <a:avLst/>
          </a:prstGeom>
          <a:solidFill>
            <a:srgbClr val="141A47"/>
          </a:solidFill>
          <a:ln/>
        </p:spPr>
      </p:sp>
      <p:sp>
        <p:nvSpPr>
          <p:cNvPr id="21" name="Shape 17"/>
          <p:cNvSpPr/>
          <p:nvPr/>
        </p:nvSpPr>
        <p:spPr>
          <a:xfrm>
            <a:off x="6126480" y="3200400"/>
            <a:ext cx="5257800" cy="507492"/>
          </a:xfrm>
          <a:prstGeom prst="rect">
            <a:avLst/>
          </a:prstGeom>
          <a:solidFill>
            <a:srgbClr val="141A47"/>
          </a:solidFill>
          <a:ln/>
        </p:spPr>
      </p:sp>
      <p:sp>
        <p:nvSpPr>
          <p:cNvPr id="22" name="Text 18"/>
          <p:cNvSpPr/>
          <p:nvPr/>
        </p:nvSpPr>
        <p:spPr>
          <a:xfrm>
            <a:off x="713232" y="3200400"/>
            <a:ext cx="4983480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emotions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6291072" y="3200400"/>
            <a:ext cx="4983480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naturally have emotions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548640" y="3762756"/>
            <a:ext cx="5257800" cy="5074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Shape 21"/>
          <p:cNvSpPr/>
          <p:nvPr/>
        </p:nvSpPr>
        <p:spPr>
          <a:xfrm>
            <a:off x="6126480" y="3762756"/>
            <a:ext cx="5257800" cy="5074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2"/>
          <p:cNvSpPr/>
          <p:nvPr/>
        </p:nvSpPr>
        <p:spPr>
          <a:xfrm>
            <a:off x="713232" y="3762756"/>
            <a:ext cx="4983480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common sense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6291072" y="3762756"/>
            <a:ext cx="4983480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data, rules, models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548640" y="4325112"/>
            <a:ext cx="5257800" cy="507492"/>
          </a:xfrm>
          <a:prstGeom prst="rect">
            <a:avLst/>
          </a:prstGeom>
          <a:solidFill>
            <a:srgbClr val="141A47"/>
          </a:solidFill>
          <a:ln/>
        </p:spPr>
      </p:sp>
      <p:sp>
        <p:nvSpPr>
          <p:cNvPr id="29" name="Shape 25"/>
          <p:cNvSpPr/>
          <p:nvPr/>
        </p:nvSpPr>
        <p:spPr>
          <a:xfrm>
            <a:off x="6126480" y="4325112"/>
            <a:ext cx="5257800" cy="507492"/>
          </a:xfrm>
          <a:prstGeom prst="rect">
            <a:avLst/>
          </a:prstGeom>
          <a:solidFill>
            <a:srgbClr val="141A47"/>
          </a:solidFill>
          <a:ln/>
        </p:spPr>
      </p:sp>
      <p:sp>
        <p:nvSpPr>
          <p:cNvPr id="30" name="Text 26"/>
          <p:cNvSpPr/>
          <p:nvPr/>
        </p:nvSpPr>
        <p:spPr>
          <a:xfrm>
            <a:off x="713232" y="4325112"/>
            <a:ext cx="4983480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new situations naturally</a:t>
            </a:r>
            <a:endParaRPr lang="en-US" sz="1150" dirty="0"/>
          </a:p>
        </p:txBody>
      </p:sp>
      <p:sp>
        <p:nvSpPr>
          <p:cNvPr id="31" name="Text 27"/>
          <p:cNvSpPr/>
          <p:nvPr/>
        </p:nvSpPr>
        <p:spPr>
          <a:xfrm>
            <a:off x="6291072" y="4325112"/>
            <a:ext cx="4983480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struggle outside its training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548640" y="4887468"/>
            <a:ext cx="5257800" cy="5074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3" name="Shape 29"/>
          <p:cNvSpPr/>
          <p:nvPr/>
        </p:nvSpPr>
        <p:spPr>
          <a:xfrm>
            <a:off x="6126480" y="4887468"/>
            <a:ext cx="5257800" cy="5074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4" name="Text 30"/>
          <p:cNvSpPr/>
          <p:nvPr/>
        </p:nvSpPr>
        <p:spPr>
          <a:xfrm>
            <a:off x="713232" y="4887468"/>
            <a:ext cx="4983480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very few examples</a:t>
            </a:r>
            <a:endParaRPr lang="en-US" sz="1150" dirty="0"/>
          </a:p>
        </p:txBody>
      </p:sp>
      <p:sp>
        <p:nvSpPr>
          <p:cNvPr id="35" name="Text 31"/>
          <p:cNvSpPr/>
          <p:nvPr/>
        </p:nvSpPr>
        <p:spPr>
          <a:xfrm>
            <a:off x="6291072" y="4887468"/>
            <a:ext cx="4983480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needs substantial data</a:t>
            </a:r>
            <a:endParaRPr lang="en-US" sz="1150" dirty="0"/>
          </a:p>
        </p:txBody>
      </p:sp>
      <p:sp>
        <p:nvSpPr>
          <p:cNvPr id="36" name="Shape 32"/>
          <p:cNvSpPr/>
          <p:nvPr/>
        </p:nvSpPr>
        <p:spPr>
          <a:xfrm>
            <a:off x="548640" y="5449824"/>
            <a:ext cx="5257800" cy="507492"/>
          </a:xfrm>
          <a:prstGeom prst="rect">
            <a:avLst/>
          </a:prstGeom>
          <a:solidFill>
            <a:srgbClr val="141A47"/>
          </a:solidFill>
          <a:ln/>
        </p:spPr>
      </p:sp>
      <p:sp>
        <p:nvSpPr>
          <p:cNvPr id="37" name="Shape 33"/>
          <p:cNvSpPr/>
          <p:nvPr/>
        </p:nvSpPr>
        <p:spPr>
          <a:xfrm>
            <a:off x="6126480" y="5449824"/>
            <a:ext cx="5257800" cy="507492"/>
          </a:xfrm>
          <a:prstGeom prst="rect">
            <a:avLst/>
          </a:prstGeom>
          <a:solidFill>
            <a:srgbClr val="141A47"/>
          </a:solidFill>
          <a:ln/>
        </p:spPr>
      </p:sp>
      <p:sp>
        <p:nvSpPr>
          <p:cNvPr id="38" name="Text 34"/>
          <p:cNvSpPr/>
          <p:nvPr/>
        </p:nvSpPr>
        <p:spPr>
          <a:xfrm>
            <a:off x="713232" y="5449824"/>
            <a:ext cx="4983480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Creativity is natural</a:t>
            </a:r>
            <a:endParaRPr lang="en-US" sz="1150" dirty="0"/>
          </a:p>
        </p:txBody>
      </p:sp>
      <p:sp>
        <p:nvSpPr>
          <p:cNvPr id="39" name="Text 35"/>
          <p:cNvSpPr/>
          <p:nvPr/>
        </p:nvSpPr>
        <p:spPr>
          <a:xfrm>
            <a:off x="6291072" y="5449824"/>
            <a:ext cx="4983480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creative-looking output from patterns</a:t>
            </a:r>
            <a:endParaRPr lang="en-US" sz="1150" dirty="0"/>
          </a:p>
        </p:txBody>
      </p:sp>
      <p:sp>
        <p:nvSpPr>
          <p:cNvPr id="40" name="Shape 36"/>
          <p:cNvSpPr/>
          <p:nvPr/>
        </p:nvSpPr>
        <p:spPr>
          <a:xfrm>
            <a:off x="548640" y="6012180"/>
            <a:ext cx="5257800" cy="5074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1" name="Shape 37"/>
          <p:cNvSpPr/>
          <p:nvPr/>
        </p:nvSpPr>
        <p:spPr>
          <a:xfrm>
            <a:off x="6126480" y="6012180"/>
            <a:ext cx="5257800" cy="5074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2" name="Text 38"/>
          <p:cNvSpPr/>
          <p:nvPr/>
        </p:nvSpPr>
        <p:spPr>
          <a:xfrm>
            <a:off x="713232" y="6012180"/>
            <a:ext cx="4983480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at calculations</a:t>
            </a:r>
            <a:endParaRPr lang="en-US" sz="1150" dirty="0"/>
          </a:p>
        </p:txBody>
      </p:sp>
      <p:sp>
        <p:nvSpPr>
          <p:cNvPr id="43" name="Text 39"/>
          <p:cNvSpPr/>
          <p:nvPr/>
        </p:nvSpPr>
        <p:spPr>
          <a:xfrm>
            <a:off x="6291072" y="6012180"/>
            <a:ext cx="4983480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fast at calculations</a:t>
            </a:r>
            <a:endParaRPr lang="en-US" sz="1150" dirty="0"/>
          </a:p>
        </p:txBody>
      </p:sp>
      <p:sp>
        <p:nvSpPr>
          <p:cNvPr id="44" name="Text 4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Child Learns vs. How AI Learns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F7F9F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574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ai_lecture/icons/chi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385" y="2164385"/>
            <a:ext cx="608990" cy="6089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10312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CHILD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3063240"/>
            <a:ext cx="4617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3-year-old sees a few cats and gradually understands: "This is a cat." Later, even a different breed is recognized as a cat.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914400" y="4434840"/>
            <a:ext cx="4617720" cy="0"/>
          </a:xfrm>
          <a:prstGeom prst="line">
            <a:avLst/>
          </a:prstGeom>
          <a:noFill/>
          <a:ln w="12700">
            <a:solidFill>
              <a:srgbClr val="DCE2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461772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learns from experience.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172200" y="169164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1E2761"/>
          </a:solidFill>
          <a:ln/>
        </p:spPr>
      </p:sp>
      <p:sp>
        <p:nvSpPr>
          <p:cNvPr id="12" name="Shape 9"/>
          <p:cNvSpPr/>
          <p:nvPr/>
        </p:nvSpPr>
        <p:spPr>
          <a:xfrm>
            <a:off x="6537960" y="2057400"/>
            <a:ext cx="822960" cy="82296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3" name="Image 1" descr="/home/claude/ai_lecture/icons/rob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4945" y="2164385"/>
            <a:ext cx="608990" cy="60899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43800" y="210312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SYSTEM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537960" y="3063240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shown many examples of cats and non-cats. It learns patterns: shape, eyes, ears, fur, body structure.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537960" y="420624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41A47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537960" y="420624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7571232" y="4206240"/>
            <a:ext cx="292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7845552" y="420624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41A47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845552" y="420624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8878824" y="4206240"/>
            <a:ext cx="292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9153144" y="420624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41A47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9153144" y="420624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10186416" y="4206240"/>
            <a:ext cx="292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10460736" y="420624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F5A623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0460736" y="420624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"Cat"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6537960" y="498348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learns patterns from data.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QUESTION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0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AI Think Like a Human?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32918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152400" dist="508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ai_lecture/icons/ques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2313432"/>
            <a:ext cx="676656" cy="6766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03120" y="2148840"/>
            <a:ext cx="90525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9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perform many tasks associated with human intelligence — </a:t>
            </a: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that does not mean it thinks, feels, or understands</a:t>
            </a:r>
            <a:r>
              <a:rPr lang="en-US" sz="19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exactly like a human.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2103120" y="3794760"/>
            <a:ext cx="9052560" cy="0"/>
          </a:xfrm>
          <a:prstGeom prst="line">
            <a:avLst/>
          </a:prstGeom>
          <a:noFill/>
          <a:ln w="12700">
            <a:solidFill>
              <a:srgbClr val="E1E6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103120" y="3977640"/>
            <a:ext cx="9052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distinction matters most for students beginning Artificial Intelligence: capability is not the same as consciousness.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UPSIDE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of AI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70048" cy="1965960"/>
          </a:xfrm>
          <a:prstGeom prst="roundRect">
            <a:avLst>
              <a:gd name="adj" fmla="val 4651"/>
            </a:avLst>
          </a:prstGeom>
          <a:solidFill>
            <a:srgbClr val="F7F9FC"/>
          </a:solidFill>
          <a:ln/>
        </p:spPr>
      </p:sp>
      <p:sp>
        <p:nvSpPr>
          <p:cNvPr id="5" name="Shape 3"/>
          <p:cNvSpPr/>
          <p:nvPr/>
        </p:nvSpPr>
        <p:spPr>
          <a:xfrm>
            <a:off x="1572768" y="1801368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ai_lecture/icons/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3601" y="1882201"/>
            <a:ext cx="460126" cy="4601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514600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85800" y="2880360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repetitive tasks — e.g. chatbots answering FAQs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83280" y="1600200"/>
            <a:ext cx="2670048" cy="1965960"/>
          </a:xfrm>
          <a:prstGeom prst="roundRect">
            <a:avLst>
              <a:gd name="adj" fmla="val 4651"/>
            </a:avLst>
          </a:prstGeom>
          <a:solidFill>
            <a:srgbClr val="F7F9FC"/>
          </a:solidFill>
          <a:ln/>
        </p:spPr>
      </p:sp>
      <p:sp>
        <p:nvSpPr>
          <p:cNvPr id="10" name="Shape 7"/>
          <p:cNvSpPr/>
          <p:nvPr/>
        </p:nvSpPr>
        <p:spPr>
          <a:xfrm>
            <a:off x="4407408" y="1801368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ai_lecture/icons/chart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8241" y="1882201"/>
            <a:ext cx="460126" cy="46012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2514600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decision-making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520440" y="2880360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thousands of records in minutes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217920" y="1600200"/>
            <a:ext cx="2670048" cy="1965960"/>
          </a:xfrm>
          <a:prstGeom prst="roundRect">
            <a:avLst>
              <a:gd name="adj" fmla="val 4651"/>
            </a:avLst>
          </a:prstGeom>
          <a:solidFill>
            <a:srgbClr val="F7F9FC"/>
          </a:solidFill>
          <a:ln/>
        </p:spPr>
      </p:sp>
      <p:sp>
        <p:nvSpPr>
          <p:cNvPr id="15" name="Shape 11"/>
          <p:cNvSpPr/>
          <p:nvPr/>
        </p:nvSpPr>
        <p:spPr>
          <a:xfrm>
            <a:off x="7242048" y="1801368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ai_lecture/icons/c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2881" y="1882201"/>
            <a:ext cx="460126" cy="46012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2514600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24×7 availability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355080" y="2880360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assistants never get tired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9052560" y="1600200"/>
            <a:ext cx="2670048" cy="1965960"/>
          </a:xfrm>
          <a:prstGeom prst="roundRect">
            <a:avLst>
              <a:gd name="adj" fmla="val 4651"/>
            </a:avLst>
          </a:prstGeom>
          <a:solidFill>
            <a:srgbClr val="F7F9FC"/>
          </a:solidFill>
          <a:ln/>
        </p:spPr>
      </p:sp>
      <p:sp>
        <p:nvSpPr>
          <p:cNvPr id="20" name="Shape 15"/>
          <p:cNvSpPr/>
          <p:nvPr/>
        </p:nvSpPr>
        <p:spPr>
          <a:xfrm>
            <a:off x="10076688" y="1801368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ai_lecture/icons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7521" y="1882201"/>
            <a:ext cx="460126" cy="46012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89720" y="2514600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human error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9189720" y="2880360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AI-based quality inspection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548640" y="3749040"/>
            <a:ext cx="2670048" cy="1965960"/>
          </a:xfrm>
          <a:prstGeom prst="roundRect">
            <a:avLst>
              <a:gd name="adj" fmla="val 4651"/>
            </a:avLst>
          </a:prstGeom>
          <a:solidFill>
            <a:srgbClr val="F7F9FC"/>
          </a:solidFill>
          <a:ln/>
        </p:spPr>
      </p:sp>
      <p:sp>
        <p:nvSpPr>
          <p:cNvPr id="25" name="Shape 19"/>
          <p:cNvSpPr/>
          <p:nvPr/>
        </p:nvSpPr>
        <p:spPr>
          <a:xfrm>
            <a:off x="1572768" y="3950208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/home/claude/ai_lecture/icons/datab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3601" y="4031041"/>
            <a:ext cx="460126" cy="46012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85800" y="4663440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big data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685800" y="5029200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patterns — e.g. bank fraud detection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3383280" y="3749040"/>
            <a:ext cx="2670048" cy="1965960"/>
          </a:xfrm>
          <a:prstGeom prst="roundRect">
            <a:avLst>
              <a:gd name="adj" fmla="val 4651"/>
            </a:avLst>
          </a:prstGeom>
          <a:solidFill>
            <a:srgbClr val="F7F9FC"/>
          </a:solidFill>
          <a:ln/>
        </p:spPr>
      </p:sp>
      <p:sp>
        <p:nvSpPr>
          <p:cNvPr id="30" name="Shape 23"/>
          <p:cNvSpPr/>
          <p:nvPr/>
        </p:nvSpPr>
        <p:spPr>
          <a:xfrm>
            <a:off x="4407408" y="3950208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/home/claude/ai_lecture/icons/shiel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8241" y="4031041"/>
            <a:ext cx="460126" cy="46012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520440" y="4663440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in danger zones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3520440" y="5029200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Bomb disposal, deep-sea &amp; space robots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6217920" y="3749040"/>
            <a:ext cx="2670048" cy="1965960"/>
          </a:xfrm>
          <a:prstGeom prst="roundRect">
            <a:avLst>
              <a:gd name="adj" fmla="val 4651"/>
            </a:avLst>
          </a:prstGeom>
          <a:solidFill>
            <a:srgbClr val="F7F9FC"/>
          </a:solidFill>
          <a:ln/>
        </p:spPr>
      </p:sp>
      <p:sp>
        <p:nvSpPr>
          <p:cNvPr id="35" name="Shape 27"/>
          <p:cNvSpPr/>
          <p:nvPr/>
        </p:nvSpPr>
        <p:spPr>
          <a:xfrm>
            <a:off x="7242048" y="3950208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6" name="Image 6" descr="/home/claude/ai_lecture/icons/hea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22881" y="4031041"/>
            <a:ext cx="460126" cy="46012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355080" y="4663440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6355080" y="5029200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on YouTube &amp; Netflix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9052560" y="3749040"/>
            <a:ext cx="2670048" cy="1965960"/>
          </a:xfrm>
          <a:prstGeom prst="roundRect">
            <a:avLst>
              <a:gd name="adj" fmla="val 4651"/>
            </a:avLst>
          </a:prstGeom>
          <a:solidFill>
            <a:srgbClr val="F7F9FC"/>
          </a:solidFill>
          <a:ln/>
        </p:spPr>
      </p:sp>
      <p:sp>
        <p:nvSpPr>
          <p:cNvPr id="40" name="Shape 31"/>
          <p:cNvSpPr/>
          <p:nvPr/>
        </p:nvSpPr>
        <p:spPr>
          <a:xfrm>
            <a:off x="10076688" y="3950208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1" name="Image 7" descr="/home/claude/ai_lecture/icons/stethoscop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57521" y="4031041"/>
            <a:ext cx="460126" cy="460126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189720" y="4663440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support</a:t>
            </a:r>
            <a:endParaRPr lang="en-US" sz="1250" dirty="0"/>
          </a:p>
        </p:txBody>
      </p:sp>
      <p:sp>
        <p:nvSpPr>
          <p:cNvPr id="43" name="Text 33"/>
          <p:cNvSpPr/>
          <p:nvPr/>
        </p:nvSpPr>
        <p:spPr>
          <a:xfrm>
            <a:off x="9189720" y="5029200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Assists diagnosis &amp; image analysis</a:t>
            </a:r>
            <a:endParaRPr lang="en-US" sz="950" dirty="0"/>
          </a:p>
        </p:txBody>
      </p:sp>
      <p:sp>
        <p:nvSpPr>
          <p:cNvPr id="44" name="Text 3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Disadvantages of AI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70048" cy="1965960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572768" y="1801368"/>
            <a:ext cx="621792" cy="621792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6" name="Image 0" descr="/home/claude/ai_lecture/icons/brief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3601" y="1882201"/>
            <a:ext cx="460126" cy="4601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514600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displacement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85800" y="2880360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reduces need for some repetitive jobs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83280" y="1600200"/>
            <a:ext cx="2670048" cy="1965960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4407408" y="1801368"/>
            <a:ext cx="621792" cy="621792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1" name="Image 1" descr="/home/claude/ai_lecture/icons/doll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8241" y="1882201"/>
            <a:ext cx="460126" cy="46012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2514600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development cost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520440" y="2880360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hardware, data &amp; skilled talent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217920" y="1600200"/>
            <a:ext cx="2670048" cy="1965960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/>
        </p:spPr>
      </p:sp>
      <p:sp>
        <p:nvSpPr>
          <p:cNvPr id="15" name="Shape 11"/>
          <p:cNvSpPr/>
          <p:nvPr/>
        </p:nvSpPr>
        <p:spPr>
          <a:xfrm>
            <a:off x="7242048" y="1801368"/>
            <a:ext cx="621792" cy="621792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6" name="Image 2" descr="/home/claude/ai_lecture/icons/heartbrok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2881" y="1882201"/>
            <a:ext cx="460126" cy="46012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2514600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Lacks human emotion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355080" y="2880360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natural love, empathy or compassion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9052560" y="1600200"/>
            <a:ext cx="2670048" cy="1965960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/>
        </p:spPr>
      </p:sp>
      <p:sp>
        <p:nvSpPr>
          <p:cNvPr id="20" name="Shape 15"/>
          <p:cNvSpPr/>
          <p:nvPr/>
        </p:nvSpPr>
        <p:spPr>
          <a:xfrm>
            <a:off x="10076688" y="1801368"/>
            <a:ext cx="621792" cy="621792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21" name="Image 3" descr="/home/claude/ai_lecture/icons/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7521" y="1882201"/>
            <a:ext cx="460126" cy="46012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89720" y="2514600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Dependence on data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9189720" y="2880360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Poor-quality data → poor results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548640" y="3749040"/>
            <a:ext cx="2670048" cy="1965960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/>
        </p:spPr>
      </p:sp>
      <p:sp>
        <p:nvSpPr>
          <p:cNvPr id="25" name="Shape 19"/>
          <p:cNvSpPr/>
          <p:nvPr/>
        </p:nvSpPr>
        <p:spPr>
          <a:xfrm>
            <a:off x="1572768" y="3950208"/>
            <a:ext cx="621792" cy="621792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26" name="Image 4" descr="/home/claude/ai_lecture/icons/exclai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3601" y="4031041"/>
            <a:ext cx="460126" cy="46012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85800" y="4663440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685800" y="5029200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and repeats bias present in training data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3383280" y="3749040"/>
            <a:ext cx="2670048" cy="1965960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/>
        </p:spPr>
      </p:sp>
      <p:sp>
        <p:nvSpPr>
          <p:cNvPr id="30" name="Shape 23"/>
          <p:cNvSpPr/>
          <p:nvPr/>
        </p:nvSpPr>
        <p:spPr>
          <a:xfrm>
            <a:off x="4407408" y="3950208"/>
            <a:ext cx="621792" cy="621792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31" name="Image 5" descr="/home/claude/ai_lecture/icons/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8241" y="4031041"/>
            <a:ext cx="460126" cy="46012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520440" y="4663440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problems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3520440" y="5029200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large amounts of personal information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6217920" y="3749040"/>
            <a:ext cx="2670048" cy="1965960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/>
        </p:spPr>
      </p:sp>
      <p:sp>
        <p:nvSpPr>
          <p:cNvPr id="35" name="Shape 27"/>
          <p:cNvSpPr/>
          <p:nvPr/>
        </p:nvSpPr>
        <p:spPr>
          <a:xfrm>
            <a:off x="7242048" y="3950208"/>
            <a:ext cx="621792" cy="621792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36" name="Image 6" descr="/home/claude/ai_lecture/icons/bu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22881" y="4031041"/>
            <a:ext cx="460126" cy="46012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355080" y="4663440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risks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6355080" y="5029200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Misused for fraud, misinformation, cyberattacks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9052560" y="3749040"/>
            <a:ext cx="2670048" cy="1965960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/>
        </p:spPr>
      </p:sp>
      <p:sp>
        <p:nvSpPr>
          <p:cNvPr id="40" name="Shape 31"/>
          <p:cNvSpPr/>
          <p:nvPr/>
        </p:nvSpPr>
        <p:spPr>
          <a:xfrm>
            <a:off x="10076688" y="3950208"/>
            <a:ext cx="621792" cy="621792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41" name="Image 7" descr="/home/claude/ai_lecture/icons/questi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57521" y="4031041"/>
            <a:ext cx="460126" cy="460126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189720" y="4663440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Lacks common sense</a:t>
            </a:r>
            <a:endParaRPr lang="en-US" sz="1250" dirty="0"/>
          </a:p>
        </p:txBody>
      </p:sp>
      <p:sp>
        <p:nvSpPr>
          <p:cNvPr id="43" name="Text 33"/>
          <p:cNvSpPr/>
          <p:nvPr/>
        </p:nvSpPr>
        <p:spPr>
          <a:xfrm>
            <a:off x="9189720" y="5029200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fail at simple, obvious real-world reasoning</a:t>
            </a:r>
            <a:endParaRPr lang="en-US" sz="950" dirty="0"/>
          </a:p>
        </p:txBody>
      </p:sp>
      <p:sp>
        <p:nvSpPr>
          <p:cNvPr id="44" name="Text 3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EXAMPLE FOR STUDENTS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Should AI Replace Humans?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2651760" y="2057400"/>
            <a:ext cx="822960" cy="82296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6" name="Image 0" descr="/home/claude/ai_lecture/icons/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8745" y="2164385"/>
            <a:ext cx="608990" cy="6089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017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GREAT AT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05840" y="34747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Speed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005840" y="391363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Automation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005840" y="4352544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Pattern recognition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005840" y="479145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Processing big data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126480" y="173736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229600" y="20574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/home/claude/ai_lecture/icons/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6585" y="2164385"/>
            <a:ext cx="608990" cy="60899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126480" y="3017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REMAIN VITAL FOR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583680" y="34747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Empathy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6583680" y="391363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Creativity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6583680" y="4352544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Ethical judgment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6583680" y="479145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Common sense &amp; responsibility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5852160" y="324612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1" name="Text 17"/>
          <p:cNvSpPr/>
          <p:nvPr/>
        </p:nvSpPr>
        <p:spPr>
          <a:xfrm>
            <a:off x="5852160" y="3246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548640" y="55321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should be viewed as a tool that assists humans — not a replacement for them.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25780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STRENGTHS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514600"/>
            <a:ext cx="4709160" cy="475488"/>
          </a:xfrm>
          <a:prstGeom prst="roundRect">
            <a:avLst>
              <a:gd name="adj" fmla="val 15385"/>
            </a:avLst>
          </a:prstGeom>
          <a:solidFill>
            <a:srgbClr val="F7F9FC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514600"/>
            <a:ext cx="4251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108960"/>
            <a:ext cx="4709160" cy="475488"/>
          </a:xfrm>
          <a:prstGeom prst="roundRect">
            <a:avLst>
              <a:gd name="adj" fmla="val 15385"/>
            </a:avLst>
          </a:prstGeom>
          <a:solidFill>
            <a:srgbClr val="F7F9FC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108960"/>
            <a:ext cx="4251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3703320"/>
            <a:ext cx="4709160" cy="475488"/>
          </a:xfrm>
          <a:prstGeom prst="roundRect">
            <a:avLst>
              <a:gd name="adj" fmla="val 15385"/>
            </a:avLst>
          </a:prstGeom>
          <a:solidFill>
            <a:srgbClr val="F7F9FC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703320"/>
            <a:ext cx="4251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4297680"/>
            <a:ext cx="4709160" cy="475488"/>
          </a:xfrm>
          <a:prstGeom prst="roundRect">
            <a:avLst>
              <a:gd name="adj" fmla="val 15385"/>
            </a:avLst>
          </a:prstGeom>
          <a:solidFill>
            <a:srgbClr val="F7F9FC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4297680"/>
            <a:ext cx="4251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× 7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4892040"/>
            <a:ext cx="4709160" cy="475488"/>
          </a:xfrm>
          <a:prstGeom prst="roundRect">
            <a:avLst>
              <a:gd name="adj" fmla="val 15385"/>
            </a:avLst>
          </a:prstGeom>
          <a:solidFill>
            <a:srgbClr val="F7F9FC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4892040"/>
            <a:ext cx="4251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80760" y="1737360"/>
            <a:ext cx="5257800" cy="3931920"/>
          </a:xfrm>
          <a:prstGeom prst="roundRect">
            <a:avLst>
              <a:gd name="adj" fmla="val 2791"/>
            </a:avLst>
          </a:prstGeom>
          <a:solidFill>
            <a:srgbClr val="141A47"/>
          </a:solidFill>
          <a:ln w="12700">
            <a:solidFill>
              <a:srgbClr val="4A55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201168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WEAKNESSES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55080" y="2514600"/>
            <a:ext cx="4709160" cy="475488"/>
          </a:xfrm>
          <a:prstGeom prst="roundRect">
            <a:avLst>
              <a:gd name="adj" fmla="val 15385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2514600"/>
            <a:ext cx="4251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55080" y="3108960"/>
            <a:ext cx="4709160" cy="475488"/>
          </a:xfrm>
          <a:prstGeom prst="roundRect">
            <a:avLst>
              <a:gd name="adj" fmla="val 15385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3108960"/>
            <a:ext cx="4251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355080" y="3703320"/>
            <a:ext cx="4709160" cy="475488"/>
          </a:xfrm>
          <a:prstGeom prst="roundRect">
            <a:avLst>
              <a:gd name="adj" fmla="val 15385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3703320"/>
            <a:ext cx="4251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55080" y="4297680"/>
            <a:ext cx="4709160" cy="475488"/>
          </a:xfrm>
          <a:prstGeom prst="roundRect">
            <a:avLst>
              <a:gd name="adj" fmla="val 15385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4297680"/>
            <a:ext cx="4251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Impact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355080" y="4892040"/>
            <a:ext cx="4709160" cy="475488"/>
          </a:xfrm>
          <a:prstGeom prst="roundRect">
            <a:avLst>
              <a:gd name="adj" fmla="val 15385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4892040"/>
            <a:ext cx="4251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Lacks Emotion / Common Sense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</TotalTime>
  <Words>837</Words>
  <Application>Microsoft Office PowerPoint</Application>
  <PresentationFormat>Widescreen</PresentationFormat>
  <Paragraphs>163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account</cp:lastModifiedBy>
  <cp:revision>6</cp:revision>
  <dcterms:created xsi:type="dcterms:W3CDTF">2026-08-26T09:49:56Z</dcterms:created>
  <dcterms:modified xsi:type="dcterms:W3CDTF">2026-09-12T15:57:54Z</dcterms:modified>
</cp:coreProperties>
</file>