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8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5806440"/>
            <a:ext cx="1188720" cy="11887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PROBLEM SOLVING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Search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FA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AI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3200400" cy="914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problem-specific knowledge to decide which state to explore next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h(n)  =  estimated cost from node n to the goal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DEFINITION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Heuristic Search?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is an </a:t>
            </a: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 technique</a:t>
            </a: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uses additional problem-specific knowledge — a heuristic — to decide which state or node should be explored first.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30632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exploring blindly, it estimates how promising each option is — and heads toward the most promising one first.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40880" y="1508760"/>
            <a:ext cx="4663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69480" y="1664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FUNCTION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9385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from node n to the goal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IDEA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37764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50608" y="4023360"/>
            <a:ext cx="9144" cy="292608"/>
          </a:xfrm>
          <a:prstGeom prst="line">
            <a:avLst/>
          </a:prstGeom>
          <a:noFill/>
          <a:ln w="19050">
            <a:solidFill>
              <a:srgbClr val="6FA8B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040880" y="434340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50608" y="4590288"/>
            <a:ext cx="9144" cy="292608"/>
          </a:xfrm>
          <a:prstGeom prst="line">
            <a:avLst/>
          </a:prstGeom>
          <a:noFill/>
          <a:ln w="19050">
            <a:solidFill>
              <a:srgbClr val="6FA8B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040880" y="491032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06640" y="4809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best option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50608" y="5157216"/>
            <a:ext cx="9144" cy="292608"/>
          </a:xfrm>
          <a:prstGeom prst="line">
            <a:avLst/>
          </a:prstGeom>
          <a:noFill/>
          <a:ln w="19050">
            <a:solidFill>
              <a:srgbClr val="6FA8B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040880" y="5477256"/>
            <a:ext cx="219456" cy="21945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537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goal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 Idea,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23774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590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309067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6118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node the search is currently 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88336" y="3360420"/>
            <a:ext cx="228600" cy="9144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788920" y="3278124"/>
            <a:ext cx="146304" cy="164592"/>
          </a:xfrm>
          <a:prstGeom prst="triangle">
            <a:avLst/>
          </a:prstGeom>
          <a:solidFill>
            <a:srgbClr val="5B6B7C"/>
          </a:solidFill>
          <a:ln/>
        </p:spPr>
      </p:sp>
      <p:sp>
        <p:nvSpPr>
          <p:cNvPr id="11" name="Shape 9"/>
          <p:cNvSpPr/>
          <p:nvPr/>
        </p:nvSpPr>
        <p:spPr>
          <a:xfrm>
            <a:off x="2916936" y="23774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0460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046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309067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Heuristic h(n)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36118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cost from each neighbor to the goal.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82896" y="3360420"/>
            <a:ext cx="228600" cy="9144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4983480" y="3278124"/>
            <a:ext cx="146304" cy="164592"/>
          </a:xfrm>
          <a:prstGeom prst="triangle">
            <a:avLst/>
          </a:prstGeom>
          <a:solidFill>
            <a:srgbClr val="5B6B7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11496" y="23774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5020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7502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21224" y="309067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Promising State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21224" y="36118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estimates and pick the most promising node.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77456" y="3360420"/>
            <a:ext cx="228600" cy="9144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7178040" y="3278124"/>
            <a:ext cx="146304" cy="164592"/>
          </a:xfrm>
          <a:prstGeom prst="triangle">
            <a:avLst/>
          </a:prstGeom>
          <a:solidFill>
            <a:srgbClr val="5B6B7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06056" y="23774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9580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6958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15784" y="309067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15784" y="36118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that node and reveal its neighbors.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272016" y="3360420"/>
            <a:ext cx="228600" cy="9144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9372600" y="3278124"/>
            <a:ext cx="146304" cy="164592"/>
          </a:xfrm>
          <a:prstGeom prst="triangle">
            <a:avLst/>
          </a:prstGeom>
          <a:solidFill>
            <a:srgbClr val="5B6B7C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0616" y="23774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299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264140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6414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10344" y="309067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Goal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610344" y="36118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state is reached.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repeats — recalculating h(n) at every step — until the goal is reached.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Moving from A to 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1417320" y="2514600"/>
            <a:ext cx="1463040" cy="1463040"/>
          </a:xfrm>
          <a:prstGeom prst="line">
            <a:avLst/>
          </a:prstGeom>
          <a:noFill/>
          <a:ln w="25400">
            <a:solidFill>
              <a:srgbClr val="C7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3977640"/>
            <a:ext cx="1463040" cy="1463040"/>
          </a:xfrm>
          <a:prstGeom prst="line">
            <a:avLst/>
          </a:prstGeom>
          <a:noFill/>
          <a:ln w="25400">
            <a:solidFill>
              <a:srgbClr val="C7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2514600"/>
            <a:ext cx="1463040" cy="1463040"/>
          </a:xfrm>
          <a:prstGeom prst="line">
            <a:avLst/>
          </a:prstGeom>
          <a:noFill/>
          <a:ln w="44450">
            <a:solidFill>
              <a:srgbClr val="F29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880360" y="3977640"/>
            <a:ext cx="1463040" cy="1463040"/>
          </a:xfrm>
          <a:prstGeom prst="line">
            <a:avLst/>
          </a:prstGeom>
          <a:noFill/>
          <a:ln w="25400">
            <a:solidFill>
              <a:srgbClr val="C7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3977640"/>
            <a:ext cx="1645920" cy="9144"/>
          </a:xfrm>
          <a:prstGeom prst="line">
            <a:avLst/>
          </a:prstGeom>
          <a:noFill/>
          <a:ln w="44450">
            <a:solidFill>
              <a:srgbClr val="F29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3593592"/>
            <a:ext cx="768096" cy="768096"/>
          </a:xfrm>
          <a:prstGeom prst="ellipse">
            <a:avLst/>
          </a:prstGeom>
          <a:solidFill>
            <a:srgbClr val="1B2A4A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33272" y="352044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03250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2130552"/>
            <a:ext cx="768096" cy="768096"/>
          </a:xfrm>
          <a:prstGeom prst="ellipse">
            <a:avLst/>
          </a:prstGeom>
          <a:solidFill>
            <a:srgbClr val="1B2A4A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496312" y="205740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256946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96312" y="5056632"/>
            <a:ext cx="768096" cy="768096"/>
          </a:xfrm>
          <a:prstGeom prst="ellipse">
            <a:avLst/>
          </a:prstGeom>
          <a:solidFill>
            <a:srgbClr val="6FA8BE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496312" y="498348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496312" y="549554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59352" y="3593592"/>
            <a:ext cx="768096" cy="768096"/>
          </a:xfrm>
          <a:prstGeom prst="ellipse">
            <a:avLst/>
          </a:prstGeom>
          <a:solidFill>
            <a:srgbClr val="1B2A4A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959352" y="352044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403250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05272" y="3593592"/>
            <a:ext cx="768096" cy="768096"/>
          </a:xfrm>
          <a:prstGeom prst="ellipse">
            <a:avLst/>
          </a:prstGeom>
          <a:solidFill>
            <a:srgbClr val="F2994A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05272" y="352044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605272" y="403250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h=0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600200"/>
          <a:ext cx="3383280" cy="260604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818120" y="43891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prefers the smaller heuristic value at each step — it looks closer to the goal.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5806440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F299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5806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chosen:   A  →  B  →  D  →  G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BENEFITS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Heuristic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promising states instead of exploring everything, in many practical problems.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Effort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does not blindly explore every possible path.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 Spaces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problems like route planning and game playing with huge state spaces.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Domain Knowledge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heuristic incorporates useful information about the specific problem.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84064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Real-World Problems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practical problems can be expressed as search and guided using estimates.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Solution Quality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such as A* combine actual path cost with heuristic guidance.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TRADE-OFFS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Heuristic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Heuristic Quality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heuristic can guide the search in an unhelpful direction.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7099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Design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useful estimate can require considerable domain knowledge.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7099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16916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Consume Memory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informed search methods maintain many candidate nodes at once.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31596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Optimality Guarantee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Best-First Search focuses on h(n) and may miss the lowest-cost solution.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31596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84064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the heuristic itself may require additional computation.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411480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31596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4297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Hard at Scale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heuristic, very complex problems can have too many states.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APPLICATIONS (1 OF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Heuristic Search Is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55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3172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finds a path from its current position to a destination — e.g. warehouse robots routing between locations.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1755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852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54596" y="173736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Route Finding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3388" y="233172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estimates guide the search toward a destination, such as Indore → Bhopal → Delhi.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44074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98348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through possible game states in chess, checkers, and strategy or puzzle games.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420624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8524" y="44074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4596" y="438912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Solving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3388" y="498348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 8-puzzle, 15-puzzle, and maze solving — e.g. Manhattan distance as a heuristic.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APPLICATIONS (2 OF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Heuristic Search Is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5564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3172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a sequence of actions to reach a goal — the heuristic helps select promising actions.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175564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852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54596" y="173736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3388" y="233172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routing, network optimization, and path selection problems.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44074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Autonomous Systems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98348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decisions for autonomous robots, drones, and self-driving vehicles.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4206240"/>
            <a:ext cx="545439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8524" y="44074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4596" y="4389120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Applications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3388" y="4983480"/>
            <a:ext cx="49423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optimization, feature selection, scheduling, resource allocation, and combinatorial problems.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ALGORITHMS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Heuristic Search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2155698" cy="54864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2247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Climbing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247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better neighboring 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2247138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2247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neighbor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4418" y="182880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3018" y="2103120"/>
            <a:ext cx="2155698" cy="54864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7298" y="2331720"/>
            <a:ext cx="2247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Best-First Search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7298" y="3200400"/>
            <a:ext cx="2247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most promising available node.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27298" y="4800600"/>
            <a:ext cx="2247138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27298" y="4800600"/>
            <a:ext cx="2247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best-looking node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182880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0236" y="2103120"/>
            <a:ext cx="2155698" cy="54864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4516" y="2331720"/>
            <a:ext cx="2247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3200400"/>
            <a:ext cx="2247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actual cost and estimated cost.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14516" y="4800600"/>
            <a:ext cx="2247138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4516" y="4800600"/>
            <a:ext cx="2247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 + h(n)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18854" y="182880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47454" y="2103120"/>
            <a:ext cx="2155698" cy="54864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01734" y="2331720"/>
            <a:ext cx="2247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AO*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01734" y="3200400"/>
            <a:ext cx="2247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using an AND-OR graph structure.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01734" y="4800600"/>
            <a:ext cx="2247138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01734" y="4800600"/>
            <a:ext cx="2247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+ OR problems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EXAM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vs Disadvantages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600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243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774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 in many cases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741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12724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unnecessary exploration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2394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87705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domain knowledge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626864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7375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6268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large search spaces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376672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6235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3766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real-world applications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2624328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3774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heuristic quality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12724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374136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312724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heuristic can be difficult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387705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123944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87705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require significant memory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4626864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487375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66560" y="46268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methods guarantee optimality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5376672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62356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53766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calculation can add cost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00400" cy="3200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heuristic turns exhaustive search into intelligent search.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4160520"/>
            <a:ext cx="2697480" cy="914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 + h(n)  →  A*      ·      h(n) alone  →  Greedy Best-First      ·      AND-OR graphs  →  AO*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871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</cp:revision>
  <dcterms:created xsi:type="dcterms:W3CDTF">2026-09-23T00:50:00Z</dcterms:created>
  <dcterms:modified xsi:type="dcterms:W3CDTF">2026-09-23T01:01:16Z</dcterms:modified>
</cp:coreProperties>
</file>