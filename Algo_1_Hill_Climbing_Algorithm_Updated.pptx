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5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02"/>
          <c:y val="0.05"/>
          <c:w val="0.96"/>
          <c:h val="0.9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ln w="50800" cap="flat">
              <a:solidFill>
                <a:srgbClr val="2E7D5B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Sheet1!$A$2:$A$17</c:f>
              <c:strCache>
                <c:ptCount val="1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</c:strCache>
            </c:strRef>
          </c:cat>
          <c:val>
            <c:numRef>
              <c:f>Sheet1!$B$2:$B$17</c:f>
              <c:numCache>
                <c:formatCode>General</c:formatCode>
                <c:ptCount val="16"/>
                <c:pt idx="0">
                  <c:v>3</c:v>
                </c:pt>
                <c:pt idx="1">
                  <c:v>5</c:v>
                </c:pt>
                <c:pt idx="2">
                  <c:v>7</c:v>
                </c:pt>
                <c:pt idx="3">
                  <c:v>9</c:v>
                </c:pt>
                <c:pt idx="4">
                  <c:v>8</c:v>
                </c:pt>
                <c:pt idx="5">
                  <c:v>6</c:v>
                </c:pt>
                <c:pt idx="6">
                  <c:v>5</c:v>
                </c:pt>
                <c:pt idx="7">
                  <c:v>5</c:v>
                </c:pt>
                <c:pt idx="8">
                  <c:v>5</c:v>
                </c:pt>
                <c:pt idx="9">
                  <c:v>6</c:v>
                </c:pt>
                <c:pt idx="10">
                  <c:v>9</c:v>
                </c:pt>
                <c:pt idx="11">
                  <c:v>12</c:v>
                </c:pt>
                <c:pt idx="12">
                  <c:v>15</c:v>
                </c:pt>
                <c:pt idx="13">
                  <c:v>14</c:v>
                </c:pt>
                <c:pt idx="14">
                  <c:v>11</c:v>
                </c:pt>
                <c:pt idx="15">
                  <c:v>8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300817184"/>
        <c:axId val="300823064"/>
      </c:lineChart>
      <c:catAx>
        <c:axId val="3008171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300823064"/>
        <c:crosses val="autoZero"/>
        <c:auto val="1"/>
        <c:lblAlgn val="ctr"/>
        <c:lblOffset val="100"/>
        <c:noMultiLvlLbl val="1"/>
      </c:catAx>
      <c:valAx>
        <c:axId val="300823064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30081718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4746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hill climbing as a local search / heuristic algorithm used in AI. The mountain motif represents the idea of always climbing toward a better 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Definition: continuously move from the current state to a better neighboring state. Like a climber who always steps uphill until no higher step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loop: start, evaluate, look at neighbors, pick a better one, move, repeat. Stop when nothing better is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 values: 30 is the top, 20 and 25 are below it, 10 is below 20. Starting at 10 the algorithm climbs 10 to 20 to 30, then stops because nothing higher is adjacent.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 takes the first better neighbor. Steepest-ascent checks all neighbors and takes the best. Stochastic picks randomly among the better ones. First-choice hill climbing is a related variant that generates neighbors randomly until it finds a better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main advantages. Low memory: it keeps only the current state (and the neighbor being examined), so extra space is constant.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Landscape sketch: the search that starts on the left can stop at the smaller peak (local maximum) and never reach the taller one (global maximum). Plateaus are flat regions; ridges need a sequence of non-improving moves.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Random restart helps with local maxima by trying many starting points. Simulated annealing accepts occasional worse moves. Sideways moves let the search cross plateaus, with a cap to avoid endless wandering.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Classic textbook problems: N-Queens (minimize attacking pairs) and the Travelling Salesman Problem (swap cities to shorten the tour).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Summary comparison of the two sides.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greedy, fast, light on memory; weaknesses are local maxima, plateaus and ridges; remedies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chart" Target="../charts/chart1.xml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144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F28C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·  LOCAL SEARCH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206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Hill Climbing Algorithm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8803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heuristic search that keeps moving to a better neighboring state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80960" y="64008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0" y="2103120"/>
            <a:ext cx="3840480" cy="3040380"/>
          </a:xfrm>
          <a:prstGeom prst="triangl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0" y="2926080"/>
            <a:ext cx="2743200" cy="2217420"/>
          </a:xfrm>
          <a:prstGeom prst="triangl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0" y="3566160"/>
            <a:ext cx="2377440" cy="1577340"/>
          </a:xfrm>
          <a:prstGeom prst="triangle">
            <a:avLst/>
          </a:prstGeom>
          <a:solidFill>
            <a:srgbClr val="174A39"/>
          </a:solidFill>
          <a:ln w="12700">
            <a:solidFill>
              <a:srgbClr val="174A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45936" y="1956816"/>
            <a:ext cx="292608" cy="292608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Hill Climbing?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20624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85800" y="1463040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is a local search and heuristic algorithm that finds a good solution by repeatedly moving from the current state to a better neighboring state.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6118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36118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3611880"/>
            <a:ext cx="1280160" cy="411480"/>
          </a:xfrm>
          <a:prstGeom prst="roundRect">
            <a:avLst>
              <a:gd name="adj" fmla="val 44444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1605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every step, move toward a higher position until no better neighbor is available.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3291840"/>
          </a:xfrm>
          <a:prstGeom prst="roundRect">
            <a:avLst>
              <a:gd name="adj" fmla="val 3333"/>
            </a:avLst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1737360"/>
            <a:ext cx="3383280" cy="2743200"/>
          </a:xfrm>
          <a:prstGeom prst="triangl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04765" y="4032504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44591" y="3319272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4418" y="2606040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90411" y="1947672"/>
            <a:ext cx="237744" cy="237744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1554480"/>
            <a:ext cx="365760" cy="365760"/>
          </a:xfrm>
          <a:prstGeom prst="ellipse">
            <a:avLst/>
          </a:prstGeom>
          <a:solidFill>
            <a:srgbClr val="F28C2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577840" y="40233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178040" y="14173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better neighbor: stop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143000" y="2057400"/>
            <a:ext cx="6858000" cy="0"/>
          </a:xfrm>
          <a:prstGeom prst="line">
            <a:avLst/>
          </a:prstGeom>
          <a:noFill/>
          <a:ln w="25400">
            <a:solidFill>
              <a:srgbClr val="9DBFA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State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an initial solution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1945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18745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8745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the current state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2461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Neighbors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2461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neighboring states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Better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6177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neighbor with a higher value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37360"/>
            <a:ext cx="640080" cy="640080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59893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9893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the current state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7680960" y="1737360"/>
            <a:ext cx="640080" cy="640080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7360920" y="25146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360920" y="2971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better neighbor is left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31920"/>
            <a:ext cx="8229600" cy="640080"/>
          </a:xfrm>
          <a:prstGeom prst="roundRect">
            <a:avLst>
              <a:gd name="adj" fmla="val 21429"/>
            </a:avLst>
          </a:prstGeom>
          <a:solidFill>
            <a:srgbClr val="0F2A22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steps 2 to 5 until no better neighbor exists</a:t>
            </a:r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 Example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743200" y="1737360"/>
            <a:ext cx="1371600" cy="1097280"/>
          </a:xfrm>
          <a:prstGeom prst="line">
            <a:avLst/>
          </a:prstGeom>
          <a:noFill/>
          <a:ln w="25400">
            <a:solidFill>
              <a:srgbClr val="B7C9B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371600" y="1737360"/>
            <a:ext cx="1371600" cy="109728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flipH="1">
            <a:off x="868680" y="2834640"/>
            <a:ext cx="502920" cy="1097280"/>
          </a:xfrm>
          <a:prstGeom prst="line">
            <a:avLst/>
          </a:prstGeom>
          <a:noFill/>
          <a:ln w="50800">
            <a:solidFill>
              <a:srgbClr val="F28C2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1208" y="3584448"/>
            <a:ext cx="694944" cy="694944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024128" y="2487168"/>
            <a:ext cx="694944" cy="694944"/>
          </a:xfrm>
          <a:prstGeom prst="ellipse">
            <a:avLst/>
          </a:prstGeom>
          <a:solidFill>
            <a:srgbClr val="1F5F4A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3767328" y="2487168"/>
            <a:ext cx="694944" cy="694944"/>
          </a:xfrm>
          <a:prstGeom prst="ellipse">
            <a:avLst/>
          </a:prstGeom>
          <a:solidFill>
            <a:srgbClr val="9DB3A8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2395728" y="1389888"/>
            <a:ext cx="694944" cy="694944"/>
          </a:xfrm>
          <a:prstGeom prst="ellipse">
            <a:avLst/>
          </a:prstGeom>
          <a:solidFill>
            <a:srgbClr val="F28C28"/>
          </a:solidFill>
          <a:ln w="38100">
            <a:solidFill>
              <a:srgbClr val="F4F8F5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F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44348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Amber path = moves taken by the algorithm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120640" y="123444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 →  20  →  30</a:t>
            </a:r>
            <a:endParaRPr lang="en-US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5120640" y="214884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10. Neighbor 20 is better, so move.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20, neighbor 30 is better, so move again.</a:t>
            </a:r>
            <a:endParaRPr lang="en-US" sz="15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has no better neighbor, so the algorithm stops.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120640" y="3657600"/>
            <a:ext cx="3566160" cy="822960"/>
          </a:xfrm>
          <a:prstGeom prst="roundRect">
            <a:avLst>
              <a:gd name="adj" fmla="val 13333"/>
            </a:avLst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349240" y="36576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move improves the value. The search never steps downhill.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Types of Hill Climbing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862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62940" y="1508760"/>
            <a:ext cx="640080" cy="64008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" y="166420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6294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Simple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66294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the first better neighboring state it finds.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6294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66294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per step, but may make poor moves.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6898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43300" y="1508760"/>
            <a:ext cx="640080" cy="64008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8748" y="16642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4330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Steepest-Ascent</a:t>
            </a:r>
            <a:endParaRPr lang="en-US" sz="1900" dirty="0"/>
          </a:p>
        </p:txBody>
      </p:sp>
      <p:sp>
        <p:nvSpPr>
          <p:cNvPr id="14" name="Text 10"/>
          <p:cNvSpPr txBox="1"/>
          <p:nvPr/>
        </p:nvSpPr>
        <p:spPr>
          <a:xfrm>
            <a:off x="354330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Examines all neighbors and selects the best one.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354330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354330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thorough, but costlier per step.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49340" y="1280160"/>
            <a:ext cx="2606040" cy="320040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23660" y="1508760"/>
            <a:ext cx="640080" cy="64008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9108" y="166420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23660" y="228600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Stochastic</a:t>
            </a:r>
            <a:endParaRPr lang="en-US" sz="1900" dirty="0"/>
          </a:p>
        </p:txBody>
      </p:sp>
      <p:sp>
        <p:nvSpPr>
          <p:cNvPr id="21" name="Text 16"/>
          <p:cNvSpPr txBox="1"/>
          <p:nvPr/>
        </p:nvSpPr>
        <p:spPr>
          <a:xfrm>
            <a:off x="6423660" y="26974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randomly among the better neighbors.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423660" y="35661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6423660" y="37947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Randomness can help avoid getting stuck.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3566160"/>
            <a:ext cx="1828800" cy="1577340"/>
          </a:xfrm>
          <a:prstGeom prst="triangl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463040" y="3931920"/>
            <a:ext cx="1737360" cy="1211580"/>
          </a:xfrm>
          <a:prstGeom prst="triangle">
            <a:avLst/>
          </a:prstGeom>
          <a:solidFill>
            <a:srgbClr val="174A39"/>
          </a:solidFill>
          <a:ln w="12700">
            <a:solidFill>
              <a:srgbClr val="174A3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640080"/>
            <a:ext cx="822960" cy="8229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686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1691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3774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hill climbing is popular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3749040" y="59436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5344" y="7406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26280" y="54864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to understand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526280" y="85039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learn, with a clear "climb uphill" idea.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749040" y="141732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95344" y="1563624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526280" y="137160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memory requirement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4526280" y="167335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only the current state, so O(1) extra space.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749040" y="224028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344" y="2386584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4526280" y="219456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for some problems</a:t>
            </a:r>
            <a:endParaRPr lang="en-US" sz="1600" dirty="0"/>
          </a:p>
        </p:txBody>
      </p:sp>
      <p:sp>
        <p:nvSpPr>
          <p:cNvPr id="20" name="Text 14"/>
          <p:cNvSpPr txBox="1"/>
          <p:nvPr/>
        </p:nvSpPr>
        <p:spPr>
          <a:xfrm>
            <a:off x="4526280" y="249631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to reach a useful solution with a good heuristic.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3749040" y="306324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95344" y="3209544"/>
            <a:ext cx="256032" cy="25603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4526280" y="301752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Suitable for optimization</a:t>
            </a:r>
            <a:endParaRPr lang="en-US" sz="1600" dirty="0"/>
          </a:p>
        </p:txBody>
      </p:sp>
      <p:sp>
        <p:nvSpPr>
          <p:cNvPr id="24" name="Text 17"/>
          <p:cNvSpPr txBox="1"/>
          <p:nvPr/>
        </p:nvSpPr>
        <p:spPr>
          <a:xfrm>
            <a:off x="4526280" y="331927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a solution step by step.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3749040" y="3886200"/>
            <a:ext cx="548640" cy="548640"/>
          </a:xfrm>
          <a:prstGeom prst="ellipse">
            <a:avLst/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5344" y="4032504"/>
            <a:ext cx="256032" cy="25603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4526280" y="3840480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600" dirty="0"/>
          </a:p>
        </p:txBody>
      </p:sp>
      <p:sp>
        <p:nvSpPr>
          <p:cNvPr id="28" name="Text 20"/>
          <p:cNvSpPr txBox="1"/>
          <p:nvPr/>
        </p:nvSpPr>
        <p:spPr>
          <a:xfrm>
            <a:off x="4526280" y="4142232"/>
            <a:ext cx="4206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basic algorithm needs only simple logic.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65760" y="1234440"/>
            <a:ext cx="512064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graphicFrame>
        <p:nvGraphicFramePr>
          <p:cNvPr id="4" name="Chart 0"/>
          <p:cNvGraphicFramePr/>
          <p:nvPr/>
        </p:nvGraphicFramePr>
        <p:xfrm>
          <a:off x="365760" y="1234440"/>
          <a:ext cx="51206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1442923" y="2734056"/>
            <a:ext cx="201168" cy="201168"/>
          </a:xfrm>
          <a:prstGeom prst="ellipse">
            <a:avLst/>
          </a:prstGeom>
          <a:solidFill>
            <a:srgbClr val="B45F0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208069" y="1773936"/>
            <a:ext cx="201168" cy="201168"/>
          </a:xfrm>
          <a:prstGeom prst="ellipse">
            <a:avLst/>
          </a:prstGeom>
          <a:solidFill>
            <a:srgbClr val="1F5F4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57707" y="2377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45F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3622853" y="1417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maximum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2223821" y="30175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1307592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0448" y="1417320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6355080" y="12344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6355080" y="1490472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than its neighbors, but not the global best.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760720" y="1965960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0448" y="2075688"/>
            <a:ext cx="237744" cy="23774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355080" y="18928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400" dirty="0"/>
          </a:p>
        </p:txBody>
      </p:sp>
      <p:sp>
        <p:nvSpPr>
          <p:cNvPr id="17" name="Text 12"/>
          <p:cNvSpPr txBox="1"/>
          <p:nvPr/>
        </p:nvSpPr>
        <p:spPr>
          <a:xfrm>
            <a:off x="6355080" y="214884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Neighbors share the same value, so no direction is clear.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760720" y="2624328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448" y="2734056"/>
            <a:ext cx="237744" cy="237744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6355080" y="2551176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6355080" y="280720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best path needs moves that are not immediately better.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760720" y="3282696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0448" y="3392424"/>
            <a:ext cx="237744" cy="23774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6355080" y="32095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guarantee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6355080" y="3465576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stop before finding the global optimum.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760720" y="3941064"/>
            <a:ext cx="457200" cy="457200"/>
          </a:xfrm>
          <a:prstGeom prst="ellipse">
            <a:avLst/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70448" y="405079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355080" y="3867912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function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6355080" y="4123944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poor one sends the search the wrong way.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Overcome the Limits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23444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2880360" y="1490472"/>
            <a:ext cx="548640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566160" y="123444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3794760" y="13258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Random-restart hill climbing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3794760" y="169164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from many random start states and keep the best result.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24028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1F5F4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maximum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2880360" y="2496312"/>
            <a:ext cx="548640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224028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794760" y="23317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 annealing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794760" y="26974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Occasionally accept worse moves so the search can escape a peak.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3246120"/>
            <a:ext cx="2286000" cy="868680"/>
          </a:xfrm>
          <a:prstGeom prst="roundRect">
            <a:avLst>
              <a:gd name="adj" fmla="val 12632"/>
            </a:avLst>
          </a:prstGeom>
          <a:solidFill>
            <a:srgbClr val="2E7D5B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Plateau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2880360" y="3502152"/>
            <a:ext cx="548640" cy="365760"/>
          </a:xfrm>
          <a:prstGeom prst="rightArrow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3246120"/>
            <a:ext cx="512064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3794760" y="33375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Sideways moves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794760" y="370332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 equal-valued moves, with a limit, to cross flat regions.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is neither complete nor guaranteed optimal. These add-ons reduce the risk but do not remove it.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388620" y="12801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17220" y="150876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" y="1655064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284732" y="1481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Problems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1722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Scheduling, resource allocation and parameter tuning.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68980" y="12801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497580" y="150876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3884" y="165506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165092" y="1481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9758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for a useful subset of features in machine learning.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149340" y="128016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377940" y="150876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4244" y="1655064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045452" y="148132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Path Planning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377940" y="2194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local evaluation to pick a promising direction.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8862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7220" y="324612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3524" y="3392424"/>
            <a:ext cx="256032" cy="256032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84732" y="32186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Playing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1722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and improve possible game states.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26898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3497580" y="324612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3884" y="3392424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4165092" y="32186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9758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small changes that cut clashes, e.g. timetables.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6149340" y="30175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377940" y="3246120"/>
            <a:ext cx="548640" cy="548640"/>
          </a:xfrm>
          <a:prstGeom prst="ellips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4244" y="3392424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45452" y="3218688"/>
            <a:ext cx="1600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Optimization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377940" y="3931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568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parameters in engineering and computational problems.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 vs Disadvantages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DCEBE2"/>
          </a:solidFill>
          <a:ln w="12700">
            <a:solidFill>
              <a:srgbClr val="DCEBE2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536192"/>
            <a:ext cx="365760" cy="36576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3444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F5F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algorithm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implement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relatively little memory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fast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optimization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663440" y="1280160"/>
            <a:ext cx="4023360" cy="3108960"/>
          </a:xfrm>
          <a:prstGeom prst="roundRect">
            <a:avLst>
              <a:gd name="adj" fmla="val 3529"/>
            </a:avLst>
          </a:prstGeom>
          <a:solidFill>
            <a:srgbClr val="FBE9D5"/>
          </a:solidFill>
          <a:ln w="12700">
            <a:solidFill>
              <a:srgbClr val="FBE9D5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36192"/>
            <a:ext cx="365760" cy="3657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40680" y="1463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F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Disadvantages</a:t>
            </a:r>
            <a:endParaRPr lang="en-US" sz="2200" dirty="0"/>
          </a:p>
        </p:txBody>
      </p:sp>
      <p:sp>
        <p:nvSpPr>
          <p:cNvPr id="10" name="Text 6"/>
          <p:cNvSpPr txBox="1"/>
          <p:nvPr/>
        </p:nvSpPr>
        <p:spPr>
          <a:xfrm>
            <a:off x="4937760" y="2194560"/>
            <a:ext cx="34747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get stuck at a local maximum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face plateaus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face ridges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guaranteed to find the global optimum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1B2B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the evaluation function</a:t>
            </a:r>
            <a:endParaRPr lang="en-US" sz="15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1280160" y="14630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greedy local search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87452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move to a better neighboring state until none remains.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1460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25146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memory-light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92608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can stall at local maxima, plateaus and ridges.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566160"/>
            <a:ext cx="640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F28C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35661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variants help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97764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E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restarts, simulated annealing and sideways moves.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63840" y="548640"/>
            <a:ext cx="640080" cy="64008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35040" y="2194560"/>
            <a:ext cx="3108960" cy="2948940"/>
          </a:xfrm>
          <a:prstGeom prst="triangle">
            <a:avLst/>
          </a:prstGeom>
          <a:solidFill>
            <a:srgbClr val="1F5F4A"/>
          </a:solidFill>
          <a:ln w="12700">
            <a:solidFill>
              <a:srgbClr val="1F5F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3566160"/>
            <a:ext cx="2011680" cy="1577340"/>
          </a:xfrm>
          <a:prstGeom prst="triangle">
            <a:avLst/>
          </a:prstGeom>
          <a:solidFill>
            <a:srgbClr val="174A39"/>
          </a:solidFill>
          <a:ln w="12700">
            <a:solidFill>
              <a:srgbClr val="174A3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52360" y="2057400"/>
            <a:ext cx="274320" cy="274320"/>
          </a:xfrm>
          <a:prstGeom prst="ellipse">
            <a:avLst/>
          </a:prstGeom>
          <a:solidFill>
            <a:srgbClr val="F28C28"/>
          </a:solidFill>
          <a:ln w="1905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968</Words>
  <Application>Microsoft Office PowerPoint</Application>
  <PresentationFormat>On-screen Show (16:9)</PresentationFormat>
  <Paragraphs>150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Hill Climbing Algorithm</dc:title>
  <dc:subject>PptxGenJS Presentation</dc:subject>
  <dc:creator>PptxGenJS</dc:creator>
  <cp:lastModifiedBy>Microsoft account</cp:lastModifiedBy>
  <cp:revision>1</cp:revision>
  <dcterms:created xsi:type="dcterms:W3CDTF">2026-09-24T00:49:21Z</dcterms:created>
  <dcterms:modified xsi:type="dcterms:W3CDTF">2026-09-24T00:51:49Z</dcterms:modified>
</cp:coreProperties>
</file>