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5b2922e-731c-f0bf-ff0d-ca805064e6b5}">
          <p14:sldIdLst>
            <p14:sldId id="256"/>
            <p14:sldId id="257"/>
          </p14:sldIdLst>
        </p14:section>
        <p14:section name="The Data" id="{f823edef-0b63-db02-e095-5f4b985c7213}">
          <p14:sldIdLst>
            <p14:sldId id="258"/>
            <p14:sldId id="259"/>
          </p14:sldIdLst>
        </p14:section>
        <p14:section name="The Function" id="{4cdb4e36-9458-93f1-3808-c1ed1ddc029e}">
          <p14:sldIdLst>
            <p14:sldId id="260"/>
            <p14:sldId id="261"/>
          </p14:sldIdLst>
        </p14:section>
        <p14:section name="The Loop" id="{1fd19526-3e2e-9f99-1101-4c031fd606ea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he Result" id="{3695c268-8341-e0af-11fb-5817369cba24}">
          <p14:sldIdLst>
            <p14:sldId id="268"/>
            <p14:sldId id="269"/>
            <p14:sldId id="270"/>
          </p14:sldIdLst>
        </p14:section>
        <p14:section name="Recap" id="{169fe140-a072-cbbf-6fb6-1f02b3e8436c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3C49"/>
                </a:solidFill>
                <a:latin typeface="+mn-lt"/>
              </a:rPr>
              <a:t>Heuristic value along the path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h(n)</c:v>
                </c:pt>
              </c:strCache>
            </c:strRef>
          </c:tx>
          <c:spPr>
            <a:solidFill>
              <a:srgbClr val="12707F"/>
            </a:solidFill>
            <a:ln w="38100" cap="flat">
              <a:solidFill>
                <a:srgbClr val="12707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7262B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12707F"/>
              </a:solidFill>
              <a:ln w="9525" cap="flat">
                <a:solidFill>
                  <a:srgbClr val="12707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Vijaynagar</c:v>
                  </c:pt>
                  <c:pt idx="1">
                    <c:v>Bengali Square</c:v>
                  </c:pt>
                  <c:pt idx="2">
                    <c:v>Rau</c:v>
                  </c:pt>
                  <c:pt idx="3">
                    <c:v>CDGI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7262B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6350" cap="flat">
              <a:solidFill>
                <a:srgbClr val="D5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A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explains the Python hill-climbing program step by step, using the Vijaynagar to CDGI example. The circles show the heuristic values along the final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Input: a start and a goal. Output: the path found by always moving to the neighbour with the lowest heuristic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dictionary is the search space. It tells the algorithm which locations are connected.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 is the estimated distance or cost from each location to CDGI. Lower h means closer to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whole function once. The next slides explain it piece by piece.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the function, set the current location, and create the path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runs while current is not the goal. At the start Vijaynagar != CDGI is True; at the end CDGI != CDGI is False.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neighbors = graph[current] lists where we can go. min() with key=h[x] picks the neighbour with the smallest heuristic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print statements let students see the decision-making process at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best neighbour is not better than the current state, hill climbing is stuck. Possible causes are a local optimum, a plateau or a 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becomes the best neighbour and is appended to the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 1 picks Bengali Square (8), iteration 2 picks Rau (4), iteration 3 picks CDGI (0).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function returns the path list; join() turns it into a readable arrow-separated string.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chosen path is highlighted: Vijaynagar, Bengali Square, Rau, CDGI. MR-10 and Bypass are never visited.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Along the chosen path the heuristic falls from 12 to 8 to 4 to 0, so each move gets closer to the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algorithm in seven steps, plus the key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Hill Climbing  |  Vijaynagar → CDGI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Hill Climbing in Code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Line-by-line explanation: Vijaynagar → CDGI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4069080"/>
            <a:ext cx="155448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11880" y="4069080"/>
            <a:ext cx="155448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0" y="4069080"/>
            <a:ext cx="1554480" cy="0"/>
          </a:xfrm>
          <a:prstGeom prst="line">
            <a:avLst/>
          </a:prstGeom>
          <a:noFill/>
          <a:ln w="254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3749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3749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3749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360920" y="37490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h(n) falls at every step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Program Does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743200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INPUT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"Vijaynagar"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= "CDGI"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46120" y="224028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3657600" y="192024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hill_climbing()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32120" y="224028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943600" y="1371600"/>
            <a:ext cx="2743200" cy="1737360"/>
          </a:xfrm>
          <a:prstGeom prst="roundRect">
            <a:avLst>
              <a:gd name="adj" fmla="val 5263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26480" y="13716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 (path)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Vijaynagar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Bengali Square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Rau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→ CDGI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Hill Climbing looks at the neighbouring states and chooses the one that appears closest to the goal.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1: Creating the Graph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DATA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754880" cy="2148840"/>
          </a:xfrm>
          <a:prstGeom prst="roundRect">
            <a:avLst>
              <a:gd name="adj" fmla="val 3404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{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"Vijaynagar": ["Bengali Square", "MR-10"],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"Bengali Square": ["Vijaynagar", "Rau"],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"MR-10": ["Vijaynagar", "Bypass"],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"Rau": ["Bengali Square", "CDGI"],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"Bypass": ["MR-10", "CDGI"],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"CDGI": ["Rau", "Bypass"]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3611880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36118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graph tells the algorithm which locations are connected. From Vijaynagar there are two choices.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532120" y="1188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SEARCH SPACE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H="1">
            <a:off x="6217920" y="2011680"/>
            <a:ext cx="86868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86600" y="2011680"/>
            <a:ext cx="86868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283464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55280" y="2834640"/>
            <a:ext cx="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3657600"/>
            <a:ext cx="86868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H="1">
            <a:off x="7086600" y="3657600"/>
            <a:ext cx="868680" cy="365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155448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Vijaynagar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532120" y="237744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Bengali Square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69480" y="237744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MR-10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532120" y="320040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Rau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320040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Bypass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02336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2: Heuristic Values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DATA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023360" cy="256032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{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"Vijaynagar": 12,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"Bengali Square": 8,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"MR-10": 10,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"Rau": 4,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"Bypass": 6,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"CDGI": 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Location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h(n)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Vijaynagar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Bengali Square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MR-10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Rau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Bypass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CDGI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alpha val="4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Lower h(n) = closer to the goal = better choice.  h(CDGI) = 0 because CDGI is the goal.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Complete Function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FUNCTION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822960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hill_climbing(start, goal):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start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 = [current]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current != goal: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neighbors = graph[current]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best_neighbor = min(neighbors, key=lambda x: h[x])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print(f"\nCurrent: {current}")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print("Neighbors:")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neighbor in neighbors: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print(f"  {neighbor} -&gt; h = {h[neighbor]}")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print(f"Selected: {best_neighbor}")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h[best_neighbor] &gt;= h[current]: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print("\nNo better neighboring state found.")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print("Hill Climbing is stuck!")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path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current = best_neighbor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path.append(current)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path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3–5: Function Setup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FUNCTION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27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63040"/>
            <a:ext cx="33832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hill_climbing(start, goal):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280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function with two inputs: start (where we begin) and goal (where we want to reach).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2560320"/>
            <a:ext cx="33832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start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37744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Initially current = Vijaynagar, so the search begins there.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657600"/>
            <a:ext cx="338328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[current]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347472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path starts as [Vijaynagar] and grows with every move, ending as Vijaynagar, Bengali Square, Rau, CDGI.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6: Keep Going Until the Goal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LOOP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5720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current != goal: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searching as long as the current location is not CDGI.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 the start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97180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Vijaynagar != CDGI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468880" y="347472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Text 8"/>
          <p:cNvSpPr txBox="1"/>
          <p:nvPr/>
        </p:nvSpPr>
        <p:spPr>
          <a:xfrm>
            <a:off x="640080" y="379476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True: continue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237744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At the end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97180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CDGI != CDGI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75120" y="347472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4846320" y="379476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False: loop stops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7–8: Neighbors and Best Neighbor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LOOP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 = graph[current]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best_neighbor = min(neighbors, key=lambda x: h[x])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7. Where can I go?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Vijaynagar, graph gives two neighbours: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33756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Bengali Square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60320" y="3337560"/>
            <a:ext cx="173736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MR-10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237744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8. Pick the lowest 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92608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Bengali Square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 = 8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292608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MR-10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h = 10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8 &lt; 10, so the best neighbour is Bengali Square.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9–11: Showing the Decision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LOOP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CODE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00200"/>
            <a:ext cx="448056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print(f"\nCurrent: {current}")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print("Neighbors:")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neighbor in neighbors: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  {neighbor} -&gt; h = {h[neighbor]}")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print(f"Selected: {best_neighbor}")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83480" y="2514600"/>
            <a:ext cx="32004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5394960" y="1280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OUTPUT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394960" y="1600200"/>
            <a:ext cx="329184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Current: Vijaynagar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Neighbors: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Bengali Square -&gt; h = 8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MR-10 -&gt; h = 10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Selected: Bengali Square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algorithm has decided: Vijaynagar → Bengali Square.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12–13: Is the Move Better?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LOOP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h[best_neighbor] &gt;= h[current]: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280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 h = better. Is the neighbour really better?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4028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Better: continue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h(Vijaynagar) = 12 and h(Bengali Square) = 8. Since 8 &lt; 12, the search moves 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63440" y="224028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Not better: stuck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7432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Prints “Hill Climbing is stuck!” and returns the path found so far.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Why it can get stuck: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Local optimum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Plateau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3977640"/>
            <a:ext cx="1920240" cy="502920"/>
          </a:xfrm>
          <a:prstGeom prst="roundRect">
            <a:avLst>
              <a:gd name="adj" fmla="val 14545"/>
            </a:avLst>
          </a:prstGeom>
          <a:solidFill>
            <a:schemeClr val="accent4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Ridge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 14: Move to the Better Location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LOOP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40233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= best_neighbor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path.append(current)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4023360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60604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current is now Bengali Square, and path.append adds it to the path.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path grows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874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BEFORE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214884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Vijaynagar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0" y="2697480"/>
            <a:ext cx="0" cy="3200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846320" y="3154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AFTER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3429000"/>
            <a:ext cx="365760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Vijaynagar → Bengali Square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Three Iterations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LOOP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3017520"/>
                <a:gridCol w="15544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Current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Neighbours (h)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Chosen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Check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Vijaynagar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Bengali Square (8), MR-10 (10)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Bengali Square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&lt; 12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Bengali Square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Vijaynagar (12), Rau (4)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Rau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&lt; 8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Rau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Bengali Square (8), CDGI (0)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CDGI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&lt; 4</a:t>
                      </a:r>
                      <a:endParaRPr lang="en-US" sz="1400" dirty="0"/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Now current = CDGI, so  CDGI != CDGI  is False and the loop stops.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Steps 17–19: Return and Display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RESULT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5661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Return and call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320040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path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"Vijaynagar"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 = "CDGI"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hill_climbing(start, goal)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function returns the list of four locations.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06240" y="1280160"/>
            <a:ext cx="4480560" cy="32004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38912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Display with join()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1828800"/>
            <a:ext cx="41148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print("\n----------------------------")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print("Final Path:")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 -&gt; ".join(path))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print("----------------------------")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46520" y="3063240"/>
            <a:ext cx="0" cy="2743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389120" y="3383280"/>
            <a:ext cx="411480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Path: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Vijaynagar -&gt; Bengali Square -&gt; Rau -&gt; CDGI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Algorithm in One Picture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RESULT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 flipH="1">
            <a:off x="1737360" y="1801368"/>
            <a:ext cx="1371600" cy="301752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108960" y="1801368"/>
            <a:ext cx="1371600" cy="30175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737360" y="2670048"/>
            <a:ext cx="0" cy="301752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80560" y="2670048"/>
            <a:ext cx="0" cy="30175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737360" y="3538728"/>
            <a:ext cx="1371600" cy="301752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3108960" y="3538728"/>
            <a:ext cx="1371600" cy="301752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123444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Vijaynagar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 = 12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10312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Bengali Square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 = 8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0" y="210312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MR-10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 = 10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97180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Rau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 = 4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57600" y="297180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Bypass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 = 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286000" y="3840480"/>
            <a:ext cx="164592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CDGI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 = 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43600" y="128016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80760" y="12801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Vijaynagar, h = 12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943600" y="237744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80760" y="23774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Each step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to the neighbour with the lowest h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943600" y="3474720"/>
            <a:ext cx="2743200" cy="914400"/>
          </a:xfrm>
          <a:prstGeom prst="roundRect">
            <a:avLst>
              <a:gd name="adj" fmla="val 1000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80760" y="34747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CDGI, h = 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h(n) Drops at Every Step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THE RESULT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603504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217920" y="12801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12 → 8 → 4 →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move lowers h.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035040" y="3017520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accent2">
              <a:alpha val="4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3017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The search never moves to a worse state.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Students Should Remember</a:t>
            </a:r>
            <a:endParaRPr lang="en-US" sz="3200" dirty="0"/>
          </a:p>
        </p:txBody>
      </p:sp>
      <p:sp>
        <p:nvSpPr>
          <p:cNvPr id="3" name="Section tag"/>
          <p:cNvSpPr txBox="1"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RECAP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80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2801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at Vijaynagar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84832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21854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20848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Look at neighbouring locations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889504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29900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88950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h(n)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694176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369417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Select the neighbour with the lowest h(n)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754880" y="1280160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64608" y="1380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128016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Move there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754880" y="2084832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864608" y="218541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0" y="208483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Repeat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754880" y="2889504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accent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64608" y="2990088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0" y="288950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Stop when CDGI is reached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754880" y="3694176"/>
            <a:ext cx="3931920" cy="658368"/>
          </a:xfrm>
          <a:prstGeom prst="roundRect">
            <a:avLst>
              <a:gd name="adj" fmla="val 13889"/>
            </a:avLst>
          </a:prstGeom>
          <a:solidFill>
            <a:schemeClr val="accent4">
              <a:alpha val="15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937760" y="36941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Limitation: with no better neighbour, it gets stuck.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DGI Route">
  <a:themeElements>
    <a:clrScheme name="CDGI Route">
      <a:dk1>
        <a:srgbClr val="17262B"/>
      </a:dk1>
      <a:lt1>
        <a:srgbClr val="FFFFFF"/>
      </a:lt1>
      <a:dk2>
        <a:srgbClr val="0B3C49"/>
      </a:dk2>
      <a:lt2>
        <a:srgbClr val="EAF3F4"/>
      </a:lt2>
      <a:accent1>
        <a:srgbClr val="12707F"/>
      </a:accent1>
      <a:accent2>
        <a:srgbClr val="F29F05"/>
      </a:accent2>
      <a:accent3>
        <a:srgbClr val="2E8B57"/>
      </a:accent3>
      <a:accent4>
        <a:srgbClr val="C8553D"/>
      </a:accent4>
      <a:accent5>
        <a:srgbClr val="4A6A7D"/>
      </a:accent5>
      <a:accent6>
        <a:srgbClr val="7A5C8E"/>
      </a:accent6>
      <a:hlink>
        <a:srgbClr val="12707F"/>
      </a:hlink>
      <a:folHlink>
        <a:srgbClr val="7A5C8E"/>
      </a:folHlink>
    </a:clrScheme>
    <a:fontScheme name="CDGI Rou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 Climbing: Code Explanation</dc:title>
  <dc:subject>PptxGenJS Presentation</dc:subject>
  <dc:creator>PptxGenJS</dc:creator>
  <cp:lastModifiedBy>PptxGenJS</cp:lastModifiedBy>
  <cp:revision>1</cp:revision>
  <dcterms:created xsi:type="dcterms:W3CDTF">2026-10-04T11:46:48Z</dcterms:created>
  <dcterms:modified xsi:type="dcterms:W3CDTF">2026-10-04T11:46:48Z</dcterms:modified>
</cp:coreProperties>
</file>