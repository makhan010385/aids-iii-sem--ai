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5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348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10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ln w="25400">
            <a:solidFill>
              <a:srgbClr val="2C36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-1280160"/>
            <a:ext cx="4023360" cy="4023360"/>
          </a:xfrm>
          <a:prstGeom prst="ellipse">
            <a:avLst/>
          </a:prstGeom>
          <a:ln w="25400">
            <a:solidFill>
              <a:srgbClr val="2C3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-548640"/>
            <a:ext cx="2560320" cy="2560320"/>
          </a:xfrm>
          <a:prstGeom prst="ellipse">
            <a:avLst/>
          </a:prstGeom>
          <a:ln w="25400">
            <a:solidFill>
              <a:srgbClr val="E8B1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AD304 — ARTIFICIAL INTELLIGENCE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II: Knowledge Representation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1280160" cy="0"/>
          </a:xfrm>
          <a:prstGeom prst="line">
            <a:avLst/>
          </a:prstGeom>
          <a:noFill/>
          <a:ln w="38100">
            <a:solidFill>
              <a:srgbClr val="E8B1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79476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representing a single fact to proving a conclusion: logic, inference, and reasoning under changing knowledge.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029200"/>
            <a:ext cx="1965960" cy="566928"/>
          </a:xfrm>
          <a:prstGeom prst="roundRect">
            <a:avLst>
              <a:gd name="adj" fmla="val 16129"/>
            </a:avLst>
          </a:prstGeom>
          <a:solidFill>
            <a:srgbClr val="E8B14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02920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5400000">
            <a:off x="2514600" y="5230368"/>
            <a:ext cx="164592" cy="164592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2679192" y="5029200"/>
            <a:ext cx="1965960" cy="566928"/>
          </a:xfrm>
          <a:prstGeom prst="roundRect">
            <a:avLst>
              <a:gd name="adj" fmla="val 16129"/>
            </a:avLst>
          </a:prstGeom>
          <a:solidFill>
            <a:srgbClr val="2A3572"/>
          </a:solidFill>
          <a:ln/>
        </p:spPr>
      </p:sp>
      <p:sp>
        <p:nvSpPr>
          <p:cNvPr id="13" name="Text 11"/>
          <p:cNvSpPr/>
          <p:nvPr/>
        </p:nvSpPr>
        <p:spPr>
          <a:xfrm>
            <a:off x="2679192" y="502920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(Logic)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rot="5400000">
            <a:off x="4645152" y="5230368"/>
            <a:ext cx="164592" cy="164592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4809744" y="5029200"/>
            <a:ext cx="1965960" cy="566928"/>
          </a:xfrm>
          <a:prstGeom prst="roundRect">
            <a:avLst>
              <a:gd name="adj" fmla="val 16129"/>
            </a:avLst>
          </a:prstGeom>
          <a:solidFill>
            <a:srgbClr val="2A3572"/>
          </a:solidFill>
          <a:ln/>
        </p:spPr>
      </p:sp>
      <p:sp>
        <p:nvSpPr>
          <p:cNvPr id="16" name="Text 14"/>
          <p:cNvSpPr/>
          <p:nvPr/>
        </p:nvSpPr>
        <p:spPr>
          <a:xfrm>
            <a:off x="4809744" y="502920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5400000">
            <a:off x="6775704" y="5230368"/>
            <a:ext cx="164592" cy="164592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0296" y="5029200"/>
            <a:ext cx="1965960" cy="566928"/>
          </a:xfrm>
          <a:prstGeom prst="roundRect">
            <a:avLst>
              <a:gd name="adj" fmla="val 16129"/>
            </a:avLst>
          </a:prstGeom>
          <a:solidFill>
            <a:srgbClr val="2A3572"/>
          </a:solidFill>
          <a:ln/>
        </p:spPr>
      </p:sp>
      <p:sp>
        <p:nvSpPr>
          <p:cNvPr id="19" name="Text 17"/>
          <p:cNvSpPr/>
          <p:nvPr/>
        </p:nvSpPr>
        <p:spPr>
          <a:xfrm>
            <a:off x="6940296" y="502920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rot="5400000">
            <a:off x="8906256" y="5230368"/>
            <a:ext cx="164592" cy="164592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21" name="Shape 19"/>
          <p:cNvSpPr/>
          <p:nvPr/>
        </p:nvSpPr>
        <p:spPr>
          <a:xfrm>
            <a:off x="9070848" y="5029200"/>
            <a:ext cx="1965960" cy="566928"/>
          </a:xfrm>
          <a:prstGeom prst="roundRect">
            <a:avLst>
              <a:gd name="adj" fmla="val 16129"/>
            </a:avLst>
          </a:prstGeom>
          <a:solidFill>
            <a:srgbClr val="2A3572"/>
          </a:solidFill>
          <a:ln/>
        </p:spPr>
      </p:sp>
      <p:sp>
        <p:nvSpPr>
          <p:cNvPr id="22" name="Text 20"/>
          <p:cNvSpPr/>
          <p:nvPr/>
        </p:nvSpPr>
        <p:spPr>
          <a:xfrm>
            <a:off x="9070848" y="502920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Change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AD304 · Artificial Intelligence · Unit II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continuous chain of ideas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can be taught end-to-end: each stage feeds the next.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035454" cy="3383280"/>
          </a:xfrm>
          <a:prstGeom prst="roundRect">
            <a:avLst>
              <a:gd name="adj" fmla="val 3594"/>
            </a:avLst>
          </a:prstGeom>
          <a:solidFill>
            <a:srgbClr val="F3F6FD"/>
          </a:solidFill>
          <a:ln/>
        </p:spPr>
      </p:sp>
      <p:sp>
        <p:nvSpPr>
          <p:cNvPr id="6" name="Shape 4"/>
          <p:cNvSpPr/>
          <p:nvPr/>
        </p:nvSpPr>
        <p:spPr>
          <a:xfrm>
            <a:off x="1200607" y="24688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kr_deck/icon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390" y="2556662"/>
            <a:ext cx="555955" cy="55595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383280"/>
            <a:ext cx="176113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13232" y="4114800"/>
            <a:ext cx="170627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and rules become symbols an AI can store.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 rot="5400000">
            <a:off x="2597810" y="2734056"/>
            <a:ext cx="201168" cy="201168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2812694" y="2148840"/>
            <a:ext cx="2035454" cy="3383280"/>
          </a:xfrm>
          <a:prstGeom prst="roundRect">
            <a:avLst>
              <a:gd name="adj" fmla="val 3594"/>
            </a:avLst>
          </a:prstGeom>
          <a:solidFill>
            <a:srgbClr val="F3F6FD"/>
          </a:solidFill>
          <a:ln/>
        </p:spPr>
      </p:sp>
      <p:sp>
        <p:nvSpPr>
          <p:cNvPr id="12" name="Shape 9"/>
          <p:cNvSpPr/>
          <p:nvPr/>
        </p:nvSpPr>
        <p:spPr>
          <a:xfrm>
            <a:off x="3464662" y="2468880"/>
            <a:ext cx="731520" cy="731520"/>
          </a:xfrm>
          <a:prstGeom prst="ellipse">
            <a:avLst/>
          </a:prstGeom>
          <a:solidFill>
            <a:srgbClr val="2E3A82"/>
          </a:solidFill>
          <a:ln/>
        </p:spPr>
      </p:sp>
      <p:pic>
        <p:nvPicPr>
          <p:cNvPr id="13" name="Image 1" descr="/home/claude/kr_deck/icon_tog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444" y="2556662"/>
            <a:ext cx="555955" cy="55595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49854" y="3383280"/>
            <a:ext cx="176113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with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2977286" y="4114800"/>
            <a:ext cx="170627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Propositional &amp; predicate logic formalize statements.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 rot="5400000">
            <a:off x="4861865" y="2734056"/>
            <a:ext cx="201168" cy="201168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7" name="Shape 13"/>
          <p:cNvSpPr/>
          <p:nvPr/>
        </p:nvSpPr>
        <p:spPr>
          <a:xfrm>
            <a:off x="5076749" y="2148840"/>
            <a:ext cx="2035454" cy="3383280"/>
          </a:xfrm>
          <a:prstGeom prst="roundRect">
            <a:avLst>
              <a:gd name="adj" fmla="val 3594"/>
            </a:avLst>
          </a:prstGeom>
          <a:solidFill>
            <a:srgbClr val="F3F6FD"/>
          </a:solidFill>
          <a:ln/>
        </p:spPr>
      </p:sp>
      <p:sp>
        <p:nvSpPr>
          <p:cNvPr id="18" name="Shape 14"/>
          <p:cNvSpPr/>
          <p:nvPr/>
        </p:nvSpPr>
        <p:spPr>
          <a:xfrm>
            <a:off x="5728716" y="2468880"/>
            <a:ext cx="731520" cy="731520"/>
          </a:xfrm>
          <a:prstGeom prst="ellipse">
            <a:avLst/>
          </a:prstGeom>
          <a:solidFill>
            <a:srgbClr val="3A4B9E"/>
          </a:solidFill>
          <a:ln/>
        </p:spPr>
      </p:sp>
      <p:pic>
        <p:nvPicPr>
          <p:cNvPr id="19" name="Image 2" descr="/home/claude/kr_deck/icon_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6498" y="2556662"/>
            <a:ext cx="555955" cy="55595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13909" y="3383280"/>
            <a:ext cx="176113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 New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5241341" y="4114800"/>
            <a:ext cx="170627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derives conclusions from facts + rules.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 rot="5400000">
            <a:off x="7125919" y="2734056"/>
            <a:ext cx="201168" cy="201168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23" name="Shape 18"/>
          <p:cNvSpPr/>
          <p:nvPr/>
        </p:nvSpPr>
        <p:spPr>
          <a:xfrm>
            <a:off x="7340803" y="2148840"/>
            <a:ext cx="2035454" cy="3383280"/>
          </a:xfrm>
          <a:prstGeom prst="roundRect">
            <a:avLst>
              <a:gd name="adj" fmla="val 3594"/>
            </a:avLst>
          </a:prstGeom>
          <a:solidFill>
            <a:srgbClr val="F3F6FD"/>
          </a:solidFill>
          <a:ln/>
        </p:spPr>
      </p:sp>
      <p:sp>
        <p:nvSpPr>
          <p:cNvPr id="24" name="Shape 19"/>
          <p:cNvSpPr/>
          <p:nvPr/>
        </p:nvSpPr>
        <p:spPr>
          <a:xfrm>
            <a:off x="7992770" y="2468880"/>
            <a:ext cx="731520" cy="731520"/>
          </a:xfrm>
          <a:prstGeom prst="ellipse">
            <a:avLst/>
          </a:prstGeom>
          <a:solidFill>
            <a:srgbClr val="4A5CB0"/>
          </a:solidFill>
          <a:ln/>
        </p:spPr>
      </p:sp>
      <p:pic>
        <p:nvPicPr>
          <p:cNvPr id="25" name="Image 3" descr="/home/claude/kr_deck/icon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0553" y="2556662"/>
            <a:ext cx="555955" cy="55595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77963" y="3383280"/>
            <a:ext cx="176113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505395" y="4114800"/>
            <a:ext cx="170627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proving, resolution, and refutation.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 rot="5400000">
            <a:off x="9389974" y="2734056"/>
            <a:ext cx="201168" cy="201168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29" name="Shape 23"/>
          <p:cNvSpPr/>
          <p:nvPr/>
        </p:nvSpPr>
        <p:spPr>
          <a:xfrm>
            <a:off x="9604858" y="2148840"/>
            <a:ext cx="2035454" cy="3383280"/>
          </a:xfrm>
          <a:prstGeom prst="roundRect">
            <a:avLst>
              <a:gd name="adj" fmla="val 3594"/>
            </a:avLst>
          </a:prstGeom>
          <a:solidFill>
            <a:srgbClr val="1B2557"/>
          </a:solidFill>
          <a:ln/>
        </p:spPr>
      </p:sp>
      <p:sp>
        <p:nvSpPr>
          <p:cNvPr id="30" name="Shape 24"/>
          <p:cNvSpPr/>
          <p:nvPr/>
        </p:nvSpPr>
        <p:spPr>
          <a:xfrm>
            <a:off x="10256825" y="2468880"/>
            <a:ext cx="731520" cy="731520"/>
          </a:xfrm>
          <a:prstGeom prst="ellipse">
            <a:avLst/>
          </a:prstGeom>
          <a:solidFill>
            <a:srgbClr val="E8B14E"/>
          </a:solidFill>
          <a:ln/>
        </p:spPr>
      </p:sp>
      <p:pic>
        <p:nvPicPr>
          <p:cNvPr id="31" name="Image 4" descr="/home/claude/kr_deck/icon_refres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4607" y="2556662"/>
            <a:ext cx="555955" cy="55595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742018" y="3383280"/>
            <a:ext cx="176113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Changing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9769450" y="4114800"/>
            <a:ext cx="170627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vs. non-monotonic reasoning.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AD304 · Artificial Intelligence · Unit II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Representation (KR)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kr_deck/icon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71" y="1759671"/>
            <a:ext cx="430865" cy="4308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916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representing real-world knowledge in a form an AI system can store, understand, reason about, and use.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3154680"/>
            <a:ext cx="3383280" cy="3063240"/>
          </a:xfrm>
          <a:prstGeom prst="roundRect">
            <a:avLst>
              <a:gd name="adj" fmla="val 2388"/>
            </a:avLst>
          </a:prstGeom>
          <a:solidFill>
            <a:srgbClr val="F3F6FD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337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KNOWLEDGE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7490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is a student.
All students study AI.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 rot="5400000">
            <a:off x="4046220" y="4526280"/>
            <a:ext cx="320040" cy="320040"/>
          </a:xfrm>
          <a:prstGeom prst="triangle">
            <a:avLst/>
          </a:prstGeom>
          <a:solidFill>
            <a:srgbClr val="E8B14E"/>
          </a:solidFill>
          <a:ln/>
        </p:spPr>
      </p:sp>
      <p:sp>
        <p:nvSpPr>
          <p:cNvPr id="11" name="Shape 8"/>
          <p:cNvSpPr/>
          <p:nvPr/>
        </p:nvSpPr>
        <p:spPr>
          <a:xfrm>
            <a:off x="4526280" y="3154680"/>
            <a:ext cx="4206240" cy="3063240"/>
          </a:xfrm>
          <a:prstGeom prst="roundRect">
            <a:avLst>
              <a:gd name="adj" fmla="val 2388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REPRESENTATION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54880" y="3840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Student(Ravi)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754880" y="4389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∀x (Student(x) → Studies(x, AI))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754880" y="5120640"/>
            <a:ext cx="3566160" cy="0"/>
          </a:xfrm>
          <a:prstGeom prst="line">
            <a:avLst/>
          </a:prstGeom>
          <a:noFill/>
          <a:ln w="12700">
            <a:solidFill>
              <a:srgbClr val="3A46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5257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B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INFER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754880" y="5577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B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Studies(Ravi, AI)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9052560" y="3154680"/>
            <a:ext cx="2587752" cy="3063240"/>
          </a:xfrm>
          <a:prstGeom prst="roundRect">
            <a:avLst>
              <a:gd name="adj" fmla="val 2827"/>
            </a:avLst>
          </a:prstGeom>
          <a:solidFill>
            <a:srgbClr val="F3F6FD"/>
          </a:solidFill>
          <a:ln/>
        </p:spPr>
      </p:sp>
      <p:sp>
        <p:nvSpPr>
          <p:cNvPr id="19" name="Text 16"/>
          <p:cNvSpPr/>
          <p:nvPr/>
        </p:nvSpPr>
        <p:spPr>
          <a:xfrm>
            <a:off x="923544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LETS AI...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235440" y="3794760"/>
            <a:ext cx="109728" cy="109728"/>
          </a:xfrm>
          <a:prstGeom prst="ellipse">
            <a:avLst/>
          </a:prstGeom>
          <a:solidFill>
            <a:srgbClr val="E8B14E"/>
          </a:solidFill>
          <a:ln/>
        </p:spPr>
      </p:sp>
      <p:sp>
        <p:nvSpPr>
          <p:cNvPr id="21" name="Text 18"/>
          <p:cNvSpPr/>
          <p:nvPr/>
        </p:nvSpPr>
        <p:spPr>
          <a:xfrm>
            <a:off x="9436608" y="36850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facts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235440" y="4361688"/>
            <a:ext cx="109728" cy="109728"/>
          </a:xfrm>
          <a:prstGeom prst="ellipse">
            <a:avLst/>
          </a:prstGeom>
          <a:solidFill>
            <a:srgbClr val="E8B14E"/>
          </a:solidFill>
          <a:ln/>
        </p:spPr>
      </p:sp>
      <p:sp>
        <p:nvSpPr>
          <p:cNvPr id="23" name="Text 20"/>
          <p:cNvSpPr/>
          <p:nvPr/>
        </p:nvSpPr>
        <p:spPr>
          <a:xfrm>
            <a:off x="9436608" y="4251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them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9235440" y="4928616"/>
            <a:ext cx="109728" cy="109728"/>
          </a:xfrm>
          <a:prstGeom prst="ellipse">
            <a:avLst/>
          </a:prstGeom>
          <a:solidFill>
            <a:srgbClr val="E8B14E"/>
          </a:solidFill>
          <a:ln/>
        </p:spPr>
      </p:sp>
      <p:sp>
        <p:nvSpPr>
          <p:cNvPr id="25" name="Text 22"/>
          <p:cNvSpPr/>
          <p:nvPr/>
        </p:nvSpPr>
        <p:spPr>
          <a:xfrm>
            <a:off x="9436608" y="48188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new facts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9235440" y="5495544"/>
            <a:ext cx="109728" cy="109728"/>
          </a:xfrm>
          <a:prstGeom prst="ellipse">
            <a:avLst/>
          </a:prstGeom>
          <a:solidFill>
            <a:srgbClr val="E8B14E"/>
          </a:solidFill>
          <a:ln/>
        </p:spPr>
      </p:sp>
      <p:sp>
        <p:nvSpPr>
          <p:cNvPr id="27" name="Text 24"/>
          <p:cNvSpPr/>
          <p:nvPr/>
        </p:nvSpPr>
        <p:spPr>
          <a:xfrm>
            <a:off x="9436608" y="53858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conclusions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AD304 · Artificial Intelligence · Unit II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in Knowledge Representation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classical adequacy tests, plus real-world knowledge quirks.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22042" cy="16002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48840"/>
            <a:ext cx="234772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B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Representational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B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234772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system represent the required knowledge?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71850" y="2011680"/>
            <a:ext cx="2622042" cy="16002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509010" y="2148840"/>
            <a:ext cx="234772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B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Inferential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B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09010" y="2880360"/>
            <a:ext cx="234772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derive new knowledge?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5060" y="2011680"/>
            <a:ext cx="2622042" cy="16002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332220" y="2148840"/>
            <a:ext cx="234772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B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Inferential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B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32220" y="2880360"/>
            <a:ext cx="234772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reason efficiently?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18270" y="2011680"/>
            <a:ext cx="2622042" cy="16002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155430" y="2148840"/>
            <a:ext cx="234772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B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Acquisitional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B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55430" y="2880360"/>
            <a:ext cx="234772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new knowledge be added easily?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→ Infer → Infer Efficiently → Acquire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3544824" cy="777240"/>
          </a:xfrm>
          <a:prstGeom prst="roundRect">
            <a:avLst>
              <a:gd name="adj" fmla="val 7059"/>
            </a:avLst>
          </a:prstGeom>
          <a:solidFill>
            <a:srgbClr val="F3F6FD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4393692"/>
            <a:ext cx="402336" cy="402336"/>
          </a:xfrm>
          <a:prstGeom prst="ellipse">
            <a:avLst/>
          </a:prstGeom>
          <a:solidFill>
            <a:srgbClr val="8A93C7"/>
          </a:solidFill>
          <a:ln/>
        </p:spPr>
      </p:sp>
      <p:pic>
        <p:nvPicPr>
          <p:cNvPr id="20" name="Image 0" descr="/home/claude/kr_deck/icon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80" y="4441972"/>
            <a:ext cx="305775" cy="30577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88720" y="4206240"/>
            <a:ext cx="27675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information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322064" y="4206240"/>
            <a:ext cx="3544824" cy="777240"/>
          </a:xfrm>
          <a:prstGeom prst="roundRect">
            <a:avLst>
              <a:gd name="adj" fmla="val 7059"/>
            </a:avLst>
          </a:prstGeom>
          <a:solidFill>
            <a:srgbClr val="F3F6FD"/>
          </a:solidFill>
          <a:ln/>
        </p:spPr>
      </p:sp>
      <p:sp>
        <p:nvSpPr>
          <p:cNvPr id="23" name="Shape 20"/>
          <p:cNvSpPr/>
          <p:nvPr/>
        </p:nvSpPr>
        <p:spPr>
          <a:xfrm>
            <a:off x="4459224" y="4393692"/>
            <a:ext cx="402336" cy="402336"/>
          </a:xfrm>
          <a:prstGeom prst="ellipse">
            <a:avLst/>
          </a:prstGeom>
          <a:solidFill>
            <a:srgbClr val="8A93C7"/>
          </a:solidFill>
          <a:ln/>
        </p:spPr>
      </p:sp>
      <p:pic>
        <p:nvPicPr>
          <p:cNvPr id="24" name="Image 1" descr="/home/claude/kr_deck/icon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504" y="4441972"/>
            <a:ext cx="305775" cy="30577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962144" y="4206240"/>
            <a:ext cx="27675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information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8095488" y="4206240"/>
            <a:ext cx="3544824" cy="777240"/>
          </a:xfrm>
          <a:prstGeom prst="roundRect">
            <a:avLst>
              <a:gd name="adj" fmla="val 7059"/>
            </a:avLst>
          </a:prstGeom>
          <a:solidFill>
            <a:srgbClr val="F3F6FD"/>
          </a:solidFill>
          <a:ln/>
        </p:spPr>
      </p:sp>
      <p:sp>
        <p:nvSpPr>
          <p:cNvPr id="27" name="Shape 23"/>
          <p:cNvSpPr/>
          <p:nvPr/>
        </p:nvSpPr>
        <p:spPr>
          <a:xfrm>
            <a:off x="8232648" y="4393692"/>
            <a:ext cx="402336" cy="402336"/>
          </a:xfrm>
          <a:prstGeom prst="ellipse">
            <a:avLst/>
          </a:prstGeom>
          <a:solidFill>
            <a:srgbClr val="8A93C7"/>
          </a:solidFill>
          <a:ln/>
        </p:spPr>
      </p:sp>
      <p:pic>
        <p:nvPicPr>
          <p:cNvPr id="28" name="Image 2" descr="/home/claude/kr_deck/icon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928" y="4441972"/>
            <a:ext cx="305775" cy="30577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735568" y="4206240"/>
            <a:ext cx="27675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information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548640" y="5166360"/>
            <a:ext cx="3544824" cy="777240"/>
          </a:xfrm>
          <a:prstGeom prst="roundRect">
            <a:avLst>
              <a:gd name="adj" fmla="val 7059"/>
            </a:avLst>
          </a:prstGeom>
          <a:solidFill>
            <a:srgbClr val="F3F6FD"/>
          </a:solidFill>
          <a:ln/>
        </p:spPr>
      </p:sp>
      <p:sp>
        <p:nvSpPr>
          <p:cNvPr id="31" name="Shape 26"/>
          <p:cNvSpPr/>
          <p:nvPr/>
        </p:nvSpPr>
        <p:spPr>
          <a:xfrm>
            <a:off x="685800" y="5353812"/>
            <a:ext cx="402336" cy="402336"/>
          </a:xfrm>
          <a:prstGeom prst="ellipse">
            <a:avLst/>
          </a:prstGeom>
          <a:solidFill>
            <a:srgbClr val="8A93C7"/>
          </a:solidFill>
          <a:ln/>
        </p:spPr>
      </p:sp>
      <p:pic>
        <p:nvPicPr>
          <p:cNvPr id="32" name="Image 3" descr="/home/claude/kr_deck/icon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80" y="5402092"/>
            <a:ext cx="305775" cy="305775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188720" y="5166360"/>
            <a:ext cx="27675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Contradictory information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4322064" y="5166360"/>
            <a:ext cx="3544824" cy="777240"/>
          </a:xfrm>
          <a:prstGeom prst="roundRect">
            <a:avLst>
              <a:gd name="adj" fmla="val 7059"/>
            </a:avLst>
          </a:prstGeom>
          <a:solidFill>
            <a:srgbClr val="F3F6FD"/>
          </a:solidFill>
          <a:ln/>
        </p:spPr>
      </p:sp>
      <p:sp>
        <p:nvSpPr>
          <p:cNvPr id="35" name="Shape 29"/>
          <p:cNvSpPr/>
          <p:nvPr/>
        </p:nvSpPr>
        <p:spPr>
          <a:xfrm>
            <a:off x="4459224" y="5353812"/>
            <a:ext cx="402336" cy="402336"/>
          </a:xfrm>
          <a:prstGeom prst="ellipse">
            <a:avLst/>
          </a:prstGeom>
          <a:solidFill>
            <a:srgbClr val="8A93C7"/>
          </a:solidFill>
          <a:ln/>
        </p:spPr>
      </p:sp>
      <p:pic>
        <p:nvPicPr>
          <p:cNvPr id="36" name="Image 4" descr="/home/claude/kr_deck/icon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504" y="5402092"/>
            <a:ext cx="305775" cy="305775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962144" y="5166360"/>
            <a:ext cx="27675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knowledge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8095488" y="5166360"/>
            <a:ext cx="3544824" cy="777240"/>
          </a:xfrm>
          <a:prstGeom prst="roundRect">
            <a:avLst>
              <a:gd name="adj" fmla="val 7059"/>
            </a:avLst>
          </a:prstGeom>
          <a:solidFill>
            <a:srgbClr val="F3F6FD"/>
          </a:solidFill>
          <a:ln/>
        </p:spPr>
      </p:sp>
      <p:sp>
        <p:nvSpPr>
          <p:cNvPr id="39" name="Shape 32"/>
          <p:cNvSpPr/>
          <p:nvPr/>
        </p:nvSpPr>
        <p:spPr>
          <a:xfrm>
            <a:off x="8232648" y="5353812"/>
            <a:ext cx="402336" cy="402336"/>
          </a:xfrm>
          <a:prstGeom prst="ellipse">
            <a:avLst/>
          </a:prstGeom>
          <a:solidFill>
            <a:srgbClr val="8A93C7"/>
          </a:solidFill>
          <a:ln/>
        </p:spPr>
      </p:sp>
      <p:pic>
        <p:nvPicPr>
          <p:cNvPr id="40" name="Image 5" descr="/home/claude/kr_deck/icon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928" y="5402092"/>
            <a:ext cx="305775" cy="305775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735568" y="5166360"/>
            <a:ext cx="27675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Common-sense knowledge</a:t>
            </a:r>
            <a:endParaRPr lang="en-US" sz="1150" dirty="0"/>
          </a:p>
        </p:txBody>
      </p:sp>
      <p:sp>
        <p:nvSpPr>
          <p:cNvPr id="42" name="Text 3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AD304 · Artificial Intelligence · Unit II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Propositional Logic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63072" y="731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kr_deck/icon_tog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813816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6304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complete statements as propositions that are either True or False.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3F6FD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is a student.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304495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Student(Ravi)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3566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studies AI.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39136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Studies(Ravi, AI)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" y="4480560"/>
            <a:ext cx="4937760" cy="0"/>
          </a:xfrm>
          <a:prstGeom prst="line">
            <a:avLst/>
          </a:prstGeom>
          <a:noFill/>
          <a:ln w="12700">
            <a:solidFill>
              <a:srgbClr val="D6DEF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45994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Therefore: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77240" y="487375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B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∧ Q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309360" y="2148840"/>
            <a:ext cx="5330952" cy="3200400"/>
          </a:xfrm>
          <a:prstGeom prst="roundRect">
            <a:avLst>
              <a:gd name="adj" fmla="val 2286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653796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B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OPERATORS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37960" y="277063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¬P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046720" y="27706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537960" y="327355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∧ Q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046720" y="32735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537960" y="37764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∨ Q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046720" y="37764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537960" y="427939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→ Q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046720" y="42793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IF...THEN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537960" y="478231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↔ Q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046720" y="47823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IFF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AD304 · Artificial Intelligence · Unit II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Predicate Logic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63072" y="731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kr_deck/icon_vari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813816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630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objects, properties, relationships, variables, and quantifiers on top of plain propositions.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5408676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240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B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∀x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965960" y="2286000"/>
            <a:ext cx="37627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Quantifier — “for all”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3017520"/>
            <a:ext cx="49514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students study AI.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3383280"/>
            <a:ext cx="49514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∀x (Student(x) → Studies(x, AI))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31636" y="2103120"/>
            <a:ext cx="5408676" cy="1965960"/>
          </a:xfrm>
          <a:prstGeom prst="roundRect">
            <a:avLst>
              <a:gd name="adj" fmla="val 3721"/>
            </a:avLst>
          </a:prstGeom>
          <a:solidFill>
            <a:srgbClr val="2E3A82"/>
          </a:solidFill>
          <a:ln/>
        </p:spPr>
      </p:sp>
      <p:sp>
        <p:nvSpPr>
          <p:cNvPr id="13" name="Text 10"/>
          <p:cNvSpPr/>
          <p:nvPr/>
        </p:nvSpPr>
        <p:spPr>
          <a:xfrm>
            <a:off x="6460236" y="2240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B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∃x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7648956" y="2286000"/>
            <a:ext cx="37627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Existential Quantifier — “there exists”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60236" y="3017520"/>
            <a:ext cx="49514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student studies AI.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60236" y="3383280"/>
            <a:ext cx="49514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∃x (Student(x) ∧ Studies(x, AI))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8640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logic represents: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727448"/>
            <a:ext cx="996696" cy="384048"/>
          </a:xfrm>
          <a:prstGeom prst="roundRect">
            <a:avLst>
              <a:gd name="adj" fmla="val 50000"/>
            </a:avLst>
          </a:prstGeom>
          <a:solidFill>
            <a:srgbClr val="F3F6FD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4727448"/>
            <a:ext cx="996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709928" y="4727448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F3F6FD"/>
          </a:solidFill>
          <a:ln/>
        </p:spPr>
      </p:sp>
      <p:sp>
        <p:nvSpPr>
          <p:cNvPr id="21" name="Text 18"/>
          <p:cNvSpPr/>
          <p:nvPr/>
        </p:nvSpPr>
        <p:spPr>
          <a:xfrm>
            <a:off x="1709928" y="4727448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172968" y="4727448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3F6FD"/>
          </a:solidFill>
          <a:ln/>
        </p:spPr>
      </p:sp>
      <p:sp>
        <p:nvSpPr>
          <p:cNvPr id="23" name="Text 20"/>
          <p:cNvSpPr/>
          <p:nvPr/>
        </p:nvSpPr>
        <p:spPr>
          <a:xfrm>
            <a:off x="3172968" y="472744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937760" y="4727448"/>
            <a:ext cx="1197864" cy="384048"/>
          </a:xfrm>
          <a:prstGeom prst="roundRect">
            <a:avLst>
              <a:gd name="adj" fmla="val 50000"/>
            </a:avLst>
          </a:prstGeom>
          <a:solidFill>
            <a:srgbClr val="F3F6FD"/>
          </a:solidFill>
          <a:ln/>
        </p:spPr>
      </p:sp>
      <p:sp>
        <p:nvSpPr>
          <p:cNvPr id="25" name="Text 22"/>
          <p:cNvSpPr/>
          <p:nvPr/>
        </p:nvSpPr>
        <p:spPr>
          <a:xfrm>
            <a:off x="4937760" y="4727448"/>
            <a:ext cx="1197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00216" y="4727448"/>
            <a:ext cx="1399032" cy="384048"/>
          </a:xfrm>
          <a:prstGeom prst="roundRect">
            <a:avLst>
              <a:gd name="adj" fmla="val 50000"/>
            </a:avLst>
          </a:prstGeom>
          <a:solidFill>
            <a:srgbClr val="F3F6FD"/>
          </a:solidFill>
          <a:ln/>
        </p:spPr>
      </p:sp>
      <p:sp>
        <p:nvSpPr>
          <p:cNvPr id="27" name="Text 24"/>
          <p:cNvSpPr/>
          <p:nvPr/>
        </p:nvSpPr>
        <p:spPr>
          <a:xfrm>
            <a:off x="6300216" y="4727448"/>
            <a:ext cx="1399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Quantifiers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AD304 · Artificial Intelligence · Unit II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Propositional vs. Predicate Logic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3774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0" y="1508760"/>
            <a:ext cx="4357116" cy="512064"/>
          </a:xfrm>
          <a:prstGeom prst="roundRect">
            <a:avLst>
              <a:gd name="adj" fmla="val 8929"/>
            </a:avLst>
          </a:prstGeom>
          <a:solidFill>
            <a:srgbClr val="6C79B8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0" y="1508760"/>
            <a:ext cx="43571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Propositional Logic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83196" y="1508760"/>
            <a:ext cx="4357116" cy="512064"/>
          </a:xfrm>
          <a:prstGeom prst="roundRect">
            <a:avLst>
              <a:gd name="adj" fmla="val 892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283196" y="1508760"/>
            <a:ext cx="43571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Logic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20824"/>
            <a:ext cx="2377440" cy="512064"/>
          </a:xfrm>
          <a:prstGeom prst="rect">
            <a:avLst/>
          </a:prstGeom>
          <a:solidFill>
            <a:srgbClr val="F3F6FD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20824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unit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0" y="2020824"/>
            <a:ext cx="4357116" cy="512064"/>
          </a:xfrm>
          <a:prstGeom prst="rect">
            <a:avLst/>
          </a:prstGeom>
          <a:solidFill>
            <a:srgbClr val="F3F6FD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2020824"/>
            <a:ext cx="41742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83196" y="2020824"/>
            <a:ext cx="4357116" cy="512064"/>
          </a:xfrm>
          <a:prstGeom prst="rect">
            <a:avLst/>
          </a:prstGeom>
          <a:solidFill>
            <a:srgbClr val="F3F6FD"/>
          </a:solidFill>
          <a:ln/>
        </p:spPr>
      </p:sp>
      <p:sp>
        <p:nvSpPr>
          <p:cNvPr id="14" name="Text 12"/>
          <p:cNvSpPr/>
          <p:nvPr/>
        </p:nvSpPr>
        <p:spPr>
          <a:xfrm>
            <a:off x="7374636" y="2020824"/>
            <a:ext cx="41742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578608"/>
            <a:ext cx="23774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578608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26080" y="2578608"/>
            <a:ext cx="4357116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0" y="2578608"/>
            <a:ext cx="41742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83196" y="2578608"/>
            <a:ext cx="4357116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74636" y="2578608"/>
            <a:ext cx="41742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136392"/>
            <a:ext cx="2377440" cy="512064"/>
          </a:xfrm>
          <a:prstGeom prst="rect">
            <a:avLst/>
          </a:prstGeom>
          <a:solidFill>
            <a:srgbClr val="F3F6FD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136392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26080" y="3136392"/>
            <a:ext cx="4357116" cy="512064"/>
          </a:xfrm>
          <a:prstGeom prst="rect">
            <a:avLst/>
          </a:prstGeom>
          <a:solidFill>
            <a:srgbClr val="F3F6FD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0" y="3136392"/>
            <a:ext cx="41742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83196" y="3136392"/>
            <a:ext cx="4357116" cy="512064"/>
          </a:xfrm>
          <a:prstGeom prst="rect">
            <a:avLst/>
          </a:prstGeom>
          <a:solidFill>
            <a:srgbClr val="F3F6FD"/>
          </a:solidFill>
          <a:ln/>
        </p:spPr>
      </p:sp>
      <p:sp>
        <p:nvSpPr>
          <p:cNvPr id="26" name="Text 24"/>
          <p:cNvSpPr/>
          <p:nvPr/>
        </p:nvSpPr>
        <p:spPr>
          <a:xfrm>
            <a:off x="7374636" y="3136392"/>
            <a:ext cx="41742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694176"/>
            <a:ext cx="23774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694176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26080" y="3694176"/>
            <a:ext cx="4357116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017520" y="3694176"/>
            <a:ext cx="41742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283196" y="3694176"/>
            <a:ext cx="4357116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374636" y="3694176"/>
            <a:ext cx="41742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251960"/>
            <a:ext cx="2377440" cy="512064"/>
          </a:xfrm>
          <a:prstGeom prst="rect">
            <a:avLst/>
          </a:prstGeom>
          <a:solidFill>
            <a:srgbClr val="F3F6FD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251960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926080" y="4251960"/>
            <a:ext cx="4357116" cy="512064"/>
          </a:xfrm>
          <a:prstGeom prst="rect">
            <a:avLst/>
          </a:prstGeom>
          <a:solidFill>
            <a:srgbClr val="F3F6FD"/>
          </a:solidFill>
          <a:ln/>
        </p:spPr>
      </p:sp>
      <p:sp>
        <p:nvSpPr>
          <p:cNvPr id="36" name="Text 34"/>
          <p:cNvSpPr/>
          <p:nvPr/>
        </p:nvSpPr>
        <p:spPr>
          <a:xfrm>
            <a:off x="3017520" y="4251960"/>
            <a:ext cx="41742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283196" y="4251960"/>
            <a:ext cx="4357116" cy="512064"/>
          </a:xfrm>
          <a:prstGeom prst="rect">
            <a:avLst/>
          </a:prstGeom>
          <a:solidFill>
            <a:srgbClr val="F3F6FD"/>
          </a:solidFill>
          <a:ln/>
        </p:spPr>
      </p:sp>
      <p:sp>
        <p:nvSpPr>
          <p:cNvPr id="38" name="Text 36"/>
          <p:cNvSpPr/>
          <p:nvPr/>
        </p:nvSpPr>
        <p:spPr>
          <a:xfrm>
            <a:off x="7374636" y="4251960"/>
            <a:ext cx="41742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809744"/>
            <a:ext cx="23774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4809744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Expressiveness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926080" y="4809744"/>
            <a:ext cx="4357116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3017520" y="4809744"/>
            <a:ext cx="41742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283196" y="4809744"/>
            <a:ext cx="4357116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7374636" y="4809744"/>
            <a:ext cx="41742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5367528"/>
            <a:ext cx="2377440" cy="512064"/>
          </a:xfrm>
          <a:prstGeom prst="rect">
            <a:avLst/>
          </a:prstGeom>
          <a:solidFill>
            <a:srgbClr val="F3F6FD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" y="5367528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926080" y="5367528"/>
            <a:ext cx="4357116" cy="512064"/>
          </a:xfrm>
          <a:prstGeom prst="rect">
            <a:avLst/>
          </a:prstGeom>
          <a:solidFill>
            <a:srgbClr val="F3F6FD"/>
          </a:solidFill>
          <a:ln/>
        </p:spPr>
      </p:sp>
      <p:sp>
        <p:nvSpPr>
          <p:cNvPr id="48" name="Text 46"/>
          <p:cNvSpPr/>
          <p:nvPr/>
        </p:nvSpPr>
        <p:spPr>
          <a:xfrm>
            <a:off x="3017520" y="5367528"/>
            <a:ext cx="41742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→ Q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283196" y="5367528"/>
            <a:ext cx="4357116" cy="512064"/>
          </a:xfrm>
          <a:prstGeom prst="rect">
            <a:avLst/>
          </a:prstGeom>
          <a:solidFill>
            <a:srgbClr val="F3F6FD"/>
          </a:solidFill>
          <a:ln/>
        </p:spPr>
      </p:sp>
      <p:sp>
        <p:nvSpPr>
          <p:cNvPr id="50" name="Text 48"/>
          <p:cNvSpPr/>
          <p:nvPr/>
        </p:nvSpPr>
        <p:spPr>
          <a:xfrm>
            <a:off x="7374636" y="5367528"/>
            <a:ext cx="41742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∀x(Student(x)→Studies(x,AI))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AD304 · Artificial Intelligence · Unit II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REASONING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Deduction &amp; Inference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kr_deck/icon_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" y="1660550"/>
            <a:ext cx="382219" cy="3822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600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Deduction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2194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a logical conclusion from known facts and rules.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3F6FD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7889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Rule: Student(x) → Studies(x, AI)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 rot="10800000">
            <a:off x="2980944" y="3287268"/>
            <a:ext cx="164592" cy="16459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3447288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3F6FD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44728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Fact: Student(Ravi)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 rot="10800000">
            <a:off x="2980944" y="3945636"/>
            <a:ext cx="164592" cy="16459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4105656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410565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B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Conclusion: Studies(Ravi, AI)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26480" y="1600200"/>
            <a:ext cx="502920" cy="502920"/>
          </a:xfrm>
          <a:prstGeom prst="ellipse">
            <a:avLst/>
          </a:prstGeom>
          <a:solidFill>
            <a:srgbClr val="E8B14E"/>
          </a:solidFill>
          <a:ln/>
        </p:spPr>
      </p:sp>
      <p:pic>
        <p:nvPicPr>
          <p:cNvPr id="17" name="Image 1" descr="/home/claude/kr_deck/icon_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6830" y="1660550"/>
            <a:ext cx="382219" cy="38221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766560" y="1600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126480" y="2194560"/>
            <a:ext cx="5513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broader process of deriving new knowledge from existing knowledge.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126480" y="2788920"/>
            <a:ext cx="5513832" cy="2514600"/>
          </a:xfrm>
          <a:prstGeom prst="roundRect">
            <a:avLst>
              <a:gd name="adj" fmla="val 2909"/>
            </a:avLst>
          </a:prstGeom>
          <a:solidFill>
            <a:srgbClr val="F3F6FD"/>
          </a:solidFill>
          <a:ln/>
        </p:spPr>
      </p:sp>
      <p:sp>
        <p:nvSpPr>
          <p:cNvPr id="21" name="Text 17"/>
          <p:cNvSpPr/>
          <p:nvPr/>
        </p:nvSpPr>
        <p:spPr>
          <a:xfrm>
            <a:off x="6355080" y="2971800"/>
            <a:ext cx="5056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Fact: Ravi is a student.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355080" y="3319272"/>
            <a:ext cx="5056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355080" y="3566160"/>
            <a:ext cx="5056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All students study AI.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355080" y="4023360"/>
            <a:ext cx="5056632" cy="0"/>
          </a:xfrm>
          <a:prstGeom prst="line">
            <a:avLst/>
          </a:prstGeom>
          <a:noFill/>
          <a:ln w="12700">
            <a:solidFill>
              <a:srgbClr val="D6DEF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355080" y="4160520"/>
            <a:ext cx="5056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Ravi studies AI.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355080" y="4663440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is a form of logical reasoning; inference is the broader process.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AD304 · Artificial Intelligence · Unit II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REASONING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Theorem Proving &amp; Resolution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324612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E8B14E"/>
          </a:solidFill>
          <a:ln/>
        </p:spPr>
      </p:sp>
      <p:pic>
        <p:nvPicPr>
          <p:cNvPr id="6" name="Image 0" descr="/home/claude/kr_deck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1980590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20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Theorem Proving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whether a conclusion logically follows from known facts and rules.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3172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B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34747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Human(Ram)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∀x (Human(x) → Mortal(x))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4178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B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44531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Mortal(Ram)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26480" y="1691640"/>
            <a:ext cx="5513832" cy="3246120"/>
          </a:xfrm>
          <a:prstGeom prst="roundRect">
            <a:avLst>
              <a:gd name="adj" fmla="val 2254"/>
            </a:avLst>
          </a:prstGeom>
          <a:solidFill>
            <a:srgbClr val="F3F6FD"/>
          </a:solidFill>
          <a:ln/>
        </p:spPr>
      </p:sp>
      <p:sp>
        <p:nvSpPr>
          <p:cNvPr id="14" name="Shape 11"/>
          <p:cNvSpPr/>
          <p:nvPr/>
        </p:nvSpPr>
        <p:spPr>
          <a:xfrm>
            <a:off x="635508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/home/claude/kr_deck/icon_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430" y="1980590"/>
            <a:ext cx="382219" cy="38221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95160" y="1920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355080" y="256032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inference rule for automated theorem proving: combine clauses containing complementary literals.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355080" y="3291840"/>
            <a:ext cx="5056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∨ Q     and     ¬Q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 rot="10800000">
            <a:off x="8801100" y="3758184"/>
            <a:ext cx="164592" cy="16459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20" name="Shape 16"/>
          <p:cNvSpPr/>
          <p:nvPr/>
        </p:nvSpPr>
        <p:spPr>
          <a:xfrm>
            <a:off x="8334756" y="402336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E8B14E"/>
          </a:solidFill>
          <a:ln/>
        </p:spPr>
      </p:sp>
      <p:sp>
        <p:nvSpPr>
          <p:cNvPr id="21" name="Text 17"/>
          <p:cNvSpPr/>
          <p:nvPr/>
        </p:nvSpPr>
        <p:spPr>
          <a:xfrm>
            <a:off x="8334756" y="40233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6355080" y="4178808"/>
            <a:ext cx="19796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 and ¬Q cancel)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AD304 · Artificial Intelligence · Unit II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REASONING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Refutation: Proof by Contradiction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the opposite of what you want to prove; if it leads to a contradiction, the original statement holds.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22042" cy="1371600"/>
          </a:xfrm>
          <a:prstGeom prst="roundRect">
            <a:avLst>
              <a:gd name="adj" fmla="val 466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03120"/>
            <a:ext cx="23477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prove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234772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Mortal(Ram)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rot="5400000">
            <a:off x="3179826" y="2560320"/>
            <a:ext cx="182880" cy="182880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3371850" y="1965960"/>
            <a:ext cx="2622042" cy="1371600"/>
          </a:xfrm>
          <a:prstGeom prst="roundRect">
            <a:avLst>
              <a:gd name="adj" fmla="val 466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509010" y="2103120"/>
            <a:ext cx="23477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the opposite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09010" y="2514600"/>
            <a:ext cx="234772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¬Mortal(Ram)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 rot="5400000">
            <a:off x="6003036" y="2560320"/>
            <a:ext cx="182880" cy="182880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6195060" y="1965960"/>
            <a:ext cx="2622042" cy="1371600"/>
          </a:xfrm>
          <a:prstGeom prst="roundRect">
            <a:avLst>
              <a:gd name="adj" fmla="val 466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332220" y="2103120"/>
            <a:ext cx="23477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gives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32220" y="2514600"/>
            <a:ext cx="234772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Mortal(Ram)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 rot="5400000">
            <a:off x="8826246" y="2560320"/>
            <a:ext cx="182880" cy="182880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9018270" y="1965960"/>
            <a:ext cx="2622042" cy="1371600"/>
          </a:xfrm>
          <a:prstGeom prst="roundRect">
            <a:avLst>
              <a:gd name="adj" fmla="val 4667"/>
            </a:avLst>
          </a:prstGeom>
          <a:solidFill>
            <a:srgbClr val="E8B14E"/>
          </a:solidFill>
          <a:ln/>
        </p:spPr>
      </p:sp>
      <p:sp>
        <p:nvSpPr>
          <p:cNvPr id="18" name="Text 16"/>
          <p:cNvSpPr/>
          <p:nvPr/>
        </p:nvSpPr>
        <p:spPr>
          <a:xfrm>
            <a:off x="9155430" y="2103120"/>
            <a:ext cx="23477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55430" y="2514600"/>
            <a:ext cx="234772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Mortal(Ram) ∧ ¬Mortal(Ram)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Therefore: Mortal(Ram) is proved.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F3F6FD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0" descr="/home/claude/kr_deck/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4266590"/>
            <a:ext cx="382219" cy="38221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17320" y="41422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+ Refutation, together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417320" y="4480560"/>
            <a:ext cx="9994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Refutation = the overall strategy (proof by contradiction).  Resolution = the inference rule used to derive that contradiction.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AD304 · Artificial Intelligence · Unit II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CHANGING KNOWLEDGE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Monotonic vs. Non-Monotonic Reasoning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4206240"/>
          </a:xfrm>
          <a:prstGeom prst="roundRect">
            <a:avLst>
              <a:gd name="adj" fmla="val 1739"/>
            </a:avLst>
          </a:prstGeom>
          <a:solidFill>
            <a:srgbClr val="F3F6F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3E9F6D"/>
          </a:solidFill>
          <a:ln/>
        </p:spPr>
      </p:sp>
      <p:pic>
        <p:nvPicPr>
          <p:cNvPr id="6" name="Image 0" descr="/home/claude/kr_deck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1980590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20240"/>
            <a:ext cx="43113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Monotonic Reasoning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49514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new knowledge never invalidates previously derived conclusions.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3200400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Fact: Ravi is a student.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3703320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Rule: Students study AI.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4206240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Conclusion: Ravi studies AI.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4709160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New fact: Ravi lives in Indore.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5212080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still holds ✓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1636" y="1691640"/>
            <a:ext cx="5408676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</p:spPr>
      </p:sp>
      <p:sp>
        <p:nvSpPr>
          <p:cNvPr id="15" name="Shape 12"/>
          <p:cNvSpPr/>
          <p:nvPr/>
        </p:nvSpPr>
        <p:spPr>
          <a:xfrm>
            <a:off x="6460236" y="1920240"/>
            <a:ext cx="502920" cy="502920"/>
          </a:xfrm>
          <a:prstGeom prst="ellipse">
            <a:avLst/>
          </a:prstGeom>
          <a:solidFill>
            <a:srgbClr val="E8B14E"/>
          </a:solidFill>
          <a:ln/>
        </p:spPr>
      </p:sp>
      <p:pic>
        <p:nvPicPr>
          <p:cNvPr id="16" name="Image 1" descr="/home/claude/kr_deck/icon_refre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586" y="1980590"/>
            <a:ext cx="382219" cy="38221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00316" y="1920240"/>
            <a:ext cx="43113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Non-Monotonic Reasoning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6460236" y="2560320"/>
            <a:ext cx="49514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information can change or invalidate a previous conclusion.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460236" y="3200400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Birds normally fly.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60236" y="3703320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Tweety is a bird.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460236" y="4206240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Conclusion: Tweety can fly.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460236" y="4709160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New fact: Tweety is a penguin.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460236" y="5212080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no longer holds ✗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AD304 · Artificial Intelligence · Unit II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B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Unit-II Concept 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448556" y="160020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E8B14E"/>
          </a:solidFill>
          <a:ln/>
        </p:spPr>
      </p:sp>
      <p:sp>
        <p:nvSpPr>
          <p:cNvPr id="5" name="Text 3"/>
          <p:cNvSpPr/>
          <p:nvPr/>
        </p:nvSpPr>
        <p:spPr>
          <a:xfrm>
            <a:off x="4448556" y="1600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REPRESENTATION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20240" y="237744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2E3A82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25512" y="237744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2E3A82"/>
          </a:solidFill>
          <a:ln/>
        </p:spPr>
      </p:sp>
      <p:sp>
        <p:nvSpPr>
          <p:cNvPr id="9" name="Text 7"/>
          <p:cNvSpPr/>
          <p:nvPr/>
        </p:nvSpPr>
        <p:spPr>
          <a:xfrm>
            <a:off x="7525512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(Propositional / Predicate)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flipH="1">
            <a:off x="2926080" y="2103120"/>
            <a:ext cx="2345436" cy="274320"/>
          </a:xfrm>
          <a:prstGeom prst="line">
            <a:avLst/>
          </a:prstGeom>
          <a:noFill/>
          <a:ln w="19050">
            <a:solidFill>
              <a:srgbClr val="4A55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17436" y="2103120"/>
            <a:ext cx="1979676" cy="274320"/>
          </a:xfrm>
          <a:prstGeom prst="line">
            <a:avLst/>
          </a:prstGeom>
          <a:noFill/>
          <a:ln w="19050">
            <a:solidFill>
              <a:srgbClr val="4A55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88636" y="310896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3A4B9E"/>
          </a:solidFill>
          <a:ln/>
        </p:spPr>
      </p:sp>
      <p:sp>
        <p:nvSpPr>
          <p:cNvPr id="13" name="Text 11"/>
          <p:cNvSpPr/>
          <p:nvPr/>
        </p:nvSpPr>
        <p:spPr>
          <a:xfrm>
            <a:off x="5088636" y="3108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H="1">
            <a:off x="6094476" y="2834640"/>
            <a:ext cx="2802636" cy="274320"/>
          </a:xfrm>
          <a:prstGeom prst="line">
            <a:avLst/>
          </a:prstGeom>
          <a:noFill/>
          <a:ln w="19050">
            <a:solidFill>
              <a:srgbClr val="4A55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91156" y="384048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4A5CB0"/>
          </a:solidFill>
          <a:ln/>
        </p:spPr>
      </p:sp>
      <p:sp>
        <p:nvSpPr>
          <p:cNvPr id="16" name="Text 14"/>
          <p:cNvSpPr/>
          <p:nvPr/>
        </p:nvSpPr>
        <p:spPr>
          <a:xfrm>
            <a:off x="2391156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H="1">
            <a:off x="3534156" y="3566160"/>
            <a:ext cx="2560320" cy="274320"/>
          </a:xfrm>
          <a:prstGeom prst="line">
            <a:avLst/>
          </a:prstGeom>
          <a:noFill/>
          <a:ln w="19050">
            <a:solidFill>
              <a:srgbClr val="4A55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1476" y="384048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4A5CB0"/>
          </a:solidFill>
          <a:ln/>
        </p:spPr>
      </p:sp>
      <p:sp>
        <p:nvSpPr>
          <p:cNvPr id="19" name="Text 17"/>
          <p:cNvSpPr/>
          <p:nvPr/>
        </p:nvSpPr>
        <p:spPr>
          <a:xfrm>
            <a:off x="4951476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94476" y="3566160"/>
            <a:ext cx="914" cy="274320"/>
          </a:xfrm>
          <a:prstGeom prst="line">
            <a:avLst/>
          </a:prstGeom>
          <a:noFill/>
          <a:ln w="19050">
            <a:solidFill>
              <a:srgbClr val="4A55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11796" y="384048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4A5CB0"/>
          </a:solidFill>
          <a:ln/>
        </p:spPr>
      </p:sp>
      <p:sp>
        <p:nvSpPr>
          <p:cNvPr id="22" name="Text 20"/>
          <p:cNvSpPr/>
          <p:nvPr/>
        </p:nvSpPr>
        <p:spPr>
          <a:xfrm>
            <a:off x="7511796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Proving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94476" y="3566160"/>
            <a:ext cx="2560320" cy="274320"/>
          </a:xfrm>
          <a:prstGeom prst="line">
            <a:avLst/>
          </a:prstGeom>
          <a:noFill/>
          <a:ln w="19050">
            <a:solidFill>
              <a:srgbClr val="4A55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51476" y="457200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5C6BC5"/>
          </a:solidFill>
          <a:ln/>
        </p:spPr>
      </p:sp>
      <p:sp>
        <p:nvSpPr>
          <p:cNvPr id="25" name="Text 23"/>
          <p:cNvSpPr/>
          <p:nvPr/>
        </p:nvSpPr>
        <p:spPr>
          <a:xfrm>
            <a:off x="4951476" y="4572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94476" y="4297680"/>
            <a:ext cx="914" cy="274320"/>
          </a:xfrm>
          <a:prstGeom prst="line">
            <a:avLst/>
          </a:prstGeom>
          <a:noFill/>
          <a:ln w="19050">
            <a:solidFill>
              <a:srgbClr val="4A55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34156" y="530352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6C79B8"/>
          </a:solidFill>
          <a:ln/>
        </p:spPr>
      </p:sp>
      <p:sp>
        <p:nvSpPr>
          <p:cNvPr id="28" name="Text 26"/>
          <p:cNvSpPr/>
          <p:nvPr/>
        </p:nvSpPr>
        <p:spPr>
          <a:xfrm>
            <a:off x="3534156" y="5303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Reasoning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7356" y="530352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6C79B8"/>
          </a:solidFill>
          <a:ln/>
        </p:spPr>
      </p:sp>
      <p:sp>
        <p:nvSpPr>
          <p:cNvPr id="30" name="Text 28"/>
          <p:cNvSpPr/>
          <p:nvPr/>
        </p:nvSpPr>
        <p:spPr>
          <a:xfrm>
            <a:off x="6277356" y="5303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Non-Monotonic Reasoning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 flipH="1">
            <a:off x="4722876" y="5029200"/>
            <a:ext cx="1371600" cy="274320"/>
          </a:xfrm>
          <a:prstGeom prst="line">
            <a:avLst/>
          </a:prstGeom>
          <a:noFill/>
          <a:ln w="19050">
            <a:solidFill>
              <a:srgbClr val="4A55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94476" y="5029200"/>
            <a:ext cx="1371600" cy="274320"/>
          </a:xfrm>
          <a:prstGeom prst="line">
            <a:avLst/>
          </a:prstGeom>
          <a:noFill/>
          <a:ln w="19050">
            <a:solidFill>
              <a:srgbClr val="4A55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AD304 · Artificial Intelligence · Unit II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Example: AI Crop-Disease Diagnosis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scenario, the whole unit — from a farmer's observation to a revised diagnosis.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459121" cy="1965960"/>
          </a:xfrm>
          <a:prstGeom prst="roundRect">
            <a:avLst>
              <a:gd name="adj" fmla="val 4387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003881" y="2313432"/>
            <a:ext cx="548640" cy="548640"/>
          </a:xfrm>
          <a:prstGeom prst="ellipse">
            <a:avLst/>
          </a:prstGeom>
          <a:solidFill>
            <a:srgbClr val="3A468C"/>
          </a:solidFill>
          <a:ln/>
        </p:spPr>
      </p:sp>
      <p:pic>
        <p:nvPicPr>
          <p:cNvPr id="7" name="Image 0" descr="/home/claude/kr_deck/icon_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717" y="2379269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3504" y="3017520"/>
            <a:ext cx="1349393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Farmer's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 rot="5400000">
            <a:off x="2007761" y="2514600"/>
            <a:ext cx="146304" cy="146304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2154065" y="2148840"/>
            <a:ext cx="1459121" cy="1965960"/>
          </a:xfrm>
          <a:prstGeom prst="roundRect">
            <a:avLst>
              <a:gd name="adj" fmla="val 4387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2609306" y="2313432"/>
            <a:ext cx="548640" cy="548640"/>
          </a:xfrm>
          <a:prstGeom prst="ellipse">
            <a:avLst/>
          </a:prstGeom>
          <a:solidFill>
            <a:srgbClr val="3A468C"/>
          </a:solidFill>
          <a:ln/>
        </p:spPr>
      </p:sp>
      <p:pic>
        <p:nvPicPr>
          <p:cNvPr id="12" name="Image 1" descr="/home/claude/kr_deck/icon_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5143" y="2379269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08929" y="3017520"/>
            <a:ext cx="1349393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 rot="5400000">
            <a:off x="3613186" y="2514600"/>
            <a:ext cx="146304" cy="146304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3759490" y="2148840"/>
            <a:ext cx="1459121" cy="1965960"/>
          </a:xfrm>
          <a:prstGeom prst="roundRect">
            <a:avLst>
              <a:gd name="adj" fmla="val 4387"/>
            </a:avLst>
          </a:prstGeom>
          <a:solidFill>
            <a:srgbClr val="1E2761"/>
          </a:solidFill>
          <a:ln/>
        </p:spPr>
      </p:sp>
      <p:sp>
        <p:nvSpPr>
          <p:cNvPr id="16" name="Shape 12"/>
          <p:cNvSpPr/>
          <p:nvPr/>
        </p:nvSpPr>
        <p:spPr>
          <a:xfrm>
            <a:off x="4214731" y="2313432"/>
            <a:ext cx="548640" cy="548640"/>
          </a:xfrm>
          <a:prstGeom prst="ellipse">
            <a:avLst/>
          </a:prstGeom>
          <a:solidFill>
            <a:srgbClr val="3A468C"/>
          </a:solidFill>
          <a:ln/>
        </p:spPr>
      </p:sp>
      <p:pic>
        <p:nvPicPr>
          <p:cNvPr id="17" name="Image 2" descr="/home/claude/kr_deck/icon_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0568" y="2379269"/>
            <a:ext cx="416966" cy="4169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14354" y="3017520"/>
            <a:ext cx="1349393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 rot="5400000">
            <a:off x="5218611" y="2514600"/>
            <a:ext cx="146304" cy="146304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5364915" y="2148840"/>
            <a:ext cx="1459121" cy="1965960"/>
          </a:xfrm>
          <a:prstGeom prst="roundRect">
            <a:avLst>
              <a:gd name="adj" fmla="val 4387"/>
            </a:avLst>
          </a:prstGeom>
          <a:solidFill>
            <a:srgbClr val="1E2761"/>
          </a:solidFill>
          <a:ln/>
        </p:spPr>
      </p:sp>
      <p:sp>
        <p:nvSpPr>
          <p:cNvPr id="21" name="Shape 16"/>
          <p:cNvSpPr/>
          <p:nvPr/>
        </p:nvSpPr>
        <p:spPr>
          <a:xfrm>
            <a:off x="5820156" y="2313432"/>
            <a:ext cx="548640" cy="548640"/>
          </a:xfrm>
          <a:prstGeom prst="ellipse">
            <a:avLst/>
          </a:prstGeom>
          <a:solidFill>
            <a:srgbClr val="3A468C"/>
          </a:solidFill>
          <a:ln/>
        </p:spPr>
      </p:sp>
      <p:pic>
        <p:nvPicPr>
          <p:cNvPr id="22" name="Image 3" descr="/home/claude/kr_deck/icon_varia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5993" y="2379269"/>
            <a:ext cx="416966" cy="41696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19779" y="3017520"/>
            <a:ext cx="1349393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 rot="5400000">
            <a:off x="6824037" y="2514600"/>
            <a:ext cx="146304" cy="146304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25" name="Shape 19"/>
          <p:cNvSpPr/>
          <p:nvPr/>
        </p:nvSpPr>
        <p:spPr>
          <a:xfrm>
            <a:off x="6970341" y="2148840"/>
            <a:ext cx="1459121" cy="1965960"/>
          </a:xfrm>
          <a:prstGeom prst="roundRect">
            <a:avLst>
              <a:gd name="adj" fmla="val 4387"/>
            </a:avLst>
          </a:prstGeom>
          <a:solidFill>
            <a:srgbClr val="1E2761"/>
          </a:solidFill>
          <a:ln/>
        </p:spPr>
      </p:sp>
      <p:sp>
        <p:nvSpPr>
          <p:cNvPr id="26" name="Shape 20"/>
          <p:cNvSpPr/>
          <p:nvPr/>
        </p:nvSpPr>
        <p:spPr>
          <a:xfrm>
            <a:off x="7425581" y="2313432"/>
            <a:ext cx="548640" cy="548640"/>
          </a:xfrm>
          <a:prstGeom prst="ellipse">
            <a:avLst/>
          </a:prstGeom>
          <a:solidFill>
            <a:srgbClr val="3A468C"/>
          </a:solidFill>
          <a:ln/>
        </p:spPr>
      </p:sp>
      <p:pic>
        <p:nvPicPr>
          <p:cNvPr id="27" name="Image 4" descr="/home/claude/kr_deck/icon_bul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1418" y="2379269"/>
            <a:ext cx="416966" cy="41696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025205" y="3017520"/>
            <a:ext cx="1349393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 rot="5400000">
            <a:off x="8429462" y="2514600"/>
            <a:ext cx="146304" cy="146304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30" name="Shape 23"/>
          <p:cNvSpPr/>
          <p:nvPr/>
        </p:nvSpPr>
        <p:spPr>
          <a:xfrm>
            <a:off x="8575766" y="2148840"/>
            <a:ext cx="1459121" cy="1965960"/>
          </a:xfrm>
          <a:prstGeom prst="roundRect">
            <a:avLst>
              <a:gd name="adj" fmla="val 4387"/>
            </a:avLst>
          </a:prstGeom>
          <a:solidFill>
            <a:srgbClr val="1E2761"/>
          </a:solidFill>
          <a:ln/>
        </p:spPr>
      </p:sp>
      <p:sp>
        <p:nvSpPr>
          <p:cNvPr id="31" name="Shape 24"/>
          <p:cNvSpPr/>
          <p:nvPr/>
        </p:nvSpPr>
        <p:spPr>
          <a:xfrm>
            <a:off x="9031006" y="2313432"/>
            <a:ext cx="548640" cy="548640"/>
          </a:xfrm>
          <a:prstGeom prst="ellipse">
            <a:avLst/>
          </a:prstGeom>
          <a:solidFill>
            <a:srgbClr val="3A468C"/>
          </a:solidFill>
          <a:ln/>
        </p:spPr>
      </p:sp>
      <p:pic>
        <p:nvPicPr>
          <p:cNvPr id="32" name="Image 5" descr="/home/claude/kr_deck/icon_l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6843" y="2379269"/>
            <a:ext cx="416966" cy="41696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630630" y="3017520"/>
            <a:ext cx="1349393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 rot="5400000">
            <a:off x="10034887" y="2514600"/>
            <a:ext cx="146304" cy="146304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35" name="Shape 27"/>
          <p:cNvSpPr/>
          <p:nvPr/>
        </p:nvSpPr>
        <p:spPr>
          <a:xfrm>
            <a:off x="10181191" y="2148840"/>
            <a:ext cx="1459121" cy="1965960"/>
          </a:xfrm>
          <a:prstGeom prst="roundRect">
            <a:avLst>
              <a:gd name="adj" fmla="val 4387"/>
            </a:avLst>
          </a:prstGeom>
          <a:solidFill>
            <a:srgbClr val="E8B14E"/>
          </a:solidFill>
          <a:ln/>
        </p:spPr>
      </p:sp>
      <p:sp>
        <p:nvSpPr>
          <p:cNvPr id="36" name="Shape 28"/>
          <p:cNvSpPr/>
          <p:nvPr/>
        </p:nvSpPr>
        <p:spPr>
          <a:xfrm>
            <a:off x="10636431" y="2313432"/>
            <a:ext cx="548640" cy="54864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37" name="Image 6" descr="/home/claude/kr_deck/icon_targ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02268" y="2379269"/>
            <a:ext cx="416966" cy="41696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0236055" y="3017520"/>
            <a:ext cx="1349393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548640" y="44348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3F6FD"/>
          </a:solidFill>
          <a:ln/>
        </p:spPr>
      </p:sp>
      <p:sp>
        <p:nvSpPr>
          <p:cNvPr id="40" name="Shape 31"/>
          <p:cNvSpPr/>
          <p:nvPr/>
        </p:nvSpPr>
        <p:spPr>
          <a:xfrm>
            <a:off x="777240" y="4709160"/>
            <a:ext cx="502920" cy="502920"/>
          </a:xfrm>
          <a:prstGeom prst="ellipse">
            <a:avLst/>
          </a:prstGeom>
          <a:solidFill>
            <a:srgbClr val="3E9F6D"/>
          </a:solidFill>
          <a:ln/>
        </p:spPr>
      </p:sp>
      <p:pic>
        <p:nvPicPr>
          <p:cNvPr id="41" name="Image 7" descr="/home/claude/kr_deck/icon_refres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590" y="4769510"/>
            <a:ext cx="382219" cy="382219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417320" y="4572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information arrives (e.g., an unusual symptom appears)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1417320" y="4965192"/>
            <a:ext cx="9994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Non-monotonic reasoning may revise the diagnosis, just as “Tweety is a penguin” revised “Tweety can fly.”</a:t>
            </a:r>
            <a:endParaRPr lang="en-US" sz="1150" dirty="0"/>
          </a:p>
        </p:txBody>
      </p:sp>
      <p:sp>
        <p:nvSpPr>
          <p:cNvPr id="44" name="Text 3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AD304 · Artificial Intelligence · Unit II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ln w="25400">
            <a:solidFill>
              <a:srgbClr val="2C36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572000"/>
            <a:ext cx="4023360" cy="4023360"/>
          </a:xfrm>
          <a:prstGeom prst="ellipse">
            <a:avLst/>
          </a:prstGeom>
          <a:ln w="25400">
            <a:solidFill>
              <a:srgbClr val="E8B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B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alone isn't intelligence.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becomes useful only once it is represented, logically expressed, inferred upon, provably justified — and kept ready to change.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1783080" cy="548640"/>
          </a:xfrm>
          <a:prstGeom prst="roundRect">
            <a:avLst>
              <a:gd name="adj" fmla="val 16667"/>
            </a:avLst>
          </a:prstGeom>
          <a:solidFill>
            <a:srgbClr val="2A357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6576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 rot="5400000">
            <a:off x="2322576" y="3849624"/>
            <a:ext cx="164592" cy="164592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2478024" y="3657600"/>
            <a:ext cx="1783080" cy="548640"/>
          </a:xfrm>
          <a:prstGeom prst="roundRect">
            <a:avLst>
              <a:gd name="adj" fmla="val 16667"/>
            </a:avLst>
          </a:prstGeom>
          <a:solidFill>
            <a:srgbClr val="2A3572"/>
          </a:solidFill>
          <a:ln/>
        </p:spPr>
      </p:sp>
      <p:sp>
        <p:nvSpPr>
          <p:cNvPr id="11" name="Text 9"/>
          <p:cNvSpPr/>
          <p:nvPr/>
        </p:nvSpPr>
        <p:spPr>
          <a:xfrm>
            <a:off x="2478024" y="36576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 rot="5400000">
            <a:off x="4251960" y="3849624"/>
            <a:ext cx="164592" cy="164592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407408" y="3657600"/>
            <a:ext cx="1783080" cy="548640"/>
          </a:xfrm>
          <a:prstGeom prst="roundRect">
            <a:avLst>
              <a:gd name="adj" fmla="val 16667"/>
            </a:avLst>
          </a:prstGeom>
          <a:solidFill>
            <a:srgbClr val="2A3572"/>
          </a:solidFill>
          <a:ln/>
        </p:spPr>
      </p:sp>
      <p:sp>
        <p:nvSpPr>
          <p:cNvPr id="14" name="Text 12"/>
          <p:cNvSpPr/>
          <p:nvPr/>
        </p:nvSpPr>
        <p:spPr>
          <a:xfrm>
            <a:off x="4407408" y="36576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 rot="5400000">
            <a:off x="6181344" y="3849624"/>
            <a:ext cx="164592" cy="164592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336792" y="3657600"/>
            <a:ext cx="1783080" cy="548640"/>
          </a:xfrm>
          <a:prstGeom prst="roundRect">
            <a:avLst>
              <a:gd name="adj" fmla="val 16667"/>
            </a:avLst>
          </a:prstGeom>
          <a:solidFill>
            <a:srgbClr val="2A3572"/>
          </a:solidFill>
          <a:ln/>
        </p:spPr>
      </p:sp>
      <p:sp>
        <p:nvSpPr>
          <p:cNvPr id="17" name="Text 15"/>
          <p:cNvSpPr/>
          <p:nvPr/>
        </p:nvSpPr>
        <p:spPr>
          <a:xfrm>
            <a:off x="6336792" y="36576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 rot="5400000">
            <a:off x="8110728" y="3849624"/>
            <a:ext cx="164592" cy="164592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266176" y="3657600"/>
            <a:ext cx="1783080" cy="548640"/>
          </a:xfrm>
          <a:prstGeom prst="roundRect">
            <a:avLst>
              <a:gd name="adj" fmla="val 16667"/>
            </a:avLst>
          </a:prstGeom>
          <a:solidFill>
            <a:srgbClr val="E8B14E"/>
          </a:solidFill>
          <a:ln/>
        </p:spPr>
      </p:sp>
      <p:sp>
        <p:nvSpPr>
          <p:cNvPr id="20" name="Text 18"/>
          <p:cNvSpPr/>
          <p:nvPr/>
        </p:nvSpPr>
        <p:spPr>
          <a:xfrm>
            <a:off x="8266176" y="36576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AD304 · Artificial Intelligence · Unit II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1024</Words>
  <Application>Microsoft Office PowerPoint</Application>
  <PresentationFormat>Widescreen</PresentationFormat>
  <Paragraphs>263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1</cp:revision>
  <dcterms:created xsi:type="dcterms:W3CDTF">2026-09-27T07:14:18Z</dcterms:created>
  <dcterms:modified xsi:type="dcterms:W3CDTF">2026-09-30T01:37:49Z</dcterms:modified>
</cp:coreProperties>
</file>