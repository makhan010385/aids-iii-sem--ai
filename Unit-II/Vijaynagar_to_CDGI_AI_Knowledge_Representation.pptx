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1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he Story" id="{2c4fa79b-634c-7b95-19e9-c1c890ab6abd}">
          <p14:sldIdLst>
            <p14:sldId id="256"/>
            <p14:sldId id="257"/>
          </p14:sldIdLst>
        </p14:section>
        <p14:section name="Knowledge Representation" id="{d05147b1-0b00-e461-afe1-e5412357e0b8}">
          <p14:sldIdLst>
            <p14:sldId id="258"/>
            <p14:sldId id="259"/>
            <p14:sldId id="260"/>
            <p14:sldId id="261"/>
          </p14:sldIdLst>
        </p14:section>
        <p14:section name="Logic and Reasoning" id="{08bc6d39-0ac3-9b1b-c266-9a3a7396a6cd}">
          <p14:sldIdLst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Production Systems" id="{7096cbf5-24b2-7567-17d7-2a0960b8efa9}">
          <p14:sldIdLst>
            <p14:sldId id="268"/>
            <p14:sldId id="269"/>
          </p14:sldIdLst>
        </p14:section>
        <p14:section name="Search" id="{b4a2d7fc-a43a-a805-0b91-55d030ece0ba}">
          <p14:sldIdLst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Recap" id="{a2430c64-6cf9-d9c6-6af0-3b3166bf5b89}">
          <p14:sldIdLst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3C49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B3C49"/>
                </a:solidFill>
                <a:latin typeface="+mn-lt"/>
              </a:rPr>
              <a:t>Heuristic estimate (km)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Estimated distance (km)</c:v>
                </c:pt>
              </c:strCache>
            </c:strRef>
          </c:tx>
          <c:spPr>
            <a:solidFill>
              <a:srgbClr val="F29F0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726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29F0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6A7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6A7D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Route A</c:v>
                  </c:pt>
                  <c:pt idx="1">
                    <c:v>Route B</c:v>
                  </c:pt>
                  <c:pt idx="2">
                    <c:v>Route 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8</c:v>
                </c:pt>
                <c:pt idx="2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726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7262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  <c:min val="0"/>
        </c:scaling>
        <c:delete val="0"/>
        <c:axPos val="l"/>
        <c:majorGridlines>
          <c:spPr>
            <a:ln w="6350" cap="flat">
              <a:solidFill>
                <a:srgbClr val="D5E3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A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We follow one student's journey from Vijaynagar to CDGI, and use it to teach knowledge representation, logic, production systems and search algorithms.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AI route assistant helps a student travel from Vijaynagar to CDGI. Everything in this deck uses this one route.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Real-world route knowledge is converted into facts the AI can store and reason with.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Representational adequacy, inferential adequacy, inferential efficiency and acquisitional efficiency.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kinds of imperfect information: ambiguous, incomplete, uncertain and contradictory.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changes over time, so the knowledge base must be updated. Common sense lets the AI prefer a longer but clearer route.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Propositions are simple true/false statements. P implies Q; if P is true then Q is true.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Predicates describe objects and relationships. The universal quantifier says 'for every', the existential says 'there exists'.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Deduction applies a general rule to a fact. Inference derives new knowledge, such as a full route, from existing facts.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Theorem proving derives the goal from the knowledge base. Refutation assumes the opposite, derives a contradiction, and so proves the goal.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Resolution cancels a literal and its negation across two clauses, leaving a new clause.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Monotonic: new facts never remove earlier conclusions. Non-monotonic: new facts can withdraw earlier conclusions.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Route knowledge written as IF-THEN rules. Executing them moves the student step by step to CDGI.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parts: rules, working memory and a control strategy. The system loops: check rules, select, apply, update state, repeat.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search space is every route the AI could explore. A state is the current situation; the goal state is Current_Location = CDGI.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heuristic is an estimate that helps the search decide which route looks more promising.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Hill climbing always moves to the best-looking neighbour. It can get stuck on a locally good but globally poor route.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Best-first search picks the route with the lowest heuristic estimate; here that is Route A at 5 km.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A* adds the cost already travelled g(n) to the estimated remaining cost h(n). The lowest f(n) wins: Route B with 8 km.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AO* works on AND-OR graphs. OR means choose one alternative; AND means every sub-problem must be completed.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 of the four search methods using the same Vijaynagar to CDGI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story from raw route knowledge to the goal state.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four themes and ask students to trace the route again using any one search algorithm.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09728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237744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Vijaynagar → CDGI  |  AI Knowledge Representation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10972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Vijaynagar → CDGI</a:t>
            </a:r>
            <a:endParaRPr lang="en-US" sz="4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23774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Knowledge Representation, Reasoning and Search: one route, one story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371600" y="4069080"/>
            <a:ext cx="1645920" cy="0"/>
          </a:xfrm>
          <a:prstGeom prst="line">
            <a:avLst/>
          </a:prstGeom>
          <a:noFill/>
          <a:ln w="254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566160" y="4069080"/>
            <a:ext cx="1645920" cy="0"/>
          </a:xfrm>
          <a:prstGeom prst="line">
            <a:avLst/>
          </a:prstGeom>
          <a:noFill/>
          <a:ln w="25400">
            <a:solidFill>
              <a:schemeClr val="bg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60720" y="4069080"/>
            <a:ext cx="1645920" cy="0"/>
          </a:xfrm>
          <a:prstGeom prst="line">
            <a:avLst/>
          </a:prstGeom>
          <a:noFill/>
          <a:ln w="25400">
            <a:solidFill>
              <a:schemeClr val="bg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794760"/>
            <a:ext cx="548640" cy="54864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17520" y="3794760"/>
            <a:ext cx="548640" cy="54864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0" y="3794760"/>
            <a:ext cx="548640" cy="54864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06640" y="3794760"/>
            <a:ext cx="548640" cy="54864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AI Route Assistant</a:t>
            </a:r>
            <a:endParaRPr lang="en-US" sz="3200" dirty="0"/>
          </a:p>
        </p:txBody>
      </p:sp>
      <p:sp>
        <p:nvSpPr>
          <p:cNvPr id="3" name="Section tag"/>
          <p:cNvSpPr txBox="1"/>
          <p:nvPr/>
        </p:nvSpPr>
        <p:spPr>
          <a:xfrm>
            <a:off x="457200" y="201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THE STORY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1810512" y="1783080"/>
            <a:ext cx="1133856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6" name="Shape 3"/>
          <p:cNvSpPr/>
          <p:nvPr/>
        </p:nvSpPr>
        <p:spPr>
          <a:xfrm>
            <a:off x="4005072" y="1783080"/>
            <a:ext cx="1133856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7" name="Shape 4"/>
          <p:cNvSpPr/>
          <p:nvPr/>
        </p:nvSpPr>
        <p:spPr>
          <a:xfrm>
            <a:off x="6199632" y="1783080"/>
            <a:ext cx="1133856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8" name="Text 5"/>
          <p:cNvSpPr txBox="1"/>
          <p:nvPr/>
        </p:nvSpPr>
        <p:spPr>
          <a:xfrm>
            <a:off x="822960" y="132588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S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365760" y="23317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Vijaynagar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Start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3017520" y="132588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1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2560320" y="23317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Bengali Square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Via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212080" y="132588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2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4754880" y="23317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Rau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Via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406640" y="132588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G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6949440" y="23317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CDGI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Goal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57200" y="3246120"/>
            <a:ext cx="265176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32461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Start = Vijaynagar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3246120" y="3246120"/>
            <a:ext cx="265176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337560" y="32461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Destination = CDGI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035040" y="3246120"/>
            <a:ext cx="265176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126480" y="32461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Roads connect locations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57200" y="3886200"/>
            <a:ext cx="265176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48640" y="38862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Roads may be open or closed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3246120" y="3886200"/>
            <a:ext cx="265176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337560" y="38862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Traffic can change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035040" y="3886200"/>
            <a:ext cx="265176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126480" y="38862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Routes differ in distance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Is Knowledge Representation?</a:t>
            </a:r>
            <a:endParaRPr lang="en-US" sz="3200" dirty="0"/>
          </a:p>
        </p:txBody>
      </p:sp>
      <p:sp>
        <p:nvSpPr>
          <p:cNvPr id="3" name="Section tag"/>
          <p:cNvSpPr txBox="1"/>
          <p:nvPr/>
        </p:nvSpPr>
        <p:spPr>
          <a:xfrm>
            <a:off x="457200" y="201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KNOWLEDGE REPRESENTATION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3383280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371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Real-world knowledge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783080"/>
            <a:ext cx="3017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Start is Vijaynagar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Destination is CDGI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Roads connect places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Roads open or closed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Traffic changes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931920" y="2468880"/>
            <a:ext cx="54864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9" name="Text 6"/>
          <p:cNvSpPr txBox="1"/>
          <p:nvPr/>
        </p:nvSpPr>
        <p:spPr>
          <a:xfrm>
            <a:off x="4572000" y="1325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Representation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4572000" y="1737360"/>
            <a:ext cx="4114800" cy="1920240"/>
          </a:xfrm>
          <a:prstGeom prst="roundRect">
            <a:avLst>
              <a:gd name="adj" fmla="val 3810"/>
            </a:avLst>
          </a:prstGeom>
          <a:solidFill>
            <a:schemeClr val="tx2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Start(Vijaynagar)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Goal(CDGI)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Connected(Vijaynagar, BengaliSquare)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Connected(BengaliSquare, Rau)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Connected(Rau, CDGI)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3886200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3886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Knowledge Representation = converting real-world route knowledge into a form AI can store and reason with.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Four Adequacy Problems</a:t>
            </a:r>
            <a:endParaRPr lang="en-US" sz="3200" dirty="0"/>
          </a:p>
        </p:txBody>
      </p:sp>
      <p:sp>
        <p:nvSpPr>
          <p:cNvPr id="3" name="Section tag"/>
          <p:cNvSpPr txBox="1"/>
          <p:nvPr/>
        </p:nvSpPr>
        <p:spPr>
          <a:xfrm>
            <a:off x="457200" y="201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KNOWLEDGE REPRESENTATION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402336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13898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Representational Adequacy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234440" y="17830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Can the AI represent locations, roads, distances, traffic, closures and alternative routes?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663440" y="1280160"/>
            <a:ext cx="402336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46320" y="14630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440680" y="13898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Inferential Adequacy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440680" y="17830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From Connected facts it infers: Vijaynagar → Bengali Square → Rau → CDGI.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2926080"/>
            <a:ext cx="402336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234440" y="30358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Inferential Efficiency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234440" y="34290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With thousands of Indore roads, it must skip unpromising ones and find routes fast.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663440" y="2926080"/>
            <a:ext cx="402336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846320" y="31089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5440680" y="30358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Acquisitional Efficiency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5440680" y="34290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New road? Add New_Road = Open. Closure? Road_A = Closed. Updates must be easy.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When Information Is Imperfect</a:t>
            </a:r>
            <a:endParaRPr lang="en-US" sz="3200" dirty="0"/>
          </a:p>
        </p:txBody>
      </p:sp>
      <p:sp>
        <p:nvSpPr>
          <p:cNvPr id="3" name="Section tag"/>
          <p:cNvSpPr txBox="1"/>
          <p:nvPr/>
        </p:nvSpPr>
        <p:spPr>
          <a:xfrm>
            <a:off x="457200" y="201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KNOWLEDGE REPRESENTATION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822960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1280160"/>
            <a:ext cx="2011680" cy="731520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Ambiguous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2651760" y="128016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“Take the main road to CDGI.” Shortest? Widest? Fastest? Least traffic?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2103120"/>
            <a:ext cx="822960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2103120"/>
            <a:ext cx="2011680" cy="731520"/>
          </a:xfrm>
          <a:prstGeom prst="roundRect">
            <a:avLst>
              <a:gd name="adj" fmla="val 12500"/>
            </a:avLst>
          </a:prstGeom>
          <a:solidFill>
            <a:schemeClr val="accent5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Incomplete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2651760" y="210312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Knows Vijaynagar → CDGI, but not current traffic, construction, closures or exact time.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7200" y="2926080"/>
            <a:ext cx="2011680" cy="731520"/>
          </a:xfrm>
          <a:prstGeom prst="roundRect">
            <a:avLst>
              <a:gd name="adj" fmla="val 12500"/>
            </a:avLst>
          </a:prstGeom>
          <a:solidFill>
            <a:schemeClr val="accent6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Uncertain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2651760" y="292608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Estimated_Time = 30 minutes, Confidence = 80%. Traffic can change.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57200" y="3749040"/>
            <a:ext cx="822960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7200" y="3749040"/>
            <a:ext cx="2011680" cy="731520"/>
          </a:xfrm>
          <a:prstGeom prst="roundRect">
            <a:avLst>
              <a:gd name="adj" fmla="val 12500"/>
            </a:avLst>
          </a:prstGeom>
          <a:solidFill>
            <a:schemeClr val="accent4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Contradictory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2651760" y="374904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Source 1: Road_A = Open. Source 2: Road_A = Closed. Which one is current?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Changing and Common-Sense Knowledge</a:t>
            </a:r>
            <a:endParaRPr lang="en-US" sz="3200" dirty="0"/>
          </a:p>
        </p:txBody>
      </p:sp>
      <p:sp>
        <p:nvSpPr>
          <p:cNvPr id="3" name="Section tag"/>
          <p:cNvSpPr txBox="1"/>
          <p:nvPr/>
        </p:nvSpPr>
        <p:spPr>
          <a:xfrm>
            <a:off x="457200" y="201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KNOWLEDGE REPRESENTATION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4023360" cy="32004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Changing knowledge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9202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Today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783080" y="1920240"/>
            <a:ext cx="2468880" cy="4572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Road_A = Open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017520" y="2377440"/>
            <a:ext cx="0" cy="27432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0" name="Text 7"/>
          <p:cNvSpPr txBox="1"/>
          <p:nvPr/>
        </p:nvSpPr>
        <p:spPr>
          <a:xfrm>
            <a:off x="640080" y="26517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Tomorrow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783080" y="2651760"/>
            <a:ext cx="2468880" cy="457200"/>
          </a:xfrm>
          <a:prstGeom prst="roundRect">
            <a:avLst>
              <a:gd name="adj" fmla="val 16000"/>
            </a:avLst>
          </a:prstGeom>
          <a:solidFill>
            <a:schemeClr val="accent4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Road_A = Closed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017520" y="3108960"/>
            <a:ext cx="0" cy="27432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3" name="Text 10"/>
          <p:cNvSpPr txBox="1"/>
          <p:nvPr/>
        </p:nvSpPr>
        <p:spPr>
          <a:xfrm>
            <a:off x="640080" y="33832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Next week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783080" y="3383280"/>
            <a:ext cx="2468880" cy="4572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Road_A = Open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4023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Knowledge must be updated as time passes.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663440" y="1280160"/>
            <a:ext cx="4023360" cy="32004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84632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Common-sense knowledge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4846320" y="17830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Heavy traffic usually increases travel time.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846320" y="2423160"/>
            <a:ext cx="3657600" cy="502920"/>
          </a:xfrm>
          <a:prstGeom prst="roundRect">
            <a:avLst>
              <a:gd name="adj" fmla="val 14545"/>
            </a:avLst>
          </a:prstGeom>
          <a:solidFill>
            <a:schemeClr val="accent4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Route 1: shorter, heavy traffic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4846320" y="3108960"/>
            <a:ext cx="3657600" cy="502920"/>
          </a:xfrm>
          <a:prstGeom prst="roundRect">
            <a:avLst>
              <a:gd name="adj" fmla="val 14545"/>
            </a:avLst>
          </a:prstGeom>
          <a:solidFill>
            <a:schemeClr val="accent3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Route 2: longer, clear road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4846320" y="37490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AI prefers Route 2. This is common-sense reasoning.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Propositional Logic</a:t>
            </a:r>
            <a:endParaRPr lang="en-US" sz="3200" dirty="0"/>
          </a:p>
        </p:txBody>
      </p:sp>
      <p:sp>
        <p:nvSpPr>
          <p:cNvPr id="3" name="Section tag"/>
          <p:cNvSpPr txBox="1"/>
          <p:nvPr/>
        </p:nvSpPr>
        <p:spPr>
          <a:xfrm>
            <a:off x="457200" y="201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LOGIC AND REASONING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402336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508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P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12801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Let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 =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Road_A is open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663440" y="1280160"/>
            <a:ext cx="402336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892040" y="1508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Q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577840" y="12801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Let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Q =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Road_A can be used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242316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→ Q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4663440" y="242316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Read as: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If Road A is open, then Road A can be used.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3840480"/>
            <a:ext cx="2011680" cy="594360"/>
          </a:xfrm>
          <a:prstGeom prst="roundRect">
            <a:avLst>
              <a:gd name="adj" fmla="val 12308"/>
            </a:avLst>
          </a:prstGeom>
          <a:solidFill>
            <a:schemeClr val="accent5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 = True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2560320" y="4133088"/>
            <a:ext cx="82296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5" name="Text 12"/>
          <p:cNvSpPr txBox="1"/>
          <p:nvPr/>
        </p:nvSpPr>
        <p:spPr>
          <a:xfrm>
            <a:off x="3474720" y="3840480"/>
            <a:ext cx="2011680" cy="594360"/>
          </a:xfrm>
          <a:prstGeom prst="roundRect">
            <a:avLst>
              <a:gd name="adj" fmla="val 12308"/>
            </a:avLst>
          </a:prstGeom>
          <a:solidFill>
            <a:schemeClr val="accent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Q = True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5760720" y="38404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Road A is open, so it can be used.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Predicate Logic and Quantifiers</a:t>
            </a:r>
            <a:endParaRPr lang="en-US" sz="3200" dirty="0"/>
          </a:p>
        </p:txBody>
      </p:sp>
      <p:sp>
        <p:nvSpPr>
          <p:cNvPr id="3" name="Section tag"/>
          <p:cNvSpPr txBox="1"/>
          <p:nvPr/>
        </p:nvSpPr>
        <p:spPr>
          <a:xfrm>
            <a:off x="457200" y="201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LOGIC AND REASONING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4023360" cy="32004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Objects and relations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28800"/>
            <a:ext cx="3657600" cy="2468880"/>
          </a:xfrm>
          <a:prstGeom prst="roundRect">
            <a:avLst>
              <a:gd name="adj" fmla="val 2963"/>
            </a:avLst>
          </a:prstGeom>
          <a:solidFill>
            <a:schemeClr val="tx2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Location(Vijaynagar)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Location(CDGI)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Connected(Vijaynagar, BengaliSquare)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Connected(BengaliSquare, Rau)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Connected(Rau, CDGI)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Open(RoadA)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663440" y="1280160"/>
            <a:ext cx="402336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846320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∀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40680" y="13716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Universal: every open road is usable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846320" y="2011680"/>
            <a:ext cx="3657600" cy="594360"/>
          </a:xfrm>
          <a:prstGeom prst="roundRect">
            <a:avLst>
              <a:gd name="adj" fmla="val 12308"/>
            </a:avLst>
          </a:prstGeom>
          <a:solidFill>
            <a:schemeClr val="tx2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∀x [Open(x) → Usable(x)]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663440" y="2971800"/>
            <a:ext cx="402336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846320" y="31546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∃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5440680" y="30632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Existential: a route exists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846320" y="3703320"/>
            <a:ext cx="3657600" cy="594360"/>
          </a:xfrm>
          <a:prstGeom prst="roundRect">
            <a:avLst>
              <a:gd name="adj" fmla="val 12308"/>
            </a:avLst>
          </a:prstGeom>
          <a:solidFill>
            <a:schemeClr val="tx2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∃x Route(x, Vijaynagar, CDGI)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Deduction and Inference</a:t>
            </a:r>
            <a:endParaRPr lang="en-US" sz="3200" dirty="0"/>
          </a:p>
        </p:txBody>
      </p:sp>
      <p:sp>
        <p:nvSpPr>
          <p:cNvPr id="3" name="Section tag"/>
          <p:cNvSpPr txBox="1"/>
          <p:nvPr/>
        </p:nvSpPr>
        <p:spPr>
          <a:xfrm>
            <a:off x="457200" y="201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LOGIC AND REASONING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4023360" cy="32004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Deduction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28800"/>
            <a:ext cx="3657600" cy="128016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Open(RoadA)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∀x [Open(x) → Usable(x)]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Usable(RoadA)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2918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Road A is open + all open roads are usable → Road A is usable.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663440" y="1280160"/>
            <a:ext cx="4023360" cy="32004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4632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Inference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4846320" y="1828800"/>
            <a:ext cx="365760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Connected(Vijaynagar, BengaliSquare)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Connected(BengaliSquare, Rau)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Connected(Rau, CDGI)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675120" y="2788920"/>
            <a:ext cx="0" cy="27432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3" name="Text 10"/>
          <p:cNvSpPr txBox="1"/>
          <p:nvPr/>
        </p:nvSpPr>
        <p:spPr>
          <a:xfrm>
            <a:off x="4846320" y="3383280"/>
            <a:ext cx="3657600" cy="594360"/>
          </a:xfrm>
          <a:prstGeom prst="roundRect">
            <a:avLst>
              <a:gd name="adj" fmla="val 12308"/>
            </a:avLst>
          </a:prstGeom>
          <a:solidFill>
            <a:schemeClr val="accent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Vijaynagar → Bengali Square → Rau → CDGI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846320" y="4023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New knowledge derived from existing knowledge.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Theorem Proving and Refutation</a:t>
            </a:r>
            <a:endParaRPr lang="en-US" sz="3200" dirty="0"/>
          </a:p>
        </p:txBody>
      </p:sp>
      <p:sp>
        <p:nvSpPr>
          <p:cNvPr id="3" name="Section tag"/>
          <p:cNvSpPr txBox="1"/>
          <p:nvPr/>
        </p:nvSpPr>
        <p:spPr>
          <a:xfrm>
            <a:off x="457200" y="201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LOGIC AND REASONING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4023360" cy="32004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Theorem proving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783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Knowledge base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057400"/>
            <a:ext cx="365760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Open(RoadA)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∀x [Open(x) → Usable(x)]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926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Goal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200400"/>
            <a:ext cx="3657600" cy="411480"/>
          </a:xfrm>
          <a:prstGeom prst="roundRect">
            <a:avLst>
              <a:gd name="adj" fmla="val 17778"/>
            </a:avLst>
          </a:prstGeom>
          <a:solidFill>
            <a:schemeClr val="tx2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Usable(RoadA)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3794760"/>
            <a:ext cx="3657600" cy="502920"/>
          </a:xfrm>
          <a:prstGeom prst="roundRect">
            <a:avLst>
              <a:gd name="adj" fmla="val 14545"/>
            </a:avLst>
          </a:prstGeom>
          <a:solidFill>
            <a:schemeClr val="accent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Theorem proved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663440" y="1280160"/>
            <a:ext cx="4023360" cy="32004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84632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Refutation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4846320" y="1892808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440680" y="18288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Assume the opposite: ¬Usable(RoadA)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846320" y="2532888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5440680" y="24688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KB gives Usable(RoadA)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4846320" y="3172968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5440680" y="31089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Usable(RoadA) ∧ ¬Usable(RoadA) is a contradiction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4846320" y="3813048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440680" y="37490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 Usable(RoadA) is proved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Resolution</a:t>
            </a:r>
            <a:endParaRPr lang="en-US" sz="3200" dirty="0"/>
          </a:p>
        </p:txBody>
      </p:sp>
      <p:sp>
        <p:nvSpPr>
          <p:cNvPr id="3" name="Section tag"/>
          <p:cNvSpPr txBox="1"/>
          <p:nvPr/>
        </p:nvSpPr>
        <p:spPr>
          <a:xfrm>
            <a:off x="457200" y="201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LOGIC AND REASONING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371600"/>
            <a:ext cx="512064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Open(RoadA) ∨ Traffic(RoadA)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194560"/>
            <a:ext cx="512064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¬Traffic(RoadA)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57200" y="3063240"/>
            <a:ext cx="5120640" cy="0"/>
          </a:xfrm>
          <a:prstGeom prst="line">
            <a:avLst/>
          </a:prstGeom>
          <a:noFill/>
          <a:ln w="38100">
            <a:solidFill>
              <a:schemeClr val="tx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3246120"/>
            <a:ext cx="5120640" cy="822960"/>
          </a:xfrm>
          <a:prstGeom prst="roundRect">
            <a:avLst>
              <a:gd name="adj" fmla="val 8889"/>
            </a:avLst>
          </a:prstGeom>
          <a:solidFill>
            <a:schemeClr val="accent2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Open(RoadA)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852160" y="1371600"/>
            <a:ext cx="2834640" cy="2697480"/>
          </a:xfrm>
          <a:prstGeom prst="roundRect">
            <a:avLst>
              <a:gd name="adj" fmla="val 33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035040" y="1463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How it works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035040" y="1874520"/>
            <a:ext cx="2468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Traffic(RoadA) is positive in one clause and negated in the other.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They cancel out.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What remains: Open(RoadA)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Monotonic vs Non-Monotonic</a:t>
            </a:r>
            <a:endParaRPr lang="en-US" sz="3200" dirty="0"/>
          </a:p>
        </p:txBody>
      </p:sp>
      <p:sp>
        <p:nvSpPr>
          <p:cNvPr id="3" name="Section tag"/>
          <p:cNvSpPr txBox="1"/>
          <p:nvPr/>
        </p:nvSpPr>
        <p:spPr>
          <a:xfrm>
            <a:off x="457200" y="201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LOGIC AND REASONING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4023360" cy="32004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417320"/>
            <a:ext cx="365760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Monotonic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1488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Knowledge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783080" y="2148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Open(RoadA)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7157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Conclusion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783080" y="27157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RoadA can be used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328269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New info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783080" y="328269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RoadA = 10 km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384962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Result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783080" y="384962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Conclusion remains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663440" y="1280160"/>
            <a:ext cx="4023360" cy="32004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46320" y="1417320"/>
            <a:ext cx="3657600" cy="502920"/>
          </a:xfrm>
          <a:prstGeom prst="roundRect">
            <a:avLst>
              <a:gd name="adj" fmla="val 18182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Non-monotonic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4892040" y="21488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Knowledge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989320" y="2148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Open(RoadA)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892040" y="27157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Conclusion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5989320" y="27157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RoadA can be used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4892040" y="328269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New info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989320" y="328269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RoadA = Closed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4892040" y="384962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Result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989320" y="384962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Withdrawn: find another route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Production Rules</a:t>
            </a:r>
            <a:endParaRPr lang="en-US" sz="3200" dirty="0"/>
          </a:p>
        </p:txBody>
      </p:sp>
      <p:sp>
        <p:nvSpPr>
          <p:cNvPr id="3" name="Section tag"/>
          <p:cNvSpPr txBox="1"/>
          <p:nvPr/>
        </p:nvSpPr>
        <p:spPr>
          <a:xfrm>
            <a:off x="457200" y="201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PRODUCTION SYSTEMS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49377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53619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128016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Rule 1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Current_Location = Vijaynagar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 Move_To = BengaliSquare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2423160"/>
            <a:ext cx="49377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267919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42316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Rule 2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Current_Location = BengaliSquare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 Move_To = Rau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3566160"/>
            <a:ext cx="49377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382219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280160" y="356616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Rule 3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Current_Location = Rau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 Move_To = CDGI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309360" y="1280160"/>
            <a:ext cx="219456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Vijaynagar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406640" y="1737360"/>
            <a:ext cx="0" cy="41148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6" name="Text 13"/>
          <p:cNvSpPr txBox="1"/>
          <p:nvPr/>
        </p:nvSpPr>
        <p:spPr>
          <a:xfrm>
            <a:off x="7543800" y="17373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Rule 1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309360" y="2148840"/>
            <a:ext cx="219456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Bengali Square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406640" y="2606040"/>
            <a:ext cx="0" cy="41148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9" name="Text 16"/>
          <p:cNvSpPr txBox="1"/>
          <p:nvPr/>
        </p:nvSpPr>
        <p:spPr>
          <a:xfrm>
            <a:off x="7543800" y="26060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Rule 2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309360" y="3017520"/>
            <a:ext cx="219456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Rau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7406640" y="3474720"/>
            <a:ext cx="0" cy="41148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2" name="Text 19"/>
          <p:cNvSpPr txBox="1"/>
          <p:nvPr/>
        </p:nvSpPr>
        <p:spPr>
          <a:xfrm>
            <a:off x="7543800" y="34747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Rule 3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309360" y="3886200"/>
            <a:ext cx="219456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CDGI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 Complete Production System</a:t>
            </a:r>
            <a:endParaRPr lang="en-US" sz="3200" dirty="0"/>
          </a:p>
        </p:txBody>
      </p:sp>
      <p:sp>
        <p:nvSpPr>
          <p:cNvPr id="3" name="Section tag"/>
          <p:cNvSpPr txBox="1"/>
          <p:nvPr/>
        </p:nvSpPr>
        <p:spPr>
          <a:xfrm>
            <a:off x="457200" y="201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PRODUCTION SYSTEMS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2651760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41732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13898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Production rules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057400"/>
            <a:ext cx="228600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condition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 action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46120" y="1280160"/>
            <a:ext cx="2651760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429000" y="141732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977640" y="13898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Working memory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429000" y="2057400"/>
            <a:ext cx="228600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Current_Location =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Vijaynagar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035040" y="1280160"/>
            <a:ext cx="2651760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0" y="141732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766560" y="13898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Control strategy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6217920" y="20574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Decides which applicable rule should be executed.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3611880"/>
            <a:ext cx="1371600" cy="777240"/>
          </a:xfrm>
          <a:prstGeom prst="chevron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Current state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828800" y="3611880"/>
            <a:ext cx="1371600" cy="777240"/>
          </a:xfrm>
          <a:prstGeom prst="chevron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Check rules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3200400" y="3611880"/>
            <a:ext cx="1371600" cy="777240"/>
          </a:xfrm>
          <a:prstGeom prst="chevron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Select rule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0" y="3611880"/>
            <a:ext cx="1371600" cy="777240"/>
          </a:xfrm>
          <a:prstGeom prst="chevron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Apply rule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5943600" y="3611880"/>
            <a:ext cx="1371600" cy="777240"/>
          </a:xfrm>
          <a:prstGeom prst="chevron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New state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7315200" y="3611880"/>
            <a:ext cx="1371600" cy="777240"/>
          </a:xfrm>
          <a:prstGeom prst="chevron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Repeat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Search Space, State and Goal</a:t>
            </a:r>
            <a:endParaRPr lang="en-US" sz="3200" dirty="0"/>
          </a:p>
        </p:txBody>
      </p:sp>
      <p:sp>
        <p:nvSpPr>
          <p:cNvPr id="3" name="Section tag"/>
          <p:cNvSpPr txBox="1"/>
          <p:nvPr/>
        </p:nvSpPr>
        <p:spPr>
          <a:xfrm>
            <a:off x="457200" y="201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SEARCH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 flipH="1">
            <a:off x="1645920" y="1737360"/>
            <a:ext cx="1371600" cy="41148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017520" y="1737360"/>
            <a:ext cx="1371600" cy="41148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645920" y="2606040"/>
            <a:ext cx="0" cy="41148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389120" y="2606040"/>
            <a:ext cx="0" cy="41148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45920" y="3474720"/>
            <a:ext cx="1371600" cy="41148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 flipH="1">
            <a:off x="3017520" y="3474720"/>
            <a:ext cx="1371600" cy="41148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240280" y="1280160"/>
            <a:ext cx="155448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Vijaynagar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2148840"/>
            <a:ext cx="155448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Bengali Square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2148840"/>
            <a:ext cx="1554480" cy="457200"/>
          </a:xfrm>
          <a:prstGeom prst="roundRect">
            <a:avLst>
              <a:gd name="adj" fmla="val 16000"/>
            </a:avLst>
          </a:prstGeom>
          <a:solidFill>
            <a:schemeClr val="accent5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Location X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868680" y="3017520"/>
            <a:ext cx="155448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Rau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611880" y="3017520"/>
            <a:ext cx="1554480" cy="457200"/>
          </a:xfrm>
          <a:prstGeom prst="roundRect">
            <a:avLst>
              <a:gd name="adj" fmla="val 16000"/>
            </a:avLst>
          </a:prstGeom>
          <a:solidFill>
            <a:schemeClr val="accent5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Location Y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2240280" y="3886200"/>
            <a:ext cx="155448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CDGI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051560" y="15544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Route A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3977640" y="15544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Route B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943600" y="1280160"/>
            <a:ext cx="274320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080760" y="128016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Search space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All possible routes the AI can explore.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943600" y="2423160"/>
            <a:ext cx="274320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080760" y="242316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State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Current situation, e.g. Current_Location = Rau.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5943600" y="3566160"/>
            <a:ext cx="2743200" cy="960120"/>
          </a:xfrm>
          <a:prstGeom prst="roundRect">
            <a:avLst>
              <a:gd name="adj" fmla="val 9524"/>
            </a:avLst>
          </a:prstGeom>
          <a:solidFill>
            <a:schemeClr val="accent2">
              <a:alpha val="40000"/>
            </a:schemeClr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080760" y="356616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Goal state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Current_Location = CDGI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Heuristic Information</a:t>
            </a:r>
            <a:endParaRPr lang="en-US" sz="3200" dirty="0"/>
          </a:p>
        </p:txBody>
      </p:sp>
      <p:sp>
        <p:nvSpPr>
          <p:cNvPr id="3" name="Section tag"/>
          <p:cNvSpPr txBox="1"/>
          <p:nvPr/>
        </p:nvSpPr>
        <p:spPr>
          <a:xfrm>
            <a:off x="457200" y="201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SEARCH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3657600" cy="320040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463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HEURISTIC ESTIMATE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01168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~12 km</a:t>
            </a:r>
            <a:endParaRPr lang="en-US" sz="6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383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estimated Vijaynagar → CDGI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89120" y="1280160"/>
            <a:ext cx="429768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0" y="1508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212080" y="12801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An estimate, not an exact value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389120" y="2377440"/>
            <a:ext cx="429768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0" y="2606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5212080" y="23774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Guides the search to promising routes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389120" y="3474720"/>
            <a:ext cx="429768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0" y="3703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5212080" y="34747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Used by Hill Climbing, Best-First and A*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Hill Climbing</a:t>
            </a:r>
            <a:endParaRPr lang="en-US" sz="3200" dirty="0"/>
          </a:p>
        </p:txBody>
      </p:sp>
      <p:sp>
        <p:nvSpPr>
          <p:cNvPr id="3" name="Section tag"/>
          <p:cNvSpPr txBox="1"/>
          <p:nvPr/>
        </p:nvSpPr>
        <p:spPr>
          <a:xfrm>
            <a:off x="457200" y="201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SEARCH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657600"/>
            <a:ext cx="1097280" cy="82296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76200" tIns="38100" rIns="38100" bIns="3810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Vijaynagar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645920" y="2926080"/>
            <a:ext cx="1097280" cy="155448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76200" tIns="38100" rIns="38100" bIns="3810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Bengali Square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2834640" y="2194560"/>
            <a:ext cx="1097280" cy="228600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76200" tIns="38100" rIns="38100" bIns="3810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Rau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023360" y="1463040"/>
            <a:ext cx="1097280" cy="301752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76200" tIns="38100" rIns="38100" bIns="3810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CDGI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0" y="1280160"/>
            <a:ext cx="320040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669280" y="1371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How it works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669280" y="178308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Always moves to the neighbour that looks closest to CDGI.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0" y="3017520"/>
            <a:ext cx="3200400" cy="1463040"/>
          </a:xfrm>
          <a:prstGeom prst="roundRect">
            <a:avLst>
              <a:gd name="adj" fmla="val 6250"/>
            </a:avLst>
          </a:prstGeom>
          <a:solidFill>
            <a:schemeClr val="accent4">
              <a:alpha val="15000"/>
            </a:schemeClr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669280" y="3108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The problem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5669280" y="352044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Looks only at the best neighbour, so a locally good route may not be globally best.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Best-First Search</a:t>
            </a:r>
            <a:endParaRPr lang="en-US" sz="3200" dirty="0"/>
          </a:p>
        </p:txBody>
      </p:sp>
      <p:sp>
        <p:nvSpPr>
          <p:cNvPr id="3" name="Section tag"/>
          <p:cNvSpPr txBox="1"/>
          <p:nvPr/>
        </p:nvSpPr>
        <p:spPr>
          <a:xfrm>
            <a:off x="457200" y="201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SEARCH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49377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2"/>
          <p:cNvSpPr/>
          <p:nvPr/>
        </p:nvSpPr>
        <p:spPr>
          <a:xfrm>
            <a:off x="5669280" y="1280160"/>
            <a:ext cx="3017520" cy="1554480"/>
          </a:xfrm>
          <a:prstGeom prst="roundRect">
            <a:avLst>
              <a:gd name="adj" fmla="val 5882"/>
            </a:avLst>
          </a:prstGeom>
          <a:solidFill>
            <a:schemeClr val="accent2">
              <a:alpha val="40000"/>
            </a:schemeClr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852160" y="1280160"/>
            <a:ext cx="2651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Selects Route 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It has the lowest estimate: 5 km.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669280" y="3017520"/>
            <a:ext cx="30175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852160" y="301752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Greedy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Uses only h(n) and ignores distance already travelled.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A* Search</a:t>
            </a:r>
            <a:endParaRPr lang="en-US" sz="3200" dirty="0"/>
          </a:p>
        </p:txBody>
      </p:sp>
      <p:sp>
        <p:nvSpPr>
          <p:cNvPr id="3" name="Section tag"/>
          <p:cNvSpPr txBox="1"/>
          <p:nvPr/>
        </p:nvSpPr>
        <p:spPr>
          <a:xfrm>
            <a:off x="457200" y="201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SEARCH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280160"/>
            <a:ext cx="4023360" cy="11430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f(n) = g(n) + h(n)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4663440" y="1280160"/>
            <a:ext cx="402336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846320" y="128016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g(n)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= actual cost already travelled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h(n)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= estimated remaining cost</a:t>
            </a:r>
            <a:endParaRPr lang="en-US" sz="1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97480"/>
          <a:ext cx="51206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371600"/>
                <a:gridCol w="1371600"/>
                <a:gridCol w="13716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Route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g(n)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h(n)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f(n)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 km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 km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9 km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alpha val="4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6 km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alpha val="4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 km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alpha val="4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8 km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alpha val="45000"/>
                      </a:schemeClr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 km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8 km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11 km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852160" y="2697480"/>
            <a:ext cx="2834640" cy="1645920"/>
          </a:xfrm>
          <a:prstGeom prst="roundRect">
            <a:avLst>
              <a:gd name="adj" fmla="val 555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943600" y="2697480"/>
            <a:ext cx="2651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B</a:t>
            </a:r>
            <a:endParaRPr lang="en-US" sz="1400" dirty="0"/>
          </a:p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f(n) = 8 km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AO* Search</a:t>
            </a:r>
            <a:endParaRPr lang="en-US" sz="3200" dirty="0"/>
          </a:p>
        </p:txBody>
      </p:sp>
      <p:sp>
        <p:nvSpPr>
          <p:cNvPr id="3" name="Section tag"/>
          <p:cNvSpPr txBox="1"/>
          <p:nvPr/>
        </p:nvSpPr>
        <p:spPr>
          <a:xfrm>
            <a:off x="457200" y="201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SEARCH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2194560" y="1280160"/>
            <a:ext cx="2011680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Reach CDGI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3200400" y="1783080"/>
            <a:ext cx="0" cy="36576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7" name="Text 4"/>
          <p:cNvSpPr txBox="1"/>
          <p:nvPr/>
        </p:nvSpPr>
        <p:spPr>
          <a:xfrm>
            <a:off x="2194560" y="2194560"/>
            <a:ext cx="201168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Choose route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 flipH="1">
            <a:off x="1737360" y="2697480"/>
            <a:ext cx="1463040" cy="96012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00400" y="2697480"/>
            <a:ext cx="1463040" cy="96012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743200" y="2971800"/>
            <a:ext cx="914400" cy="36576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AND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3657600"/>
            <a:ext cx="1645920" cy="54864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Road A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840480" y="3657600"/>
            <a:ext cx="1645920" cy="54864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Road B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852160" y="1280160"/>
            <a:ext cx="283464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035040" y="128016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Choose one of the alternatives.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852160" y="2926080"/>
            <a:ext cx="2834640" cy="1554480"/>
          </a:xfrm>
          <a:prstGeom prst="roundRect">
            <a:avLst>
              <a:gd name="adj" fmla="val 5882"/>
            </a:avLst>
          </a:prstGeom>
          <a:solidFill>
            <a:schemeClr val="accent2">
              <a:alpha val="40000"/>
            </a:schemeClr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035040" y="2926080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Complete multiple required sub-problems.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Search Algorithms Compared</a:t>
            </a:r>
            <a:endParaRPr lang="en-US" sz="3200" dirty="0"/>
          </a:p>
        </p:txBody>
      </p:sp>
      <p:sp>
        <p:nvSpPr>
          <p:cNvPr id="3" name="Section tag"/>
          <p:cNvSpPr txBox="1"/>
          <p:nvPr/>
        </p:nvSpPr>
        <p:spPr>
          <a:xfrm>
            <a:off x="457200" y="201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SEARCH</a:t>
            </a:r>
            <a:endParaRPr lang="en-US" sz="11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828800"/>
                <a:gridCol w="2651760"/>
                <a:gridCol w="2194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Algorithm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Looks at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In our story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Watch out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Hill Climbing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Best neighbour only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Moves toward CDGI step by step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Can get stuck locally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Best-First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h(n)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Picks Route A (5 km)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Greedy, may miss best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A*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g(n) + h(n)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Picks Route B (f = 8 km)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Needs a good heuristic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AO*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AND-OR graph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Completes all AND sub-goals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For AND-OR problems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Complete Teaching Flow</a:t>
            </a:r>
            <a:endParaRPr lang="en-US" sz="3200" dirty="0"/>
          </a:p>
        </p:txBody>
      </p:sp>
      <p:sp>
        <p:nvSpPr>
          <p:cNvPr id="3" name="Section tag"/>
          <p:cNvSpPr txBox="1"/>
          <p:nvPr/>
        </p:nvSpPr>
        <p:spPr>
          <a:xfrm>
            <a:off x="457200" y="201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RECAP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393192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34416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097280" y="12801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Represent the route knowledge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1938528"/>
            <a:ext cx="393192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002536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097280" y="193852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Facts and rules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2596896"/>
            <a:ext cx="393192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2660904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097280" y="259689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Inference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57200" y="3255264"/>
            <a:ext cx="393192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3319272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097280" y="325526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Possible routes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57200" y="3913632"/>
            <a:ext cx="393192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397764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097280" y="391363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Search space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754880" y="1280160"/>
            <a:ext cx="393192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846320" y="134416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5394960" y="12801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Heuristic information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754880" y="1938528"/>
            <a:ext cx="393192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846320" y="2002536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7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5394960" y="193852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Hill Climbing, Best-First, A*, AO*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4754880" y="2596896"/>
            <a:ext cx="393192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846320" y="2660904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8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5394960" y="259689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Goal state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4754880" y="3255264"/>
            <a:ext cx="3931920" cy="54864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46320" y="3319272"/>
            <a:ext cx="420624" cy="420624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9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5394960" y="325526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CDGI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10972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Goal State Reached: CDGI</a:t>
            </a:r>
            <a:endParaRPr lang="en-US" sz="4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23774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Represent the knowledge, reason with logic, search with heuristics.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66160"/>
            <a:ext cx="192024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Knowledge Representation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606040" y="3566160"/>
            <a:ext cx="192024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Logic and Reasoning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3566160"/>
            <a:ext cx="192024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Production Systems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720840" y="3566160"/>
            <a:ext cx="1920240" cy="73152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Search Algorithms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DGI Route">
  <a:themeElements>
    <a:clrScheme name="CDGI Route">
      <a:dk1>
        <a:srgbClr val="17262B"/>
      </a:dk1>
      <a:lt1>
        <a:srgbClr val="FFFFFF"/>
      </a:lt1>
      <a:dk2>
        <a:srgbClr val="0B3C49"/>
      </a:dk2>
      <a:lt2>
        <a:srgbClr val="EAF3F4"/>
      </a:lt2>
      <a:accent1>
        <a:srgbClr val="12707F"/>
      </a:accent1>
      <a:accent2>
        <a:srgbClr val="F29F05"/>
      </a:accent2>
      <a:accent3>
        <a:srgbClr val="2E8B57"/>
      </a:accent3>
      <a:accent4>
        <a:srgbClr val="C8553D"/>
      </a:accent4>
      <a:accent5>
        <a:srgbClr val="4A6A7D"/>
      </a:accent5>
      <a:accent6>
        <a:srgbClr val="7A5C8E"/>
      </a:accent6>
      <a:hlink>
        <a:srgbClr val="12707F"/>
      </a:hlink>
      <a:folHlink>
        <a:srgbClr val="7A5C8E"/>
      </a:folHlink>
    </a:clrScheme>
    <a:fontScheme name="CDGI Rout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Vijaynagar to CDGI: AI Knowledge Representation</dc:title>
  <dc:subject>PptxGenJS Presentation</dc:subject>
  <dc:creator>PptxGenJS</dc:creator>
  <cp:lastModifiedBy>PptxGenJS</cp:lastModifiedBy>
  <cp:revision>1</cp:revision>
  <dcterms:created xsi:type="dcterms:W3CDTF">2026-10-04T10:57:50Z</dcterms:created>
  <dcterms:modified xsi:type="dcterms:W3CDTF">2026-10-04T10:57:50Z</dcterms:modified>
</cp:coreProperties>
</file>