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5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7604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Theorem proving checks whether the conclusion is logically supported by the knowledge we already have. Substituting Ram for x in the general rule and combining it with the known fact Human(Ram) proves Mortal(Ram).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Ravi is a student; all students study AI; therefore Ravi studies AI. Ask the classroom question and let students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Easy way to remember: Inference is the big concept; deduction is one method of inference.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P or Q is true, and Q is false. Therefore P must be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Theorem proving asks whether the goal follows; resolution is a specific rule that combines clauses.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Easy example: to prove Student(Ravi), assume not Student(Ravi); the knowledge base gives Student(Ravi); contradiction, so Student(Ravi) is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Monotonic: conclusions remain stable. Non-monotonic: conclusions may need revision when new information arrives.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Theorem Proving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Determining whether a conclusion logically follows from known facts and rules.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206240" cy="1783080"/>
          </a:xfrm>
          <a:prstGeom prst="roundRect">
            <a:avLst>
              <a:gd name="adj" fmla="val 5128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Base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Human(Ram)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is a human.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∀x [Human(x) → Mortal(x)]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432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x, if x is human, then x is mortal.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4206240" cy="777240"/>
          </a:xfrm>
          <a:prstGeom prst="roundRect">
            <a:avLst>
              <a:gd name="adj" fmla="val 11765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364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639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B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Mortal(Ram)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is mortal.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1371600"/>
            <a:ext cx="3840480" cy="2697480"/>
          </a:xfrm>
          <a:prstGeom prst="roundRect">
            <a:avLst>
              <a:gd name="adj" fmla="val 3390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0" y="1947672"/>
            <a:ext cx="365760" cy="3657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532120" y="18745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Ram for x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532120" y="21305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Human(Ram) → Mortal(Ram)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0" y="2660904"/>
            <a:ext cx="365760" cy="3657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0" y="2660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25877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already know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532120" y="284378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Human(Ram)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0" y="3374136"/>
            <a:ext cx="365760" cy="365760"/>
          </a:xfrm>
          <a:prstGeom prst="ellipse">
            <a:avLst/>
          </a:prstGeom>
          <a:solidFill>
            <a:srgbClr val="1FB5A8"/>
          </a:solidFill>
          <a:ln w="12700">
            <a:solidFill>
              <a:srgbClr val="1FB5A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29200" y="3374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532120" y="33009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532120" y="355701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Mortal(Ram)  ✓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224528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42245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humans are mortal + Ram is a human = Ram is mortal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Deduction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Deriving a logical conclusion from known facts and rules.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54480"/>
            <a:ext cx="1188720" cy="329184"/>
          </a:xfrm>
          <a:prstGeom prst="roundRect">
            <a:avLst>
              <a:gd name="adj" fmla="val 27778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11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Student(x) →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Studies(x, AI)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60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someone is a student, then that person studies AI.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0116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337560" y="137160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160" y="1554480"/>
            <a:ext cx="1188720" cy="329184"/>
          </a:xfrm>
          <a:prstGeom prst="roundRect">
            <a:avLst>
              <a:gd name="adj" fmla="val 27778"/>
            </a:avLst>
          </a:prstGeom>
          <a:solidFill>
            <a:srgbClr val="1FB5A8"/>
          </a:solidFill>
          <a:ln w="12700">
            <a:solidFill>
              <a:srgbClr val="1FB5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15544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011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Student(Ravi)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560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is a student.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20116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1554480"/>
            <a:ext cx="1188720" cy="329184"/>
          </a:xfrm>
          <a:prstGeom prst="roundRect">
            <a:avLst>
              <a:gd name="adj" fmla="val 27778"/>
            </a:avLst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15544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2011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Studies(Ravi, AI)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560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Therefore, Ravi studies AI.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38328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+ Fact → Logical Conclusion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40233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question:  </a:t>
            </a: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all students study AI and Ravi is a student, what can we conclude?  </a:t>
            </a:r>
            <a:r>
              <a:rPr lang="en-US" sz="1300" b="1" dirty="0">
                <a:solidFill>
                  <a:srgbClr val="0F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studies AI ✓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Deduction vs Inference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577840" cy="3200400"/>
        </p:xfrm>
        <a:graphic>
          <a:graphicData uri="http://schemas.openxmlformats.org/drawingml/2006/table">
            <a:tbl>
              <a:tblPr/>
              <a:tblGrid>
                <a:gridCol w="2788920"/>
                <a:gridCol w="278892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Deduction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Inference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specific form of logical reasoning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broader process of deriving new knowledge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known facts and rules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involve different reasoning processes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Produces a logically derived conclusion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Produces new knowledge from existing knowledge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Student(Ravi) + Student → Studies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 studies AI, derived from existing knowledge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8"/>
                    </a:solidFill>
                  </a:tcPr>
                </a:tc>
              </a:tr>
            </a:tbl>
          </a:graphicData>
        </a:graphic>
      </p:graphicFrame>
      <p:sp>
        <p:nvSpPr>
          <p:cNvPr id="3" name="Shape 1"/>
          <p:cNvSpPr/>
          <p:nvPr/>
        </p:nvSpPr>
        <p:spPr>
          <a:xfrm>
            <a:off x="6355080" y="1188720"/>
            <a:ext cx="2331720" cy="2331720"/>
          </a:xfrm>
          <a:prstGeom prst="ellipse">
            <a:avLst/>
          </a:prstGeom>
          <a:solidFill>
            <a:srgbClr val="E3F6F4"/>
          </a:solidFill>
          <a:ln w="25400">
            <a:solidFill>
              <a:srgbClr val="1FB5A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355080" y="1325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85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355080" y="16276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concept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720840" y="2011680"/>
            <a:ext cx="1600200" cy="1325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720840" y="20116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Deduction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method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55080" y="3749040"/>
            <a:ext cx="2331720" cy="594360"/>
          </a:xfrm>
          <a:prstGeom prst="roundRect">
            <a:avLst>
              <a:gd name="adj" fmla="val 15385"/>
            </a:avLst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55080" y="37490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Deduction is a type of inference.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two clauses containing complementary literals to produce a new clause.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 rule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∨ Q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23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¬Q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88720" y="3017520"/>
            <a:ext cx="237744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108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977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and ¬Q cancel each other.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80560" y="1371600"/>
            <a:ext cx="4206240" cy="3291840"/>
          </a:xfrm>
          <a:prstGeom prst="roundRect">
            <a:avLst>
              <a:gd name="adj" fmla="val 2778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463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it work?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8288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 ∨ Q is true but Q is false, then the only possibility is that P is true.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697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Literals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3108960"/>
            <a:ext cx="640080" cy="365760"/>
          </a:xfrm>
          <a:prstGeom prst="roundRect">
            <a:avLst>
              <a:gd name="adj" fmla="val 25000"/>
            </a:avLst>
          </a:prstGeom>
          <a:solidFill>
            <a:srgbClr val="1FB5A8"/>
          </a:solidFill>
          <a:ln w="12700">
            <a:solidFill>
              <a:srgbClr val="1FB5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31089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literal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3611880"/>
            <a:ext cx="640080" cy="365760"/>
          </a:xfrm>
          <a:prstGeom prst="roundRect">
            <a:avLst>
              <a:gd name="adj" fmla="val 25000"/>
            </a:avLst>
          </a:prstGeom>
          <a:solidFill>
            <a:srgbClr val="1FB5A8"/>
          </a:solidFill>
          <a:ln w="12700">
            <a:solidFill>
              <a:srgbClr val="1FB5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3611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¬Q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/ complementary literal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4114800"/>
            <a:ext cx="640080" cy="365760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63440" y="4114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4114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resulting 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Theorem Proving vs Resolution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651760"/>
        </p:xfrm>
        <a:graphic>
          <a:graphicData uri="http://schemas.openxmlformats.org/drawingml/2006/table">
            <a:tbl>
              <a:tblPr/>
              <a:tblGrid>
                <a:gridCol w="1371600"/>
                <a:gridCol w="3429000"/>
                <a:gridCol w="342900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Theorem Proving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Resolution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process of proving a conclusion logically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specific inference rule / 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Facts and rules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Determines whether a goal follows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Eliminates complementary literals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 Mortal(Ram)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∨ Q + ¬Q → 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8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Theorem proving is the general process; resolution is one method used to do it.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Refutation (Proof by Contradiction)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536192" cy="2331720"/>
          </a:xfrm>
          <a:prstGeom prst="roundRect">
            <a:avLst>
              <a:gd name="adj" fmla="val 5952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234440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66420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to prove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14884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Mortal(Ram)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697480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is mortal.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30552" y="1097280"/>
            <a:ext cx="1536192" cy="2331720"/>
          </a:xfrm>
          <a:prstGeom prst="roundRect">
            <a:avLst>
              <a:gd name="adj" fmla="val 5952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234440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40280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166420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the opposite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240280" y="214884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¬Mortal(Ram)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2697480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is not mortal.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03904" y="1097280"/>
            <a:ext cx="1536192" cy="2331720"/>
          </a:xfrm>
          <a:prstGeom prst="roundRect">
            <a:avLst>
              <a:gd name="adj" fmla="val 5952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13632" y="1234440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13632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913632" y="166420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knowledge base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913632" y="214884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Mortal(Ram)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913632" y="2697480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KB derives that Ram is mortal.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77256" y="1097280"/>
            <a:ext cx="1536192" cy="2331720"/>
          </a:xfrm>
          <a:prstGeom prst="roundRect">
            <a:avLst>
              <a:gd name="adj" fmla="val 5952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86984" y="1234440"/>
            <a:ext cx="347472" cy="347472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86984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586984" y="166420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586984" y="214884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Mortal(Ram) ∧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A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¬Mortal(Ram)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586984" y="2697480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cannot hold at once.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50608" y="1097280"/>
            <a:ext cx="1536192" cy="2331720"/>
          </a:xfrm>
          <a:prstGeom prst="roundRect">
            <a:avLst>
              <a:gd name="adj" fmla="val 5952"/>
            </a:avLst>
          </a:prstGeom>
          <a:solidFill>
            <a:srgbClr val="E3F6F4"/>
          </a:solidFill>
          <a:ln w="12700">
            <a:solidFill>
              <a:srgbClr val="1FB5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60336" y="1234440"/>
            <a:ext cx="347472" cy="347472"/>
          </a:xfrm>
          <a:prstGeom prst="ellipse">
            <a:avLst/>
          </a:prstGeom>
          <a:solidFill>
            <a:srgbClr val="1FB5A8"/>
          </a:solidFill>
          <a:ln w="12700">
            <a:solidFill>
              <a:srgbClr val="1FB5A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60336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260336" y="166420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Conclude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260336" y="214884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Mortal(Ram)  ✓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7260336" y="2697480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is false, so the goal is proved.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611880"/>
            <a:ext cx="3749040" cy="1051560"/>
          </a:xfrm>
          <a:prstGeom prst="roundRect">
            <a:avLst>
              <a:gd name="adj" fmla="val 8696"/>
            </a:avLst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" y="361188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Refutation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proof strategy: assume the opposite and derive a contradiction.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4206240" y="384048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800" dirty="0"/>
          </a:p>
        </p:txBody>
      </p:sp>
      <p:sp>
        <p:nvSpPr>
          <p:cNvPr id="36" name="Shape 34"/>
          <p:cNvSpPr/>
          <p:nvPr/>
        </p:nvSpPr>
        <p:spPr>
          <a:xfrm>
            <a:off x="4937760" y="3611880"/>
            <a:ext cx="3749040" cy="1051560"/>
          </a:xfrm>
          <a:prstGeom prst="roundRect">
            <a:avLst>
              <a:gd name="adj" fmla="val 8696"/>
            </a:avLst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120640" y="361188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B5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technique used during the proof to reach the contradiction.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Monotonic vs Non-Monotonic Reasoning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611880"/>
          </a:xfrm>
          <a:prstGeom prst="roundRect">
            <a:avLst>
              <a:gd name="adj" fmla="val 2532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34440"/>
            <a:ext cx="3474720" cy="384048"/>
          </a:xfrm>
          <a:prstGeom prst="roundRect">
            <a:avLst>
              <a:gd name="adj" fmla="val 23810"/>
            </a:avLst>
          </a:prstGeom>
          <a:solidFill>
            <a:srgbClr val="1FB5A8"/>
          </a:solidFill>
          <a:ln w="12700">
            <a:solidFill>
              <a:srgbClr val="1FB5A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2344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Monotonic Reasoning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373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knowledge never invalidates a conclusion already derived.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317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INITIALLY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2560320"/>
            <a:ext cx="3474720" cy="621792"/>
          </a:xfrm>
          <a:prstGeom prst="roundRect">
            <a:avLst>
              <a:gd name="adj" fmla="val 14706"/>
            </a:avLst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560320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is a student.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study AI. ⇒ Ravi studies AI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735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INFORMATION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3502152"/>
            <a:ext cx="3474720" cy="384048"/>
          </a:xfrm>
          <a:prstGeom prst="roundRect">
            <a:avLst>
              <a:gd name="adj" fmla="val 23810"/>
            </a:avLst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50215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lives in Indore.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959352"/>
            <a:ext cx="3474720" cy="384048"/>
          </a:xfrm>
          <a:prstGeom prst="roundRect">
            <a:avLst>
              <a:gd name="adj" fmla="val 23810"/>
            </a:avLst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9593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studies AI  still valid ✓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370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Suited to stable facts and rules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3931920" cy="3611880"/>
          </a:xfrm>
          <a:prstGeom prst="roundRect">
            <a:avLst>
              <a:gd name="adj" fmla="val 2532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1234440"/>
            <a:ext cx="3474720" cy="384048"/>
          </a:xfrm>
          <a:prstGeom prst="roundRect">
            <a:avLst>
              <a:gd name="adj" fmla="val 2381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83480" y="12344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Non-Monotonic Reasoning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17373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information can change or invalidate a previous conclusion.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983480" y="23317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83480" y="2560320"/>
            <a:ext cx="3474720" cy="621792"/>
          </a:xfrm>
          <a:prstGeom prst="roundRect">
            <a:avLst>
              <a:gd name="adj" fmla="val 14706"/>
            </a:avLst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20640" y="2560320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Tweety is a bird.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Birds normally fly. ⇒ Tweety can fly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983480" y="32735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INFORMATION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83480" y="3502152"/>
            <a:ext cx="3474720" cy="384048"/>
          </a:xfrm>
          <a:prstGeom prst="roundRect">
            <a:avLst>
              <a:gd name="adj" fmla="val 23810"/>
            </a:avLst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20640" y="350215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Tweety is a penguin.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83480" y="3959352"/>
            <a:ext cx="3474720" cy="384048"/>
          </a:xfrm>
          <a:prstGeom prst="roundRect">
            <a:avLst>
              <a:gd name="adj" fmla="val 2381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983480" y="39593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Tweety can fly  no longer holds ✗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983480" y="4370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knowledge is incomplete or changing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722</Words>
  <Application>Microsoft Office PowerPoint</Application>
  <PresentationFormat>On-screen Show (16:9)</PresentationFormat>
  <Paragraphs>145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Logical Reasoning in AI</dc:title>
  <dc:subject>PptxGenJS Presentation</dc:subject>
  <dc:creator>PptxGenJS</dc:creator>
  <cp:lastModifiedBy>Microsoft account</cp:lastModifiedBy>
  <cp:revision>1</cp:revision>
  <dcterms:created xsi:type="dcterms:W3CDTF">2026-09-30T01:32:52Z</dcterms:created>
  <dcterms:modified xsi:type="dcterms:W3CDTF">2026-09-30T01:38:06Z</dcterms:modified>
</cp:coreProperties>
</file>