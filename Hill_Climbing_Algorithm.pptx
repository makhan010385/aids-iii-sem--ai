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"/>
          <c:y val="0.05"/>
          <c:w val="0.96"/>
          <c:h val="0.9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7D5B"/>
            </a:solidFill>
            <a:ln w="50800" cap="flat">
              <a:solidFill>
                <a:srgbClr val="2E7D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5B"/>
              </a:solidFill>
              <a:ln w="9525" cap="flat">
                <a:solidFill>
                  <a:srgbClr val="2E7D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Sheet1!$A$2:$A$17</c:f>
              <c:multiLvlStrCache>
                <c:ptCount val="1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9</c:v>
                </c:pt>
                <c:pt idx="11">
                  <c:v>12</c:v>
                </c:pt>
                <c:pt idx="12">
                  <c:v>15</c:v>
                </c:pt>
                <c:pt idx="13">
                  <c:v>14</c:v>
                </c:pt>
                <c:pt idx="14">
                  <c:v>11</c:v>
                </c:pt>
                <c:pt idx="15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hill climbing as a local search / heuristic algorithm used in AI. The mountain motif represents the idea of always climbing toward a better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continuously move from the current state to a better neighboring state. Like a climber who always steps uphill until no higher step is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loop: start, evaluate, look at neighbors, pick a better one, move, repeat. Stop when nothing better is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values: 30 is the top, 20 and 25 are below it, 10 is below 20. Starting at 10 the algorithm climbs 10 to 20 to 30, then stops because nothing higher is adjacent.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takes the first better neighbor. Steepest-ascent checks all neighbors and takes the best. Stochastic picks randomly among the better ones. First-choice hill climbing is a related variant that generates neighbors randomly until it finds a better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main advantages. Low memory: it keeps only the current state (and the neighbor being examined), so extra space is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Landscape sketch: the search that starts on the left can stop at the smaller peak (local maximum) and never reach the taller one (global maximum). Plateaus are flat regions; ridges need a sequence of non-improving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restart helps with local maxima by trying many starting points. Simulated annealing accepts occasional worse moves. Sideways moves let the search cross plateaus, with a cap to avoid endless wandering.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textbook problems: N-Queens (minimize attacking pairs) and the Travelling Salesman Problem (swap cities to shorten the tour).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comparison of the two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greedy, fast, light on memory; weaknesses are local maxima, plateaus and ridges; remedies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LOCAL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 Climbing Algorithm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search that keeps moving to a better neighboring state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64008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103120"/>
            <a:ext cx="3840480" cy="3040380"/>
          </a:xfrm>
          <a:prstGeom prst="triangl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926080"/>
            <a:ext cx="2743200" cy="2217420"/>
          </a:xfrm>
          <a:prstGeom prst="triangl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3566160"/>
            <a:ext cx="2377440" cy="1577340"/>
          </a:xfrm>
          <a:prstGeom prst="triangle">
            <a:avLst/>
          </a:prstGeom>
          <a:solidFill>
            <a:srgbClr val="174A39"/>
          </a:solidFill>
          <a:ln w="12700">
            <a:solidFill>
              <a:srgbClr val="174A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5936" y="1956816"/>
            <a:ext cx="292608" cy="2926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Hill Climbing?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is a local search and heuristic algorithm that finds a good solution by repeatedly moving from the current state to a better neighboring state.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36118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6118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step, move toward a higher position until no better neighbor is available.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737360"/>
            <a:ext cx="3383280" cy="2743200"/>
          </a:xfrm>
          <a:prstGeom prst="triangl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4765" y="4032504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44591" y="3319272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4418" y="2606040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0411" y="1947672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554480"/>
            <a:ext cx="365760" cy="3657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better neighbor: stop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2057400"/>
            <a:ext cx="6858000" cy="0"/>
          </a:xfrm>
          <a:prstGeom prst="line">
            <a:avLst/>
          </a:prstGeom>
          <a:noFill/>
          <a:ln w="25400">
            <a:solidFill>
              <a:srgbClr val="9DBF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an initial 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current state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Neighbors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neighboring states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Better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neighbor with a higher value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the current state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1737360"/>
            <a:ext cx="640080" cy="64008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better neighbor is left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0F2A2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 to 5 until no better neighbor exists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737360"/>
            <a:ext cx="1371600" cy="1097280"/>
          </a:xfrm>
          <a:prstGeom prst="line">
            <a:avLst/>
          </a:prstGeom>
          <a:noFill/>
          <a:ln w="25400">
            <a:solidFill>
              <a:srgbClr val="B7C9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371600" y="1737360"/>
            <a:ext cx="1371600" cy="109728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868680" y="2834640"/>
            <a:ext cx="502920" cy="109728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3584448"/>
            <a:ext cx="694944" cy="694944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87168"/>
            <a:ext cx="694944" cy="694944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767328" y="2487168"/>
            <a:ext cx="694944" cy="694944"/>
          </a:xfrm>
          <a:prstGeom prst="ellipse">
            <a:avLst/>
          </a:prstGeom>
          <a:solidFill>
            <a:srgbClr val="9DB3A8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1389888"/>
            <a:ext cx="694944" cy="694944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path = moves taken by the algorithm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234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→  20  →  30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148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10. Neighbor 20 is better, so move.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20, neighbor 30 is better, so move again.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has no better neighbor, so the algorithm stops.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0" y="36576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improves the value. The search never steps downhill.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Hill Climbing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862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62940" y="1508760"/>
            <a:ext cx="640080" cy="64008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6642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29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629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first better neighboring state it finds.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6294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6294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per step, but may make poor moves.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6898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3300" y="1508760"/>
            <a:ext cx="640080" cy="64008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6642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33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Steepest-Ascent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54330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all neighbors and selects the best one.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4330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4330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thorough, but costlier per step.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4934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23660" y="1508760"/>
            <a:ext cx="640080" cy="64008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16642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2366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2366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randomly among the better neighbors.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2366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42366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can help avoid getting stuck.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566160"/>
            <a:ext cx="1828800" cy="1577340"/>
          </a:xfrm>
          <a:prstGeom prst="triangl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3931920"/>
            <a:ext cx="1737360" cy="1211580"/>
          </a:xfrm>
          <a:prstGeom prst="triangle">
            <a:avLst/>
          </a:prstGeom>
          <a:solidFill>
            <a:srgbClr val="174A39"/>
          </a:solidFill>
          <a:ln w="12700">
            <a:solidFill>
              <a:srgbClr val="174A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68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hill climbing is popular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749040" y="59436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7406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548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8503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learn, with a clear "climb uphill" idea.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41732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344" y="15636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 requirement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526280" y="1673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only the current state, so O(1) extra space.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749040" y="224028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238658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26280" y="2194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 some problems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26280" y="2496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reach a useful solution with a good heuristic.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749040" y="306324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344" y="320954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6280" y="3017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optimization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4526280" y="3319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 solution step by step.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3749040" y="388620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344" y="403250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26280" y="3840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1422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algorithm needs only simple logic.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442923" y="2734056"/>
            <a:ext cx="201168" cy="201168"/>
          </a:xfrm>
          <a:prstGeom prst="ellipse">
            <a:avLst/>
          </a:prstGeom>
          <a:solidFill>
            <a:srgbClr val="B45F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08069" y="1773936"/>
            <a:ext cx="201168" cy="201168"/>
          </a:xfrm>
          <a:prstGeom prst="ellipse">
            <a:avLst/>
          </a:prstGeom>
          <a:solidFill>
            <a:srgbClr val="1F5F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7707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622853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maximum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223821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1307592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4173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55080" y="1234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35508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its neighbors, but not the global best.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0" y="1965960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0756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1892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148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share the same value, so no direction is clear.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760720" y="2624328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73405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55080" y="25511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355080" y="28072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path needs moves that are not immediately better.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760720" y="3282696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339242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355080" y="3209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355080" y="34655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stop before finding the global optimum.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760720" y="3941064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40507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355080" y="38679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function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6355080" y="41239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one sends the search the wrong way.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Overcome the Limits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880360" y="1490472"/>
            <a:ext cx="548640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2344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79476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Random-restart hill climbing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many random start states and keep the best result.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80360" y="2496312"/>
            <a:ext cx="548640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2402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9476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annealing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accept worse moves so the search can escape a peak.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2E7D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80360" y="3502152"/>
            <a:ext cx="548640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324612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79476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Sideways moves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703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equal-valued moves, with a limit, to cross flat regions.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is neither complete nor guaranteed optimal. These add-ons reduce the risk but do not remove 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8620" y="12801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7220" y="150876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16550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4732" y="1481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Problems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72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resource allocation and parameter tuning.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68980" y="12801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7580" y="150876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16550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5092" y="1481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975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useful subset of features in machine learning.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49340" y="12801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77940" y="150876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244" y="16550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5452" y="1481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Path Planning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779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 evaluation to pick a promising direction.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8862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7220" y="324612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33924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4732" y="321868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172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improve possible game states.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6898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97580" y="324612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884" y="339242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5092" y="321868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9758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small changes that cut clashes, e.g. timetables.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4934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77940" y="324612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244" y="339242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5452" y="321868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Optimization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7794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parameters in engineering and computational problems.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vs Disadvantages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3619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algorithm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relatively little memory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fast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optimization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36192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F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get stuck at a local maximum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face plateaus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face ridges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guaranteed to find the global optimum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evaluation function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 local search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move to a better neighboring state until none remains.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memory-light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926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can stall at local maxima, plateaus and ridges.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variants help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restarts, simulated annealing and sideways moves.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54864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194560"/>
            <a:ext cx="3108960" cy="2948940"/>
          </a:xfrm>
          <a:prstGeom prst="triangl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3566160"/>
            <a:ext cx="2011680" cy="1577340"/>
          </a:xfrm>
          <a:prstGeom prst="triangle">
            <a:avLst/>
          </a:prstGeom>
          <a:solidFill>
            <a:srgbClr val="174A39"/>
          </a:solidFill>
          <a:ln w="12700">
            <a:solidFill>
              <a:srgbClr val="174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057400"/>
            <a:ext cx="274320" cy="274320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Hill Climbing Algorithm</dc:title>
  <dc:subject>PptxGenJS Presentation</dc:subject>
  <dc:creator>PptxGenJS</dc:creator>
  <cp:lastModifiedBy>PptxGenJS</cp:lastModifiedBy>
  <cp:revision>1</cp:revision>
  <dcterms:created xsi:type="dcterms:W3CDTF">2026-09-24T00:49:21Z</dcterms:created>
  <dcterms:modified xsi:type="dcterms:W3CDTF">2026-09-24T00:49:21Z</dcterms:modified>
</cp:coreProperties>
</file>