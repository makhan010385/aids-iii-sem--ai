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84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production rule is an IF-THEN statement. The IF part is the condition (premise); the THEN part is the action or conclusion. Facts combined with rules produce inferences, which lead to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components: rules hold the knowledge, working memory holds the current facts, and the control strategy decides which applicable rule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route: the current location matches exactly one rule, the rule fires, the location updates, and the cycle repeats until CGDI is 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key characteristics. Stress conflict resolution: it is what the control strategy exists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officer observes the current state (signal colour), matches the rule, and acts. When the state changes, a different rule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Rules in AI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rule represents knowledge using an IF–THEN rule.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77240" cy="347472"/>
          </a:xfrm>
          <a:prstGeom prst="roundRect">
            <a:avLst>
              <a:gd name="adj" fmla="val 2631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20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/ Premise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777240" cy="347472"/>
          </a:xfrm>
          <a:prstGeom prst="roundRect">
            <a:avLst>
              <a:gd name="adj" fmla="val 26316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5915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359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Conclusion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≥ 40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PASS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Examples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&gt; 38°C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Fever = YES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Fever = YES AND Cough = YES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Possible_Flu = YES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69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+ Production Rules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26080" y="4366260"/>
            <a:ext cx="502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20440" y="406908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4069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15000" y="4366260"/>
            <a:ext cx="502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09360" y="406908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4069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Rules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knowledge using IF–THEN rules.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1717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417320"/>
            <a:ext cx="502920" cy="50292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Memory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current facts / state.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30175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Ravi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65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1717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417320"/>
            <a:ext cx="502920" cy="50292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Strategy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rule to apply when multiple rules are applicable.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System = Production Rules + Working Memory + Control Strategy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System Example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Route-Finding: </a:t>
            </a:r>
            <a:r>
              <a:rPr lang="en-US" sz="14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Vijaynagar → CGDI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Fact:  </a:t>
            </a:r>
            <a:r>
              <a:rPr lang="en-US" sz="12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Current_Location = Vijaynagar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288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1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Current_Location = Vijaynagar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85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r>
              <a:rPr lang="en-US" sz="11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Move_To = Bengali Square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6060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1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Current_Location = Bengali Square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85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r>
              <a:rPr lang="en-US" sz="11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Move_To = Rau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3832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3832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1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Current_Location = Rau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85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r>
              <a:rPr lang="en-US" sz="1100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Move_To = CGDI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28016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Vijaynagar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1764792"/>
            <a:ext cx="0" cy="219456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99516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Square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2496312"/>
            <a:ext cx="0" cy="219456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99516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27432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6072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0" y="3227832"/>
            <a:ext cx="0" cy="219456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99516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347472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CGDI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31596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315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31136" y="4544568"/>
            <a:ext cx="356616" cy="0"/>
          </a:xfrm>
          <a:prstGeom prst="line">
            <a:avLst/>
          </a:prstGeom>
          <a:noFill/>
          <a:ln w="25400">
            <a:solidFill>
              <a:srgbClr val="5E6A8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624328" y="431596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24328" y="4315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Rule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98264" y="4544568"/>
            <a:ext cx="356616" cy="0"/>
          </a:xfrm>
          <a:prstGeom prst="line">
            <a:avLst/>
          </a:prstGeom>
          <a:noFill/>
          <a:ln w="25400">
            <a:solidFill>
              <a:srgbClr val="5E6A8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91456" y="431596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91456" y="4315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65392" y="4544568"/>
            <a:ext cx="356616" cy="0"/>
          </a:xfrm>
          <a:prstGeom prst="line">
            <a:avLst/>
          </a:prstGeom>
          <a:noFill/>
          <a:ln w="25400">
            <a:solidFill>
              <a:srgbClr val="5E6A8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958584" y="431596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58584" y="4315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Production Systems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32588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270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represented using IF–THEN rules.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28032" y="1325880"/>
            <a:ext cx="411480" cy="41148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803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34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5270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can be added or modified independently.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39112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221992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1305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State-Based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42316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the current state in working memory.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039112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2221992"/>
            <a:ext cx="411480" cy="41148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1305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Inference-Based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42316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new information from existing facts.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935224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11810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026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31927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 rule when multiple rules are applicable.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935224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28032" y="3118104"/>
            <a:ext cx="411480" cy="41148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28032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30266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331927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rules until a goal or conclusion is reached.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31336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014216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188720" y="39227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Modify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4215384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knowledge can be added through new rules.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3831336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28032" y="4014216"/>
            <a:ext cx="411480" cy="411480"/>
          </a:xfrm>
          <a:prstGeom prst="ellipse">
            <a:avLst/>
          </a:prstGeom>
          <a:solidFill>
            <a:srgbClr val="1FB5A8"/>
          </a:solidFill>
          <a:ln w="12700">
            <a:solidFill>
              <a:srgbClr val="1FB5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28032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394960" y="39227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Reasoning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394960" y="4215384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of applied rules can be examined.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Analogy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 = Traffic Signal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822960" cy="822960"/>
          </a:xfrm>
          <a:prstGeom prst="ellipse">
            <a:avLst/>
          </a:prstGeom>
          <a:solidFill>
            <a:srgbClr val="E548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 Signal = 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401568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= RED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Vehicles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Situation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822960" cy="822960"/>
          </a:xfrm>
          <a:prstGeom prst="ellipse">
            <a:avLst/>
          </a:prstGeom>
          <a:solidFill>
            <a:srgbClr val="2FBF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103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 Signal = GREEN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3401568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4015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= GREEN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Vehicles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16552" y="2926080"/>
            <a:ext cx="310896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453</Words>
  <Application>Microsoft Office PowerPoint</Application>
  <PresentationFormat>On-screen Show (16:9)</PresentationFormat>
  <Paragraphs>104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Systems in AI</dc:title>
  <dc:subject>PptxGenJS Presentation</dc:subject>
  <dc:creator>PptxGenJS</dc:creator>
  <cp:lastModifiedBy>Microsoft account</cp:lastModifiedBy>
  <cp:revision>1</cp:revision>
  <dcterms:created xsi:type="dcterms:W3CDTF">2026-09-29T23:48:38Z</dcterms:created>
  <dcterms:modified xsi:type="dcterms:W3CDTF">2026-09-30T01:38:25Z</dcterms:modified>
</cp:coreProperties>
</file>