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5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4710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stressing academic honesty: AI assistants help, but students must understand and be able to explain the code they submit.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822960"/>
            <a:ext cx="2377440" cy="2377440"/>
          </a:xfrm>
          <a:prstGeom prst="ellipse">
            <a:avLst/>
          </a:prstGeom>
          <a:solidFill>
            <a:srgbClr val="5B3FD1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0" y="2651760"/>
            <a:ext cx="1188720" cy="1188720"/>
          </a:xfrm>
          <a:prstGeom prst="ellipse">
            <a:avLst/>
          </a:prstGeom>
          <a:solidFill>
            <a:srgbClr val="FF7A59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4630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8872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Coding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Assistants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 ·  Cursor  ·  Claude Code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1148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9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In-IDE code completion  ·  AI-native editing  ·  Multi-file agentic coding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AI Coding Assistant?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that helps programmers write, understand, modify and debug programs using natural-language instructions.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1371600" cy="1783080"/>
          </a:xfrm>
          <a:prstGeom prst="roundRect">
            <a:avLst>
              <a:gd name="adj" fmla="val 8000"/>
            </a:avLst>
          </a:prstGeom>
          <a:solidFill>
            <a:srgbClr val="F4F2F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4688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3154680"/>
            <a:ext cx="1225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5104" y="3035808"/>
            <a:ext cx="164592" cy="16459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194560" y="2240280"/>
            <a:ext cx="1371600" cy="1783080"/>
          </a:xfrm>
          <a:prstGeom prst="roundRect">
            <a:avLst>
              <a:gd name="adj" fmla="val 8000"/>
            </a:avLst>
          </a:prstGeom>
          <a:solidFill>
            <a:srgbClr val="F4F2FA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040" y="2468880"/>
            <a:ext cx="548640" cy="5486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267712" y="3154680"/>
            <a:ext cx="1225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024" y="3035808"/>
            <a:ext cx="164592" cy="164592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3840480" y="2240280"/>
            <a:ext cx="1371600" cy="1783080"/>
          </a:xfrm>
          <a:prstGeom prst="roundRect">
            <a:avLst>
              <a:gd name="adj" fmla="val 8000"/>
            </a:avLst>
          </a:prstGeom>
          <a:solidFill>
            <a:srgbClr val="5B3FD1"/>
          </a:solidFill>
          <a:ln/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2468880"/>
            <a:ext cx="548640" cy="54864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3913632" y="3154680"/>
            <a:ext cx="1225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3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944" y="3035808"/>
            <a:ext cx="164592" cy="164592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5486400" y="2240280"/>
            <a:ext cx="1371600" cy="1783080"/>
          </a:xfrm>
          <a:prstGeom prst="roundRect">
            <a:avLst>
              <a:gd name="adj" fmla="val 8000"/>
            </a:avLst>
          </a:prstGeom>
          <a:solidFill>
            <a:srgbClr val="5B3FD1"/>
          </a:solidFill>
          <a:ln/>
        </p:spPr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7880" y="2468880"/>
            <a:ext cx="548640" cy="548640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5559552" y="3154680"/>
            <a:ext cx="1225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/ Edit 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3035808"/>
            <a:ext cx="164592" cy="164592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7132320" y="2240280"/>
            <a:ext cx="1371600" cy="1783080"/>
          </a:xfrm>
          <a:prstGeom prst="roundRect">
            <a:avLst>
              <a:gd name="adj" fmla="val 8000"/>
            </a:avLst>
          </a:prstGeom>
          <a:solidFill>
            <a:srgbClr val="F4F2FA"/>
          </a:solidFill>
          <a:ln/>
        </p:spPr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0" y="2468880"/>
            <a:ext cx="548640" cy="548640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7205472" y="3154680"/>
            <a:ext cx="1225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300" dirty="0"/>
          </a:p>
        </p:txBody>
      </p:sp>
      <p:sp>
        <p:nvSpPr>
          <p:cNvPr id="23" name="Text 12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programmer still decides what to build and checks that the result is correct.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85800" cy="685800"/>
          </a:xfrm>
          <a:prstGeom prst="ellipse">
            <a:avLst/>
          </a:prstGeom>
          <a:solidFill>
            <a:srgbClr val="6E40C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4747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Copilot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8412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assistance while writing code inside an IDE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84048" cy="384048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075688"/>
            <a:ext cx="164592" cy="16459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97280" y="194767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completion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606040"/>
            <a:ext cx="384048" cy="384048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715768"/>
            <a:ext cx="164592" cy="1645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97280" y="258775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3246120"/>
            <a:ext cx="384048" cy="384048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355848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97280" y="322783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explanation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3886200"/>
            <a:ext cx="384048" cy="384048"/>
          </a:xfrm>
          <a:prstGeom prst="ellipse">
            <a:avLst/>
          </a:prstGeom>
          <a:solidFill>
            <a:srgbClr val="6E40C9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995928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97280" y="386791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assistance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5394960" y="1463040"/>
            <a:ext cx="3200400" cy="2377440"/>
          </a:xfrm>
          <a:prstGeom prst="roundRect">
            <a:avLst>
              <a:gd name="adj" fmla="val 5769"/>
            </a:avLst>
          </a:prstGeom>
          <a:solidFill>
            <a:srgbClr val="F4F2FA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56692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669280" y="210312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“Write a Python program to check whether a number is prime.”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5394960" y="4023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suggests the code inline, while the student is still typing.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85800" cy="6858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4747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Cursor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8412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AI-native code editor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84048" cy="38404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075688"/>
            <a:ext cx="164592" cy="16459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97280" y="194767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editing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606040"/>
            <a:ext cx="384048" cy="38404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715768"/>
            <a:ext cx="164592" cy="1645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97280" y="258775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3246120"/>
            <a:ext cx="384048" cy="38404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355848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97280" y="322783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existing code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3886200"/>
            <a:ext cx="384048" cy="38404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995928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97280" y="386791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multiple files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5394960" y="1463040"/>
            <a:ext cx="3200400" cy="2377440"/>
          </a:xfrm>
          <a:prstGeom prst="roundRect">
            <a:avLst>
              <a:gd name="adj" fmla="val 5769"/>
            </a:avLst>
          </a:prstGeom>
          <a:solidFill>
            <a:srgbClr val="F4F2FA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56692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669280" y="210312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“Convert this Python program from a normal function into a class.”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5394960" y="4023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suggests the changes directly inside the existing code.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85800" cy="68580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4747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8412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coding tasks that span multiple files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student’s project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840480" cy="2103120"/>
          </a:xfrm>
          <a:prstGeom prst="roundRect">
            <a:avLst>
              <a:gd name="adj" fmla="val 5217"/>
            </a:avLst>
          </a:prstGeom>
          <a:solidFill>
            <a:srgbClr val="1E1B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0312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app.py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database.py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login.py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requirements.txt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3749040" cy="1874520"/>
          </a:xfrm>
          <a:prstGeom prst="roundRect">
            <a:avLst>
              <a:gd name="adj" fmla="val 7317"/>
            </a:avLst>
          </a:prstGeom>
          <a:solidFill>
            <a:srgbClr val="F4F2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2064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ASKS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0116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“Add a login system to this project and update the necessary files.”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846320" y="3520440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3630168"/>
            <a:ext cx="164592" cy="16459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394960" y="350215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several files at once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846320" y="4069080"/>
            <a:ext cx="384048" cy="384048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4178808"/>
            <a:ext cx="164592" cy="16459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394960" y="405079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an agentic workflow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“Multi-file Agentic Coding” mean?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asking for one function, we give the AI a larger programming task.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24128" cy="1691640"/>
          </a:xfrm>
          <a:prstGeom prst="roundRect">
            <a:avLst>
              <a:gd name="adj" fmla="val 8929"/>
            </a:avLst>
          </a:prstGeom>
          <a:solidFill>
            <a:srgbClr val="2E2A4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029968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2560320"/>
            <a:ext cx="932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2587752"/>
            <a:ext cx="128016" cy="12801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746504" y="1828800"/>
            <a:ext cx="1024128" cy="1691640"/>
          </a:xfrm>
          <a:prstGeom prst="roundRect">
            <a:avLst>
              <a:gd name="adj" fmla="val 8929"/>
            </a:avLst>
          </a:prstGeom>
          <a:solidFill>
            <a:srgbClr val="2E2A47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2029968"/>
            <a:ext cx="402336" cy="40233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792224" y="2560320"/>
            <a:ext cx="932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2587752"/>
            <a:ext cx="128016" cy="128016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2944368" y="1828800"/>
            <a:ext cx="1024128" cy="1691640"/>
          </a:xfrm>
          <a:prstGeom prst="roundRect">
            <a:avLst>
              <a:gd name="adj" fmla="val 8929"/>
            </a:avLst>
          </a:prstGeom>
          <a:solidFill>
            <a:srgbClr val="2E2A47"/>
          </a:solidFill>
          <a:ln/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5264" y="2029968"/>
            <a:ext cx="402336" cy="402336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2990088" y="2560320"/>
            <a:ext cx="932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relevant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2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928" y="2587752"/>
            <a:ext cx="128016" cy="128016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4142232" y="1828800"/>
            <a:ext cx="1024128" cy="1691640"/>
          </a:xfrm>
          <a:prstGeom prst="roundRect">
            <a:avLst>
              <a:gd name="adj" fmla="val 8929"/>
            </a:avLst>
          </a:prstGeom>
          <a:solidFill>
            <a:srgbClr val="2E2A47"/>
          </a:solidFill>
          <a:ln/>
        </p:spPr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3128" y="2029968"/>
            <a:ext cx="402336" cy="402336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4187952" y="2560320"/>
            <a:ext cx="932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code</a:t>
            </a:r>
            <a:endParaRPr lang="en-US" sz="12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792" y="2587752"/>
            <a:ext cx="128016" cy="128016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5340096" y="1828800"/>
            <a:ext cx="1024128" cy="1691640"/>
          </a:xfrm>
          <a:prstGeom prst="roundRect">
            <a:avLst>
              <a:gd name="adj" fmla="val 8929"/>
            </a:avLst>
          </a:prstGeom>
          <a:solidFill>
            <a:srgbClr val="2E2A47"/>
          </a:solidFill>
          <a:ln/>
        </p:spPr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0992" y="2029968"/>
            <a:ext cx="402336" cy="402336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5385816" y="2560320"/>
            <a:ext cx="932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files</a:t>
            </a:r>
            <a:endParaRPr lang="en-US" sz="120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2587752"/>
            <a:ext cx="128016" cy="128016"/>
          </a:xfrm>
          <a:prstGeom prst="rect">
            <a:avLst/>
          </a:prstGeom>
        </p:spPr>
      </p:pic>
      <p:sp>
        <p:nvSpPr>
          <p:cNvPr id="24" name="Shape 12"/>
          <p:cNvSpPr/>
          <p:nvPr/>
        </p:nvSpPr>
        <p:spPr>
          <a:xfrm>
            <a:off x="6537960" y="1828800"/>
            <a:ext cx="1024128" cy="1691640"/>
          </a:xfrm>
          <a:prstGeom prst="roundRect">
            <a:avLst>
              <a:gd name="adj" fmla="val 8929"/>
            </a:avLst>
          </a:prstGeom>
          <a:solidFill>
            <a:srgbClr val="2E2A47"/>
          </a:solidFill>
          <a:ln/>
        </p:spPr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48856" y="2029968"/>
            <a:ext cx="402336" cy="402336"/>
          </a:xfrm>
          <a:prstGeom prst="rect">
            <a:avLst/>
          </a:prstGeom>
        </p:spPr>
      </p:pic>
      <p:sp>
        <p:nvSpPr>
          <p:cNvPr id="26" name="Text 13"/>
          <p:cNvSpPr txBox="1"/>
          <p:nvPr/>
        </p:nvSpPr>
        <p:spPr>
          <a:xfrm>
            <a:off x="6583680" y="2560320"/>
            <a:ext cx="932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/ debug</a:t>
            </a:r>
            <a:endParaRPr lang="en-US" sz="1200" dirty="0"/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587752"/>
            <a:ext cx="128016" cy="128016"/>
          </a:xfrm>
          <a:prstGeom prst="rect">
            <a:avLst/>
          </a:prstGeom>
        </p:spPr>
      </p:pic>
      <p:sp>
        <p:nvSpPr>
          <p:cNvPr id="28" name="Shape 14"/>
          <p:cNvSpPr/>
          <p:nvPr/>
        </p:nvSpPr>
        <p:spPr>
          <a:xfrm>
            <a:off x="7735824" y="1828800"/>
            <a:ext cx="1024128" cy="1691640"/>
          </a:xfrm>
          <a:prstGeom prst="roundRect">
            <a:avLst>
              <a:gd name="adj" fmla="val 8929"/>
            </a:avLst>
          </a:prstGeom>
          <a:solidFill>
            <a:srgbClr val="FF7A59"/>
          </a:solidFill>
          <a:ln/>
        </p:spPr>
      </p:sp>
      <p:pic>
        <p:nvPicPr>
          <p:cNvPr id="29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029968"/>
            <a:ext cx="402336" cy="402336"/>
          </a:xfrm>
          <a:prstGeom prst="rect">
            <a:avLst/>
          </a:prstGeom>
        </p:spPr>
      </p:pic>
      <p:sp>
        <p:nvSpPr>
          <p:cNvPr id="30" name="Text 15"/>
          <p:cNvSpPr txBox="1"/>
          <p:nvPr/>
        </p:nvSpPr>
        <p:spPr>
          <a:xfrm>
            <a:off x="7781544" y="2560320"/>
            <a:ext cx="932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1" name="Text 16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assists with the overall coding task, not just a single line of code.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example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840480" cy="1554480"/>
          </a:xfrm>
          <a:prstGeom prst="roundRect">
            <a:avLst>
              <a:gd name="adj" fmla="val 8824"/>
            </a:avLst>
          </a:prstGeom>
          <a:solidFill>
            <a:srgbClr val="5B3FD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8C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ASKS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“Add a student attendance module to my Python project.”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the AI may need to work with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1783080" cy="457200"/>
          </a:xfrm>
          <a:prstGeom prst="roundRect">
            <a:avLst>
              <a:gd name="adj" fmla="val 16000"/>
            </a:avLst>
          </a:prstGeom>
          <a:solidFill>
            <a:srgbClr val="F4F2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3429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student.py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14600" y="3429000"/>
            <a:ext cx="1783080" cy="457200"/>
          </a:xfrm>
          <a:prstGeom prst="roundRect">
            <a:avLst>
              <a:gd name="adj" fmla="val 16000"/>
            </a:avLst>
          </a:prstGeom>
          <a:solidFill>
            <a:srgbClr val="F4F2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51760" y="3429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attendance.py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95928"/>
            <a:ext cx="1783080" cy="457200"/>
          </a:xfrm>
          <a:prstGeom prst="roundRect">
            <a:avLst>
              <a:gd name="adj" fmla="val 16000"/>
            </a:avLst>
          </a:prstGeom>
          <a:solidFill>
            <a:srgbClr val="F4F2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39959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database.py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14600" y="3995928"/>
            <a:ext cx="1783080" cy="457200"/>
          </a:xfrm>
          <a:prstGeom prst="roundRect">
            <a:avLst>
              <a:gd name="adj" fmla="val 16000"/>
            </a:avLst>
          </a:prstGeom>
          <a:solidFill>
            <a:srgbClr val="F4F2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651760" y="39959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1234440"/>
            <a:ext cx="3749040" cy="3200400"/>
          </a:xfrm>
          <a:prstGeom prst="roundRect">
            <a:avLst>
              <a:gd name="adj" fmla="val 4286"/>
            </a:avLst>
          </a:prstGeom>
          <a:solidFill>
            <a:srgbClr val="F4F2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2064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120640" y="2011680"/>
            <a:ext cx="384048" cy="384048"/>
          </a:xfrm>
          <a:prstGeom prst="ellipse">
            <a:avLst/>
          </a:prstGeom>
          <a:solidFill>
            <a:srgbClr val="5B3FD1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2121408"/>
            <a:ext cx="164592" cy="16459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669280" y="19659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 touches several files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120640" y="2788920"/>
            <a:ext cx="384048" cy="384048"/>
          </a:xfrm>
          <a:prstGeom prst="ellipse">
            <a:avLst/>
          </a:prstGeom>
          <a:solidFill>
            <a:srgbClr val="5B3FD1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2898648"/>
            <a:ext cx="164592" cy="16459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669280" y="27432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keeps the project consistent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5120640" y="3566160"/>
            <a:ext cx="384048" cy="384048"/>
          </a:xfrm>
          <a:prstGeom prst="ellipse">
            <a:avLst/>
          </a:prstGeom>
          <a:solidFill>
            <a:srgbClr val="5B3FD1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0368" y="3675888"/>
            <a:ext cx="164592" cy="16459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669280" y="35204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review and test every change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comparison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2267712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3474720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idea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6E40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Copilot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coding assistance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/ write code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AI-native code editing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Modify and refactor code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D97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coding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across multiple project files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still need a programmer who can read, test and explain the code.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FF7A5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21208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4747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practical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3566160" cy="3154680"/>
          </a:xfrm>
          <a:prstGeom prst="roundRect">
            <a:avLst>
              <a:gd name="adj" fmla="val 4348"/>
            </a:avLst>
          </a:prstGeom>
          <a:solidFill>
            <a:srgbClr val="1E1B2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196596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“Create a Python Student Management System with add, delete, search and display functions.”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1325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B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Then, step by step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480560" y="1783080"/>
            <a:ext cx="347472" cy="347472"/>
          </a:xfrm>
          <a:prstGeom prst="ellipse">
            <a:avLst/>
          </a:prstGeom>
          <a:solidFill>
            <a:srgbClr val="5B3FD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48056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983480" y="174650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code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480560" y="2240280"/>
            <a:ext cx="347472" cy="347472"/>
          </a:xfrm>
          <a:prstGeom prst="ellipse">
            <a:avLst/>
          </a:prstGeom>
          <a:solidFill>
            <a:srgbClr val="5B3FD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480560" y="2240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983480" y="220370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every function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480560" y="2697480"/>
            <a:ext cx="347472" cy="347472"/>
          </a:xfrm>
          <a:prstGeom prst="ellipse">
            <a:avLst/>
          </a:prstGeom>
          <a:solidFill>
            <a:srgbClr val="5B3FD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48056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983480" y="266090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one error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480560" y="3154680"/>
            <a:ext cx="347472" cy="347472"/>
          </a:xfrm>
          <a:prstGeom prst="ellipse">
            <a:avLst/>
          </a:prstGeom>
          <a:solidFill>
            <a:srgbClr val="5B3FD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480560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983480" y="311810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to find the error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480560" y="3611880"/>
            <a:ext cx="347472" cy="347472"/>
          </a:xfrm>
          <a:prstGeom prst="ellipse">
            <a:avLst/>
          </a:prstGeom>
          <a:solidFill>
            <a:srgbClr val="5B3FD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480560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983480" y="357530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corrected program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480560" y="4069080"/>
            <a:ext cx="347472" cy="347472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480560" y="4069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983480" y="403250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code yourself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"/>
            <a:ext cx="6400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87452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writes code. You decide what it should do, and check that it works.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31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 line, test the program, and be able to explain it in your own words.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499</Words>
  <Application>Microsoft Office PowerPoint</Application>
  <PresentationFormat>On-screen Show (16:9)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Coding Assistants</dc:title>
  <dc:subject>PptxGenJS Presentation</dc:subject>
  <dc:creator>PptxGenJS</dc:creator>
  <cp:lastModifiedBy>Microsoft account</cp:lastModifiedBy>
  <cp:revision>1</cp:revision>
  <dcterms:created xsi:type="dcterms:W3CDTF">2026-09-21T01:26:39Z</dcterms:created>
  <dcterms:modified xsi:type="dcterms:W3CDTF">2026-09-21T01:28:23Z</dcterms:modified>
</cp:coreProperties>
</file>